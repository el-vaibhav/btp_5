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65" r:id="rId2"/>
  </p:sldMasterIdLst>
  <p:notesMasterIdLst>
    <p:notesMasterId r:id="rId29"/>
  </p:notesMasterIdLst>
  <p:sldIdLst>
    <p:sldId id="256" r:id="rId3"/>
    <p:sldId id="257" r:id="rId4"/>
    <p:sldId id="258" r:id="rId5"/>
    <p:sldId id="259" r:id="rId6"/>
    <p:sldId id="260" r:id="rId7"/>
    <p:sldId id="261"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6858000" cy="9144000"/>
  <p:embeddedFontLst>
    <p:embeddedFont>
      <p:font typeface="Helvetica Neue" panose="020B0604020202020204" charset="0"/>
      <p:regular r:id="rId30"/>
      <p:bold r:id="rId31"/>
      <p:italic r:id="rId32"/>
      <p:boldItalic r:id="rId33"/>
    </p:embeddedFont>
    <p:embeddedFont>
      <p:font typeface="Tahoma" panose="020B0604030504040204" pitchFamily="3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2112776e1_2_38: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90" name="Google Shape;90;g312112776e1_2_38:notes"/>
          <p:cNvSpPr>
            <a:spLocks noGrp="1" noRot="1" noChangeAspect="1"/>
          </p:cNvSpPr>
          <p:nvPr>
            <p:ph type="sldImg" idx="2"/>
          </p:nvPr>
        </p:nvSpPr>
        <p:spPr>
          <a:xfrm>
            <a:off x="688975" y="1144588"/>
            <a:ext cx="5480050" cy="3082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12112776e1_2_71: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119" name="Google Shape;119;g312112776e1_2_71: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12112776e1_2_78: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127" name="Google Shape;127;g312112776e1_2_78: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12112776e1_2_147: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133" name="Google Shape;133;g312112776e1_2_147: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2112776e1_2_43: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171" name="Google Shape;171;g312112776e1_2_43:notes"/>
          <p:cNvSpPr>
            <a:spLocks noGrp="1" noRot="1" noChangeAspect="1"/>
          </p:cNvSpPr>
          <p:nvPr>
            <p:ph type="sldImg" idx="2"/>
          </p:nvPr>
        </p:nvSpPr>
        <p:spPr>
          <a:xfrm>
            <a:off x="688975" y="1144588"/>
            <a:ext cx="5480050" cy="3082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1216f33e88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1216f33e88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12112776e1_2_115: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215" name="Google Shape;215;g312112776e1_2_115: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12112776e1_2_184: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254" name="Google Shape;254;g312112776e1_2_184: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12112776e1_2_221: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292" name="Google Shape;292;g312112776e1_2_221:notes"/>
          <p:cNvSpPr>
            <a:spLocks noGrp="1" noRot="1" noChangeAspect="1"/>
          </p:cNvSpPr>
          <p:nvPr>
            <p:ph type="sldImg" idx="2"/>
          </p:nvPr>
        </p:nvSpPr>
        <p:spPr>
          <a:xfrm>
            <a:off x="688975" y="1144588"/>
            <a:ext cx="5480050" cy="3082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12112776e1_2_264: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339" name="Google Shape;339;g312112776e1_2_264:notes"/>
          <p:cNvSpPr>
            <a:spLocks noGrp="1" noRot="1" noChangeAspect="1"/>
          </p:cNvSpPr>
          <p:nvPr>
            <p:ph type="sldImg" idx="2"/>
          </p:nvPr>
        </p:nvSpPr>
        <p:spPr>
          <a:xfrm>
            <a:off x="688975" y="1144588"/>
            <a:ext cx="5480050" cy="3082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12112776e1_2_296: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374" name="Google Shape;374;g312112776e1_2_296: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12112776e1_2_51: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388" name="Google Shape;388;g312112776e1_2_51: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12112776e1_2_327: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418" name="Google Shape;418;g312112776e1_2_327: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12112776e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312112776e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12112776e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12112776e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12112776e1_2_333: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447" name="Google Shape;447;g312112776e1_2_333: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1222660099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3122266009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312112776e1_2_56: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478" name="Google Shape;478;g312112776e1_2_56:notes"/>
          <p:cNvSpPr>
            <a:spLocks noGrp="1" noRot="1" noChangeAspect="1"/>
          </p:cNvSpPr>
          <p:nvPr>
            <p:ph type="sldImg" idx="2"/>
          </p:nvPr>
        </p:nvSpPr>
        <p:spPr>
          <a:xfrm>
            <a:off x="688975" y="1144588"/>
            <a:ext cx="5480050" cy="30829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31216f33e88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31216f33e88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31216f33e88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31216f33e88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12112776e1_2_471: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561" name="Google Shape;561;g312112776e1_2_471: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31216f33e88_1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31216f33e88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31216f33e88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31216f33e88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g31216f33e88_1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3" name="Google Shape;633;g31216f33e88_1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12112776e1_2_575: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638" name="Google Shape;638;g312112776e1_2_575: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12112776e1_2_597:notes"/>
          <p:cNvSpPr txBox="1">
            <a:spLocks noGrp="1"/>
          </p:cNvSpPr>
          <p:nvPr>
            <p:ph type="body" idx="1"/>
          </p:nvPr>
        </p:nvSpPr>
        <p:spPr>
          <a:xfrm>
            <a:off x="684855" y="4400027"/>
            <a:ext cx="5488289" cy="3603070"/>
          </a:xfrm>
          <a:prstGeom prst="rect">
            <a:avLst/>
          </a:prstGeom>
        </p:spPr>
        <p:txBody>
          <a:bodyPr spcFirstLastPara="1" wrap="square" lIns="171200" tIns="171200" rIns="171200" bIns="171200" anchor="t" anchorCtr="0">
            <a:noAutofit/>
          </a:bodyPr>
          <a:lstStyle/>
          <a:p>
            <a:pPr marL="0" lvl="0" indent="0" algn="l" rtl="0">
              <a:spcBef>
                <a:spcPts val="0"/>
              </a:spcBef>
              <a:spcAft>
                <a:spcPts val="0"/>
              </a:spcAft>
              <a:buNone/>
            </a:pPr>
            <a:endParaRPr/>
          </a:p>
        </p:txBody>
      </p:sp>
      <p:sp>
        <p:nvSpPr>
          <p:cNvPr id="661" name="Google Shape;661;g312112776e1_2_597:notes"/>
          <p:cNvSpPr>
            <a:spLocks noGrp="1" noRot="1" noChangeAspect="1"/>
          </p:cNvSpPr>
          <p:nvPr>
            <p:ph type="sldImg" idx="2"/>
          </p:nvPr>
        </p:nvSpPr>
        <p:spPr>
          <a:xfrm>
            <a:off x="1884691" y="1145099"/>
            <a:ext cx="3088619" cy="308295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60"/>
        <p:cNvGrpSpPr/>
        <p:nvPr/>
      </p:nvGrpSpPr>
      <p:grpSpPr>
        <a:xfrm>
          <a:off x="0" y="0"/>
          <a:ext cx="0" cy="0"/>
          <a:chOff x="0" y="0"/>
          <a:chExt cx="0" cy="0"/>
        </a:xfrm>
      </p:grpSpPr>
      <p:sp>
        <p:nvSpPr>
          <p:cNvPr id="61" name="Google Shape;61;p14"/>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62" name="Google Shape;62;p14"/>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63" name="Google Shape;63;p14"/>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sz="3300">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64"/>
        <p:cNvGrpSpPr/>
        <p:nvPr/>
      </p:nvGrpSpPr>
      <p:grpSpPr>
        <a:xfrm>
          <a:off x="0" y="0"/>
          <a:ext cx="0" cy="0"/>
          <a:chOff x="0" y="0"/>
          <a:chExt cx="0" cy="0"/>
        </a:xfrm>
      </p:grpSpPr>
      <p:sp>
        <p:nvSpPr>
          <p:cNvPr id="65" name="Google Shape;65;p15"/>
          <p:cNvSpPr txBox="1">
            <a:spLocks noGrp="1"/>
          </p:cNvSpPr>
          <p:nvPr>
            <p:ph type="ctrTitle"/>
          </p:nvPr>
        </p:nvSpPr>
        <p:spPr>
          <a:xfrm>
            <a:off x="685799" y="1594484"/>
            <a:ext cx="7772400" cy="108013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66" name="Google Shape;66;p15"/>
          <p:cNvSpPr txBox="1">
            <a:spLocks noGrp="1"/>
          </p:cNvSpPr>
          <p:nvPr>
            <p:ph type="subTitle" idx="1"/>
          </p:nvPr>
        </p:nvSpPr>
        <p:spPr>
          <a:xfrm>
            <a:off x="1371600" y="2880360"/>
            <a:ext cx="6400800" cy="12858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67" name="Google Shape;67;p15"/>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68" name="Google Shape;68;p15"/>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69" name="Google Shape;69;p15"/>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sz="3300">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457200" y="205740"/>
            <a:ext cx="8229600" cy="822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72" name="Google Shape;72;p16"/>
          <p:cNvSpPr txBox="1">
            <a:spLocks noGrp="1"/>
          </p:cNvSpPr>
          <p:nvPr>
            <p:ph type="body" idx="1"/>
          </p:nvPr>
        </p:nvSpPr>
        <p:spPr>
          <a:xfrm>
            <a:off x="457200" y="1183004"/>
            <a:ext cx="8229600"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500"/>
              <a:buNone/>
              <a:defRPr/>
            </a:lvl1pPr>
            <a:lvl2pPr marL="914400" lvl="1" indent="-228600" algn="l">
              <a:spcBef>
                <a:spcPts val="0"/>
              </a:spcBef>
              <a:spcAft>
                <a:spcPts val="0"/>
              </a:spcAft>
              <a:buSzPts val="2500"/>
              <a:buNone/>
              <a:defRPr/>
            </a:lvl2pPr>
            <a:lvl3pPr marL="1371600" lvl="2" indent="-228600" algn="l">
              <a:spcBef>
                <a:spcPts val="0"/>
              </a:spcBef>
              <a:spcAft>
                <a:spcPts val="0"/>
              </a:spcAft>
              <a:buSzPts val="2500"/>
              <a:buNone/>
              <a:defRPr/>
            </a:lvl3pPr>
            <a:lvl4pPr marL="1828800" lvl="3" indent="-228600" algn="l">
              <a:spcBef>
                <a:spcPts val="0"/>
              </a:spcBef>
              <a:spcAft>
                <a:spcPts val="0"/>
              </a:spcAft>
              <a:buSzPts val="2500"/>
              <a:buNone/>
              <a:defRPr/>
            </a:lvl4pPr>
            <a:lvl5pPr marL="2286000" lvl="4" indent="-228600" algn="l">
              <a:spcBef>
                <a:spcPts val="0"/>
              </a:spcBef>
              <a:spcAft>
                <a:spcPts val="0"/>
              </a:spcAft>
              <a:buSzPts val="2500"/>
              <a:buNone/>
              <a:defRPr/>
            </a:lvl5pPr>
            <a:lvl6pPr marL="2743200" lvl="5" indent="-228600" algn="l">
              <a:spcBef>
                <a:spcPts val="0"/>
              </a:spcBef>
              <a:spcAft>
                <a:spcPts val="0"/>
              </a:spcAft>
              <a:buSzPts val="2500"/>
              <a:buNone/>
              <a:defRPr/>
            </a:lvl6pPr>
            <a:lvl7pPr marL="3200400" lvl="6" indent="-228600" algn="l">
              <a:spcBef>
                <a:spcPts val="0"/>
              </a:spcBef>
              <a:spcAft>
                <a:spcPts val="0"/>
              </a:spcAft>
              <a:buSzPts val="2500"/>
              <a:buNone/>
              <a:defRPr/>
            </a:lvl7pPr>
            <a:lvl8pPr marL="3657600" lvl="7" indent="-228600" algn="l">
              <a:spcBef>
                <a:spcPts val="0"/>
              </a:spcBef>
              <a:spcAft>
                <a:spcPts val="0"/>
              </a:spcAft>
              <a:buSzPts val="2500"/>
              <a:buNone/>
              <a:defRPr/>
            </a:lvl8pPr>
            <a:lvl9pPr marL="4114800" lvl="8" indent="-228600" algn="l">
              <a:spcBef>
                <a:spcPts val="0"/>
              </a:spcBef>
              <a:spcAft>
                <a:spcPts val="0"/>
              </a:spcAft>
              <a:buSzPts val="2500"/>
              <a:buNone/>
              <a:defRPr/>
            </a:lvl9pPr>
          </a:lstStyle>
          <a:p>
            <a:endParaRPr/>
          </a:p>
        </p:txBody>
      </p:sp>
      <p:sp>
        <p:nvSpPr>
          <p:cNvPr id="73" name="Google Shape;73;p16"/>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74" name="Google Shape;74;p16"/>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75" name="Google Shape;75;p16"/>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sz="3300">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457200" y="205740"/>
            <a:ext cx="8229600" cy="822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78" name="Google Shape;78;p17"/>
          <p:cNvSpPr txBox="1">
            <a:spLocks noGrp="1"/>
          </p:cNvSpPr>
          <p:nvPr>
            <p:ph type="body" idx="1"/>
          </p:nvPr>
        </p:nvSpPr>
        <p:spPr>
          <a:xfrm>
            <a:off x="457200" y="1183004"/>
            <a:ext cx="3977639"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500"/>
              <a:buNone/>
              <a:defRPr/>
            </a:lvl1pPr>
            <a:lvl2pPr marL="914400" lvl="1" indent="-228600" algn="l">
              <a:spcBef>
                <a:spcPts val="0"/>
              </a:spcBef>
              <a:spcAft>
                <a:spcPts val="0"/>
              </a:spcAft>
              <a:buSzPts val="2500"/>
              <a:buNone/>
              <a:defRPr/>
            </a:lvl2pPr>
            <a:lvl3pPr marL="1371600" lvl="2" indent="-228600" algn="l">
              <a:spcBef>
                <a:spcPts val="0"/>
              </a:spcBef>
              <a:spcAft>
                <a:spcPts val="0"/>
              </a:spcAft>
              <a:buSzPts val="2500"/>
              <a:buNone/>
              <a:defRPr/>
            </a:lvl3pPr>
            <a:lvl4pPr marL="1828800" lvl="3" indent="-228600" algn="l">
              <a:spcBef>
                <a:spcPts val="0"/>
              </a:spcBef>
              <a:spcAft>
                <a:spcPts val="0"/>
              </a:spcAft>
              <a:buSzPts val="2500"/>
              <a:buNone/>
              <a:defRPr/>
            </a:lvl4pPr>
            <a:lvl5pPr marL="2286000" lvl="4" indent="-228600" algn="l">
              <a:spcBef>
                <a:spcPts val="0"/>
              </a:spcBef>
              <a:spcAft>
                <a:spcPts val="0"/>
              </a:spcAft>
              <a:buSzPts val="2500"/>
              <a:buNone/>
              <a:defRPr/>
            </a:lvl5pPr>
            <a:lvl6pPr marL="2743200" lvl="5" indent="-228600" algn="l">
              <a:spcBef>
                <a:spcPts val="0"/>
              </a:spcBef>
              <a:spcAft>
                <a:spcPts val="0"/>
              </a:spcAft>
              <a:buSzPts val="2500"/>
              <a:buNone/>
              <a:defRPr/>
            </a:lvl6pPr>
            <a:lvl7pPr marL="3200400" lvl="6" indent="-228600" algn="l">
              <a:spcBef>
                <a:spcPts val="0"/>
              </a:spcBef>
              <a:spcAft>
                <a:spcPts val="0"/>
              </a:spcAft>
              <a:buSzPts val="2500"/>
              <a:buNone/>
              <a:defRPr/>
            </a:lvl7pPr>
            <a:lvl8pPr marL="3657600" lvl="7" indent="-228600" algn="l">
              <a:spcBef>
                <a:spcPts val="0"/>
              </a:spcBef>
              <a:spcAft>
                <a:spcPts val="0"/>
              </a:spcAft>
              <a:buSzPts val="2500"/>
              <a:buNone/>
              <a:defRPr/>
            </a:lvl8pPr>
            <a:lvl9pPr marL="4114800" lvl="8" indent="-228600" algn="l">
              <a:spcBef>
                <a:spcPts val="0"/>
              </a:spcBef>
              <a:spcAft>
                <a:spcPts val="0"/>
              </a:spcAft>
              <a:buSzPts val="2500"/>
              <a:buNone/>
              <a:defRPr/>
            </a:lvl9pPr>
          </a:lstStyle>
          <a:p>
            <a:endParaRPr/>
          </a:p>
        </p:txBody>
      </p:sp>
      <p:sp>
        <p:nvSpPr>
          <p:cNvPr id="79" name="Google Shape;79;p17"/>
          <p:cNvSpPr txBox="1">
            <a:spLocks noGrp="1"/>
          </p:cNvSpPr>
          <p:nvPr>
            <p:ph type="body" idx="2"/>
          </p:nvPr>
        </p:nvSpPr>
        <p:spPr>
          <a:xfrm>
            <a:off x="4709159" y="1183004"/>
            <a:ext cx="3977639" cy="339471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500"/>
              <a:buNone/>
              <a:defRPr/>
            </a:lvl1pPr>
            <a:lvl2pPr marL="914400" lvl="1" indent="-228600" algn="l">
              <a:spcBef>
                <a:spcPts val="0"/>
              </a:spcBef>
              <a:spcAft>
                <a:spcPts val="0"/>
              </a:spcAft>
              <a:buSzPts val="2500"/>
              <a:buNone/>
              <a:defRPr/>
            </a:lvl2pPr>
            <a:lvl3pPr marL="1371600" lvl="2" indent="-228600" algn="l">
              <a:spcBef>
                <a:spcPts val="0"/>
              </a:spcBef>
              <a:spcAft>
                <a:spcPts val="0"/>
              </a:spcAft>
              <a:buSzPts val="2500"/>
              <a:buNone/>
              <a:defRPr/>
            </a:lvl3pPr>
            <a:lvl4pPr marL="1828800" lvl="3" indent="-228600" algn="l">
              <a:spcBef>
                <a:spcPts val="0"/>
              </a:spcBef>
              <a:spcAft>
                <a:spcPts val="0"/>
              </a:spcAft>
              <a:buSzPts val="2500"/>
              <a:buNone/>
              <a:defRPr/>
            </a:lvl4pPr>
            <a:lvl5pPr marL="2286000" lvl="4" indent="-228600" algn="l">
              <a:spcBef>
                <a:spcPts val="0"/>
              </a:spcBef>
              <a:spcAft>
                <a:spcPts val="0"/>
              </a:spcAft>
              <a:buSzPts val="2500"/>
              <a:buNone/>
              <a:defRPr/>
            </a:lvl5pPr>
            <a:lvl6pPr marL="2743200" lvl="5" indent="-228600" algn="l">
              <a:spcBef>
                <a:spcPts val="0"/>
              </a:spcBef>
              <a:spcAft>
                <a:spcPts val="0"/>
              </a:spcAft>
              <a:buSzPts val="2500"/>
              <a:buNone/>
              <a:defRPr/>
            </a:lvl6pPr>
            <a:lvl7pPr marL="3200400" lvl="6" indent="-228600" algn="l">
              <a:spcBef>
                <a:spcPts val="0"/>
              </a:spcBef>
              <a:spcAft>
                <a:spcPts val="0"/>
              </a:spcAft>
              <a:buSzPts val="2500"/>
              <a:buNone/>
              <a:defRPr/>
            </a:lvl7pPr>
            <a:lvl8pPr marL="3657600" lvl="7" indent="-228600" algn="l">
              <a:spcBef>
                <a:spcPts val="0"/>
              </a:spcBef>
              <a:spcAft>
                <a:spcPts val="0"/>
              </a:spcAft>
              <a:buSzPts val="2500"/>
              <a:buNone/>
              <a:defRPr/>
            </a:lvl8pPr>
            <a:lvl9pPr marL="4114800" lvl="8" indent="-228600" algn="l">
              <a:spcBef>
                <a:spcPts val="0"/>
              </a:spcBef>
              <a:spcAft>
                <a:spcPts val="0"/>
              </a:spcAft>
              <a:buSzPts val="2500"/>
              <a:buNone/>
              <a:defRPr/>
            </a:lvl9pPr>
          </a:lstStyle>
          <a:p>
            <a:endParaRPr/>
          </a:p>
        </p:txBody>
      </p:sp>
      <p:sp>
        <p:nvSpPr>
          <p:cNvPr id="80" name="Google Shape;80;p17"/>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81" name="Google Shape;81;p17"/>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82" name="Google Shape;82;p17"/>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sz="3300">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457200" y="205740"/>
            <a:ext cx="8229600" cy="822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85" name="Google Shape;85;p18"/>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86" name="Google Shape;86;p18"/>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500"/>
              <a:buNone/>
              <a:defRPr>
                <a:solidFill>
                  <a:srgbClr val="888888"/>
                </a:solidFill>
              </a:defRPr>
            </a:lvl1pPr>
            <a:lvl2pPr lvl="1" algn="l">
              <a:spcBef>
                <a:spcPts val="0"/>
              </a:spcBef>
              <a:spcAft>
                <a:spcPts val="0"/>
              </a:spcAft>
              <a:buSzPts val="2500"/>
              <a:buNone/>
              <a:defRPr/>
            </a:lvl2pPr>
            <a:lvl3pPr lvl="2" algn="l">
              <a:spcBef>
                <a:spcPts val="0"/>
              </a:spcBef>
              <a:spcAft>
                <a:spcPts val="0"/>
              </a:spcAft>
              <a:buSzPts val="2500"/>
              <a:buNone/>
              <a:defRPr/>
            </a:lvl3pPr>
            <a:lvl4pPr lvl="3" algn="l">
              <a:spcBef>
                <a:spcPts val="0"/>
              </a:spcBef>
              <a:spcAft>
                <a:spcPts val="0"/>
              </a:spcAft>
              <a:buSzPts val="2500"/>
              <a:buNone/>
              <a:defRPr/>
            </a:lvl4pPr>
            <a:lvl5pPr lvl="4" algn="l">
              <a:spcBef>
                <a:spcPts val="0"/>
              </a:spcBef>
              <a:spcAft>
                <a:spcPts val="0"/>
              </a:spcAft>
              <a:buSzPts val="2500"/>
              <a:buNone/>
              <a:defRPr/>
            </a:lvl5pPr>
            <a:lvl6pPr lvl="5" algn="l">
              <a:spcBef>
                <a:spcPts val="0"/>
              </a:spcBef>
              <a:spcAft>
                <a:spcPts val="0"/>
              </a:spcAft>
              <a:buSzPts val="2500"/>
              <a:buNone/>
              <a:defRPr/>
            </a:lvl6pPr>
            <a:lvl7pPr lvl="6" algn="l">
              <a:spcBef>
                <a:spcPts val="0"/>
              </a:spcBef>
              <a:spcAft>
                <a:spcPts val="0"/>
              </a:spcAft>
              <a:buSzPts val="2500"/>
              <a:buNone/>
              <a:defRPr/>
            </a:lvl7pPr>
            <a:lvl8pPr lvl="7" algn="l">
              <a:spcBef>
                <a:spcPts val="0"/>
              </a:spcBef>
              <a:spcAft>
                <a:spcPts val="0"/>
              </a:spcAft>
              <a:buSzPts val="2500"/>
              <a:buNone/>
              <a:defRPr/>
            </a:lvl8pPr>
            <a:lvl9pPr lvl="8" algn="l">
              <a:spcBef>
                <a:spcPts val="0"/>
              </a:spcBef>
              <a:spcAft>
                <a:spcPts val="0"/>
              </a:spcAft>
              <a:buSzPts val="2500"/>
              <a:buNone/>
              <a:defRPr/>
            </a:lvl9pPr>
          </a:lstStyle>
          <a:p>
            <a:endParaRPr/>
          </a:p>
        </p:txBody>
      </p:sp>
      <p:sp>
        <p:nvSpPr>
          <p:cNvPr id="87" name="Google Shape;87;p18"/>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sz="33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p:nvPr/>
        </p:nvSpPr>
        <p:spPr>
          <a:xfrm>
            <a:off x="0" y="0"/>
            <a:ext cx="9140221" cy="303891"/>
          </a:xfrm>
          <a:custGeom>
            <a:avLst/>
            <a:gdLst/>
            <a:ahLst/>
            <a:cxnLst/>
            <a:rect l="l" t="t" r="r" b="b"/>
            <a:pathLst>
              <a:path w="4608195" h="204470" extrusionOk="0">
                <a:moveTo>
                  <a:pt x="4608004" y="0"/>
                </a:moveTo>
                <a:lnTo>
                  <a:pt x="0" y="0"/>
                </a:lnTo>
                <a:lnTo>
                  <a:pt x="0" y="203974"/>
                </a:lnTo>
                <a:lnTo>
                  <a:pt x="4608004" y="203974"/>
                </a:lnTo>
                <a:lnTo>
                  <a:pt x="4608004" y="0"/>
                </a:lnTo>
                <a:close/>
              </a:path>
            </a:pathLst>
          </a:custGeom>
          <a:solidFill>
            <a:srgbClr val="2B417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2" name="Google Shape;52;p13"/>
          <p:cNvSpPr/>
          <p:nvPr/>
        </p:nvSpPr>
        <p:spPr>
          <a:xfrm>
            <a:off x="239306" y="212048"/>
            <a:ext cx="71792" cy="53794"/>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3" name="Google Shape;53;p13"/>
          <p:cNvSpPr/>
          <p:nvPr/>
        </p:nvSpPr>
        <p:spPr>
          <a:xfrm>
            <a:off x="339285" y="212048"/>
            <a:ext cx="71792" cy="53794"/>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4" name="Google Shape;54;p13"/>
          <p:cNvSpPr/>
          <p:nvPr/>
        </p:nvSpPr>
        <p:spPr>
          <a:xfrm>
            <a:off x="439238" y="212048"/>
            <a:ext cx="71792" cy="53794"/>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5" name="Google Shape;55;p13"/>
          <p:cNvSpPr txBox="1">
            <a:spLocks noGrp="1"/>
          </p:cNvSpPr>
          <p:nvPr>
            <p:ph type="title"/>
          </p:nvPr>
        </p:nvSpPr>
        <p:spPr>
          <a:xfrm>
            <a:off x="457200" y="205740"/>
            <a:ext cx="8229600" cy="82296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2500"/>
              <a:buNone/>
              <a:defRPr sz="3300" b="0" i="0" u="none" strike="noStrike" cap="none">
                <a:latin typeface="Calibri"/>
                <a:ea typeface="Calibri"/>
                <a:cs typeface="Calibri"/>
                <a:sym typeface="Calibri"/>
              </a:defRPr>
            </a:lvl1pPr>
            <a:lvl2pPr lvl="1">
              <a:spcBef>
                <a:spcPts val="0"/>
              </a:spcBef>
              <a:spcAft>
                <a:spcPts val="0"/>
              </a:spcAft>
              <a:buSzPts val="2500"/>
              <a:buNone/>
              <a:defRPr sz="3300"/>
            </a:lvl2pPr>
            <a:lvl3pPr lvl="2">
              <a:spcBef>
                <a:spcPts val="0"/>
              </a:spcBef>
              <a:spcAft>
                <a:spcPts val="0"/>
              </a:spcAft>
              <a:buSzPts val="2500"/>
              <a:buNone/>
              <a:defRPr sz="3300"/>
            </a:lvl3pPr>
            <a:lvl4pPr lvl="3">
              <a:spcBef>
                <a:spcPts val="0"/>
              </a:spcBef>
              <a:spcAft>
                <a:spcPts val="0"/>
              </a:spcAft>
              <a:buSzPts val="2500"/>
              <a:buNone/>
              <a:defRPr sz="3300"/>
            </a:lvl4pPr>
            <a:lvl5pPr lvl="4">
              <a:spcBef>
                <a:spcPts val="0"/>
              </a:spcBef>
              <a:spcAft>
                <a:spcPts val="0"/>
              </a:spcAft>
              <a:buSzPts val="2500"/>
              <a:buNone/>
              <a:defRPr sz="3300"/>
            </a:lvl5pPr>
            <a:lvl6pPr lvl="5">
              <a:spcBef>
                <a:spcPts val="0"/>
              </a:spcBef>
              <a:spcAft>
                <a:spcPts val="0"/>
              </a:spcAft>
              <a:buSzPts val="2500"/>
              <a:buNone/>
              <a:defRPr sz="3300"/>
            </a:lvl6pPr>
            <a:lvl7pPr lvl="6">
              <a:spcBef>
                <a:spcPts val="0"/>
              </a:spcBef>
              <a:spcAft>
                <a:spcPts val="0"/>
              </a:spcAft>
              <a:buSzPts val="2500"/>
              <a:buNone/>
              <a:defRPr sz="3300"/>
            </a:lvl7pPr>
            <a:lvl8pPr lvl="7">
              <a:spcBef>
                <a:spcPts val="0"/>
              </a:spcBef>
              <a:spcAft>
                <a:spcPts val="0"/>
              </a:spcAft>
              <a:buSzPts val="2500"/>
              <a:buNone/>
              <a:defRPr sz="3300"/>
            </a:lvl8pPr>
            <a:lvl9pPr lvl="8">
              <a:spcBef>
                <a:spcPts val="0"/>
              </a:spcBef>
              <a:spcAft>
                <a:spcPts val="0"/>
              </a:spcAft>
              <a:buSzPts val="2500"/>
              <a:buNone/>
              <a:defRPr sz="3300"/>
            </a:lvl9pPr>
          </a:lstStyle>
          <a:p>
            <a:endParaRPr/>
          </a:p>
        </p:txBody>
      </p:sp>
      <p:sp>
        <p:nvSpPr>
          <p:cNvPr id="56" name="Google Shape;56;p13"/>
          <p:cNvSpPr txBox="1">
            <a:spLocks noGrp="1"/>
          </p:cNvSpPr>
          <p:nvPr>
            <p:ph type="body" idx="1"/>
          </p:nvPr>
        </p:nvSpPr>
        <p:spPr>
          <a:xfrm>
            <a:off x="457200" y="1183004"/>
            <a:ext cx="8229600" cy="339471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2500"/>
              <a:buNone/>
              <a:defRPr sz="3300" b="0" i="0" u="none" strike="noStrike" cap="none">
                <a:latin typeface="Calibri"/>
                <a:ea typeface="Calibri"/>
                <a:cs typeface="Calibri"/>
                <a:sym typeface="Calibri"/>
              </a:defRPr>
            </a:lvl1pPr>
            <a:lvl2pPr marL="914400" marR="0" lvl="1" indent="-228600" algn="l" rtl="0">
              <a:spcBef>
                <a:spcPts val="0"/>
              </a:spcBef>
              <a:spcAft>
                <a:spcPts val="0"/>
              </a:spcAft>
              <a:buSzPts val="2500"/>
              <a:buNone/>
              <a:defRPr sz="3300" b="0" i="0" u="none" strike="noStrike" cap="none">
                <a:latin typeface="Calibri"/>
                <a:ea typeface="Calibri"/>
                <a:cs typeface="Calibri"/>
                <a:sym typeface="Calibri"/>
              </a:defRPr>
            </a:lvl2pPr>
            <a:lvl3pPr marL="1371600" marR="0" lvl="2" indent="-228600" algn="l" rtl="0">
              <a:spcBef>
                <a:spcPts val="0"/>
              </a:spcBef>
              <a:spcAft>
                <a:spcPts val="0"/>
              </a:spcAft>
              <a:buSzPts val="2500"/>
              <a:buNone/>
              <a:defRPr sz="3300" b="0" i="0" u="none" strike="noStrike" cap="none">
                <a:latin typeface="Calibri"/>
                <a:ea typeface="Calibri"/>
                <a:cs typeface="Calibri"/>
                <a:sym typeface="Calibri"/>
              </a:defRPr>
            </a:lvl3pPr>
            <a:lvl4pPr marL="1828800" marR="0" lvl="3" indent="-228600" algn="l" rtl="0">
              <a:spcBef>
                <a:spcPts val="0"/>
              </a:spcBef>
              <a:spcAft>
                <a:spcPts val="0"/>
              </a:spcAft>
              <a:buSzPts val="2500"/>
              <a:buNone/>
              <a:defRPr sz="3300" b="0" i="0" u="none" strike="noStrike" cap="none">
                <a:latin typeface="Calibri"/>
                <a:ea typeface="Calibri"/>
                <a:cs typeface="Calibri"/>
                <a:sym typeface="Calibri"/>
              </a:defRPr>
            </a:lvl4pPr>
            <a:lvl5pPr marL="2286000" marR="0" lvl="4" indent="-228600" algn="l" rtl="0">
              <a:spcBef>
                <a:spcPts val="0"/>
              </a:spcBef>
              <a:spcAft>
                <a:spcPts val="0"/>
              </a:spcAft>
              <a:buSzPts val="2500"/>
              <a:buNone/>
              <a:defRPr sz="3300" b="0" i="0" u="none" strike="noStrike" cap="none">
                <a:latin typeface="Calibri"/>
                <a:ea typeface="Calibri"/>
                <a:cs typeface="Calibri"/>
                <a:sym typeface="Calibri"/>
              </a:defRPr>
            </a:lvl5pPr>
            <a:lvl6pPr marL="2743200" marR="0" lvl="5" indent="-228600" algn="l" rtl="0">
              <a:spcBef>
                <a:spcPts val="0"/>
              </a:spcBef>
              <a:spcAft>
                <a:spcPts val="0"/>
              </a:spcAft>
              <a:buSzPts val="2500"/>
              <a:buNone/>
              <a:defRPr sz="3300" b="0" i="0" u="none" strike="noStrike" cap="none">
                <a:latin typeface="Calibri"/>
                <a:ea typeface="Calibri"/>
                <a:cs typeface="Calibri"/>
                <a:sym typeface="Calibri"/>
              </a:defRPr>
            </a:lvl6pPr>
            <a:lvl7pPr marL="3200400" marR="0" lvl="6" indent="-228600" algn="l" rtl="0">
              <a:spcBef>
                <a:spcPts val="0"/>
              </a:spcBef>
              <a:spcAft>
                <a:spcPts val="0"/>
              </a:spcAft>
              <a:buSzPts val="2500"/>
              <a:buNone/>
              <a:defRPr sz="3300" b="0" i="0" u="none" strike="noStrike" cap="none">
                <a:latin typeface="Calibri"/>
                <a:ea typeface="Calibri"/>
                <a:cs typeface="Calibri"/>
                <a:sym typeface="Calibri"/>
              </a:defRPr>
            </a:lvl7pPr>
            <a:lvl8pPr marL="3657600" marR="0" lvl="7" indent="-228600" algn="l" rtl="0">
              <a:spcBef>
                <a:spcPts val="0"/>
              </a:spcBef>
              <a:spcAft>
                <a:spcPts val="0"/>
              </a:spcAft>
              <a:buSzPts val="2500"/>
              <a:buNone/>
              <a:defRPr sz="3300" b="0" i="0" u="none" strike="noStrike" cap="none">
                <a:latin typeface="Calibri"/>
                <a:ea typeface="Calibri"/>
                <a:cs typeface="Calibri"/>
                <a:sym typeface="Calibri"/>
              </a:defRPr>
            </a:lvl8pPr>
            <a:lvl9pPr marL="4114800" marR="0" lvl="8" indent="-228600" algn="l" rtl="0">
              <a:spcBef>
                <a:spcPts val="0"/>
              </a:spcBef>
              <a:spcAft>
                <a:spcPts val="0"/>
              </a:spcAft>
              <a:buSzPts val="2500"/>
              <a:buNone/>
              <a:defRPr sz="3300" b="0" i="0" u="none" strike="noStrike" cap="none">
                <a:latin typeface="Calibri"/>
                <a:ea typeface="Calibri"/>
                <a:cs typeface="Calibri"/>
                <a:sym typeface="Calibri"/>
              </a:defRPr>
            </a:lvl9pPr>
          </a:lstStyle>
          <a:p>
            <a:endParaRPr/>
          </a:p>
        </p:txBody>
      </p:sp>
      <p:sp>
        <p:nvSpPr>
          <p:cNvPr id="57" name="Google Shape;57;p13"/>
          <p:cNvSpPr txBox="1">
            <a:spLocks noGrp="1"/>
          </p:cNvSpPr>
          <p:nvPr>
            <p:ph type="ftr" idx="11"/>
          </p:nvPr>
        </p:nvSpPr>
        <p:spPr>
          <a:xfrm>
            <a:off x="3108960" y="4783454"/>
            <a:ext cx="2926080" cy="257174"/>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2500"/>
              <a:buNone/>
              <a:defRPr sz="3300">
                <a:solidFill>
                  <a:srgbClr val="888888"/>
                </a:solidFill>
                <a:latin typeface="Calibri"/>
                <a:ea typeface="Calibri"/>
                <a:cs typeface="Calibri"/>
                <a:sym typeface="Calibri"/>
              </a:defRPr>
            </a:lvl1pPr>
            <a:lvl2pPr marR="0" lvl="1"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9pPr>
          </a:lstStyle>
          <a:p>
            <a:endParaRPr/>
          </a:p>
        </p:txBody>
      </p:sp>
      <p:sp>
        <p:nvSpPr>
          <p:cNvPr id="58" name="Google Shape;58;p13"/>
          <p:cNvSpPr txBox="1">
            <a:spLocks noGrp="1"/>
          </p:cNvSpPr>
          <p:nvPr>
            <p:ph type="dt" idx="10"/>
          </p:nvPr>
        </p:nvSpPr>
        <p:spPr>
          <a:xfrm>
            <a:off x="457200" y="4783454"/>
            <a:ext cx="2103120" cy="25717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2500"/>
              <a:buNone/>
              <a:defRPr sz="3300">
                <a:solidFill>
                  <a:srgbClr val="888888"/>
                </a:solidFill>
                <a:latin typeface="Calibri"/>
                <a:ea typeface="Calibri"/>
                <a:cs typeface="Calibri"/>
                <a:sym typeface="Calibri"/>
              </a:defRPr>
            </a:lvl1pPr>
            <a:lvl2pPr marR="0" lvl="1"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2500"/>
              <a:buNone/>
              <a:defRPr sz="3300" b="0" i="0" u="none" strike="noStrike" cap="none">
                <a:solidFill>
                  <a:schemeClr val="dk1"/>
                </a:solidFill>
                <a:latin typeface="Calibri"/>
                <a:ea typeface="Calibri"/>
                <a:cs typeface="Calibri"/>
                <a:sym typeface="Calibri"/>
              </a:defRPr>
            </a:lvl9pPr>
          </a:lstStyle>
          <a:p>
            <a:endParaRPr/>
          </a:p>
        </p:txBody>
      </p:sp>
      <p:sp>
        <p:nvSpPr>
          <p:cNvPr id="59" name="Google Shape;59;p13"/>
          <p:cNvSpPr txBox="1">
            <a:spLocks noGrp="1"/>
          </p:cNvSpPr>
          <p:nvPr>
            <p:ph type="sldNum" idx="12"/>
          </p:nvPr>
        </p:nvSpPr>
        <p:spPr>
          <a:xfrm>
            <a:off x="6583680" y="4783454"/>
            <a:ext cx="2103120" cy="257174"/>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3300">
                <a:solidFill>
                  <a:srgbClr val="888888"/>
                </a:solidFill>
                <a:latin typeface="Calibri"/>
                <a:ea typeface="Calibri"/>
                <a:cs typeface="Calibri"/>
                <a:sym typeface="Calibri"/>
              </a:defRPr>
            </a:lvl1pPr>
            <a:lvl2pPr marL="0" marR="0" lvl="1" indent="0" algn="r" rtl="0">
              <a:spcBef>
                <a:spcPts val="0"/>
              </a:spcBef>
              <a:buNone/>
              <a:defRPr sz="3300">
                <a:solidFill>
                  <a:srgbClr val="888888"/>
                </a:solidFill>
                <a:latin typeface="Calibri"/>
                <a:ea typeface="Calibri"/>
                <a:cs typeface="Calibri"/>
                <a:sym typeface="Calibri"/>
              </a:defRPr>
            </a:lvl2pPr>
            <a:lvl3pPr marL="0" marR="0" lvl="2" indent="0" algn="r" rtl="0">
              <a:spcBef>
                <a:spcPts val="0"/>
              </a:spcBef>
              <a:buNone/>
              <a:defRPr sz="3300">
                <a:solidFill>
                  <a:srgbClr val="888888"/>
                </a:solidFill>
                <a:latin typeface="Calibri"/>
                <a:ea typeface="Calibri"/>
                <a:cs typeface="Calibri"/>
                <a:sym typeface="Calibri"/>
              </a:defRPr>
            </a:lvl3pPr>
            <a:lvl4pPr marL="0" marR="0" lvl="3" indent="0" algn="r" rtl="0">
              <a:spcBef>
                <a:spcPts val="0"/>
              </a:spcBef>
              <a:buNone/>
              <a:defRPr sz="3300">
                <a:solidFill>
                  <a:srgbClr val="888888"/>
                </a:solidFill>
                <a:latin typeface="Calibri"/>
                <a:ea typeface="Calibri"/>
                <a:cs typeface="Calibri"/>
                <a:sym typeface="Calibri"/>
              </a:defRPr>
            </a:lvl4pPr>
            <a:lvl5pPr marL="0" marR="0" lvl="4" indent="0" algn="r" rtl="0">
              <a:spcBef>
                <a:spcPts val="0"/>
              </a:spcBef>
              <a:buNone/>
              <a:defRPr sz="3300">
                <a:solidFill>
                  <a:srgbClr val="888888"/>
                </a:solidFill>
                <a:latin typeface="Calibri"/>
                <a:ea typeface="Calibri"/>
                <a:cs typeface="Calibri"/>
                <a:sym typeface="Calibri"/>
              </a:defRPr>
            </a:lvl5pPr>
            <a:lvl6pPr marL="0" marR="0" lvl="5" indent="0" algn="r" rtl="0">
              <a:spcBef>
                <a:spcPts val="0"/>
              </a:spcBef>
              <a:buNone/>
              <a:defRPr sz="3300">
                <a:solidFill>
                  <a:srgbClr val="888888"/>
                </a:solidFill>
                <a:latin typeface="Calibri"/>
                <a:ea typeface="Calibri"/>
                <a:cs typeface="Calibri"/>
                <a:sym typeface="Calibri"/>
              </a:defRPr>
            </a:lvl6pPr>
            <a:lvl7pPr marL="0" marR="0" lvl="6" indent="0" algn="r" rtl="0">
              <a:spcBef>
                <a:spcPts val="0"/>
              </a:spcBef>
              <a:buNone/>
              <a:defRPr sz="3300">
                <a:solidFill>
                  <a:srgbClr val="888888"/>
                </a:solidFill>
                <a:latin typeface="Calibri"/>
                <a:ea typeface="Calibri"/>
                <a:cs typeface="Calibri"/>
                <a:sym typeface="Calibri"/>
              </a:defRPr>
            </a:lvl7pPr>
            <a:lvl8pPr marL="0" marR="0" lvl="7" indent="0" algn="r" rtl="0">
              <a:spcBef>
                <a:spcPts val="0"/>
              </a:spcBef>
              <a:buNone/>
              <a:defRPr sz="3300">
                <a:solidFill>
                  <a:srgbClr val="888888"/>
                </a:solidFill>
                <a:latin typeface="Calibri"/>
                <a:ea typeface="Calibri"/>
                <a:cs typeface="Calibri"/>
                <a:sym typeface="Calibri"/>
              </a:defRPr>
            </a:lvl8pPr>
            <a:lvl9pPr marL="0" marR="0" lvl="8" indent="0" algn="r" rtl="0">
              <a:spcBef>
                <a:spcPts val="0"/>
              </a:spcBef>
              <a:buNone/>
              <a:defRPr sz="33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b="0" u="none"/>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slide" Target="slide18.xml"/><Relationship Id="rId4" Type="http://schemas.openxmlformats.org/officeDocument/2006/relationships/slide" Target="slide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slide" Target="slide18.xml"/><Relationship Id="rId4" Type="http://schemas.openxmlformats.org/officeDocument/2006/relationships/slide" Target="slide12.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slide" Target="slide18.xml"/><Relationship Id="rId4" Type="http://schemas.openxmlformats.org/officeDocument/2006/relationships/slide" Target="slide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slide" Target="slide18.xml"/><Relationship Id="rId4" Type="http://schemas.openxmlformats.org/officeDocument/2006/relationships/slide" Target="slide12.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hyperlink" Target="https://www.kaggle.com/datasets/bassamkasasbeh1/wsnds" TargetMode="External"/><Relationship Id="rId5" Type="http://schemas.openxmlformats.org/officeDocument/2006/relationships/slide" Target="slide18.xml"/><Relationship Id="rId10" Type="http://schemas.openxmlformats.org/officeDocument/2006/relationships/hyperlink" Target="https://www.kaggle.com/datasets/hassan06/nslkdd" TargetMode="External"/><Relationship Id="rId4" Type="http://schemas.openxmlformats.org/officeDocument/2006/relationships/slide" Target="slide12.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slide" Target="slide18.xml"/><Relationship Id="rId4" Type="http://schemas.openxmlformats.org/officeDocument/2006/relationships/slide" Target="slide12.xml"/><Relationship Id="rId9" Type="http://schemas.openxmlformats.org/officeDocument/2006/relationships/hyperlink" Target="https://www.kaggle.com/datasets/dhoogla/nftonio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slide" Target="slide18.xml"/><Relationship Id="rId4" Type="http://schemas.openxmlformats.org/officeDocument/2006/relationships/slide" Target="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2.jpg"/><Relationship Id="rId5" Type="http://schemas.openxmlformats.org/officeDocument/2006/relationships/slide" Target="slide18.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 Target="slide5.xml"/><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26.png"/><Relationship Id="rId5" Type="http://schemas.openxmlformats.org/officeDocument/2006/relationships/slide" Target="slide18.xml"/><Relationship Id="rId10" Type="http://schemas.openxmlformats.org/officeDocument/2006/relationships/image" Target="../media/image25.png"/><Relationship Id="rId4" Type="http://schemas.openxmlformats.org/officeDocument/2006/relationships/slide" Target="slide12.xml"/><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 Target="slide5.xml"/><Relationship Id="rId7"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slide" Target="slide18.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hyperlink" Target="https://ieeexplore.ieee.org/document/8988230" TargetMode="External"/><Relationship Id="rId7" Type="http://schemas.openxmlformats.org/officeDocument/2006/relationships/hyperlink" Target="https://ieeexplore.ieee.org/abstract/document/10379637" TargetMode="External"/><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hyperlink" Target="https://ieeexplore.ieee.org/document/8681044" TargetMode="External"/><Relationship Id="rId5" Type="http://schemas.openxmlformats.org/officeDocument/2006/relationships/hyperlink" Target="https://www.researchgate.net/publication/301747018_Fuzziness_based_semi-supervised_learning_approach_for_Intrusion_Detection_System" TargetMode="External"/><Relationship Id="rId4" Type="http://schemas.openxmlformats.org/officeDocument/2006/relationships/hyperlink" Target="https://ieeexplore.ieee.org/document/8066291"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ieeexplore.ieee.org/document/10496686" TargetMode="External"/><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hyperlink" Target="https://www.sciencedirect.com/science/article/pii/S187705092200761X" TargetMode="External"/><Relationship Id="rId5" Type="http://schemas.openxmlformats.org/officeDocument/2006/relationships/hyperlink" Target="https://www.sciencedirect.com/science/article/pii/S277266222200073X" TargetMode="External"/><Relationship Id="rId4" Type="http://schemas.openxmlformats.org/officeDocument/2006/relationships/hyperlink" Target="https://thesai.org/Publications/ViewPaper?Volume=14&amp;Issue=9&amp;Code=IJACSA&amp;SerialNo=49" TargetMode="Externa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slide" Target="slide18.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93" name="Google Shape;93;p19"/>
          <p:cNvGrpSpPr/>
          <p:nvPr/>
        </p:nvGrpSpPr>
        <p:grpSpPr>
          <a:xfrm>
            <a:off x="2804007" y="212048"/>
            <a:ext cx="471660" cy="53794"/>
            <a:chOff x="1413687" y="142674"/>
            <a:chExt cx="237795" cy="36195"/>
          </a:xfrm>
        </p:grpSpPr>
        <p:sp>
          <p:nvSpPr>
            <p:cNvPr id="94" name="Google Shape;94;p19"/>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95" name="Google Shape;95;p19"/>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96" name="Google Shape;96;p19"/>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97" name="Google Shape;97;p19"/>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98" name="Google Shape;98;p19"/>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99" name="Google Shape;99;p19"/>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100" name="Google Shape;100;p19"/>
          <p:cNvGrpSpPr/>
          <p:nvPr/>
        </p:nvGrpSpPr>
        <p:grpSpPr>
          <a:xfrm>
            <a:off x="5560332" y="212048"/>
            <a:ext cx="171747" cy="53794"/>
            <a:chOff x="2803334" y="142674"/>
            <a:chExt cx="86589" cy="36195"/>
          </a:xfrm>
        </p:grpSpPr>
        <p:sp>
          <p:nvSpPr>
            <p:cNvPr id="101" name="Google Shape;101;p19"/>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02" name="Google Shape;102;p19"/>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03" name="Google Shape;103;p19"/>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104" name="Google Shape;104;p19"/>
          <p:cNvGrpSpPr/>
          <p:nvPr/>
        </p:nvGrpSpPr>
        <p:grpSpPr>
          <a:xfrm>
            <a:off x="8027927" y="212048"/>
            <a:ext cx="171747" cy="53794"/>
            <a:chOff x="4047413" y="142674"/>
            <a:chExt cx="86589" cy="36195"/>
          </a:xfrm>
        </p:grpSpPr>
        <p:sp>
          <p:nvSpPr>
            <p:cNvPr id="105" name="Google Shape;105;p19"/>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06" name="Google Shape;106;p19"/>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07" name="Google Shape;107;p19"/>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108" name="Google Shape;108;p19"/>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109" name="Google Shape;109;p19"/>
          <p:cNvPicPr preferRelativeResize="0"/>
          <p:nvPr/>
        </p:nvPicPr>
        <p:blipFill rotWithShape="1">
          <a:blip r:embed="rId6">
            <a:alphaModFix/>
          </a:blip>
          <a:srcRect/>
          <a:stretch/>
        </p:blipFill>
        <p:spPr>
          <a:xfrm>
            <a:off x="987412" y="558425"/>
            <a:ext cx="6867638" cy="1191813"/>
          </a:xfrm>
          <a:prstGeom prst="rect">
            <a:avLst/>
          </a:prstGeom>
          <a:noFill/>
          <a:ln>
            <a:noFill/>
          </a:ln>
        </p:spPr>
      </p:pic>
      <p:grpSp>
        <p:nvGrpSpPr>
          <p:cNvPr id="110" name="Google Shape;110;p19"/>
          <p:cNvGrpSpPr/>
          <p:nvPr/>
        </p:nvGrpSpPr>
        <p:grpSpPr>
          <a:xfrm>
            <a:off x="174054" y="1799439"/>
            <a:ext cx="8970162" cy="1120246"/>
            <a:chOff x="87743" y="1380134"/>
            <a:chExt cx="4483736" cy="550300"/>
          </a:xfrm>
        </p:grpSpPr>
        <p:sp>
          <p:nvSpPr>
            <p:cNvPr id="111" name="Google Shape;111;p19"/>
            <p:cNvSpPr/>
            <p:nvPr/>
          </p:nvSpPr>
          <p:spPr>
            <a:xfrm>
              <a:off x="87743" y="1380134"/>
              <a:ext cx="4432935" cy="82550"/>
            </a:xfrm>
            <a:custGeom>
              <a:avLst/>
              <a:gdLst/>
              <a:ahLst/>
              <a:cxnLst/>
              <a:rect l="l" t="t" r="r" b="b"/>
              <a:pathLst>
                <a:path w="4432935" h="82550" extrusionOk="0">
                  <a:moveTo>
                    <a:pt x="4381765" y="0"/>
                  </a:moveTo>
                  <a:lnTo>
                    <a:pt x="50800" y="0"/>
                  </a:lnTo>
                  <a:lnTo>
                    <a:pt x="31075" y="4008"/>
                  </a:lnTo>
                  <a:lnTo>
                    <a:pt x="14922" y="14922"/>
                  </a:lnTo>
                  <a:lnTo>
                    <a:pt x="4008" y="31075"/>
                  </a:lnTo>
                  <a:lnTo>
                    <a:pt x="0" y="50800"/>
                  </a:lnTo>
                  <a:lnTo>
                    <a:pt x="0" y="82384"/>
                  </a:lnTo>
                  <a:lnTo>
                    <a:pt x="4432566" y="82384"/>
                  </a:lnTo>
                  <a:lnTo>
                    <a:pt x="4432566" y="50800"/>
                  </a:lnTo>
                  <a:lnTo>
                    <a:pt x="4428558" y="31075"/>
                  </a:lnTo>
                  <a:lnTo>
                    <a:pt x="4417643" y="14922"/>
                  </a:lnTo>
                  <a:lnTo>
                    <a:pt x="4401490" y="4008"/>
                  </a:lnTo>
                  <a:lnTo>
                    <a:pt x="4381765"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12" name="Google Shape;112;p19"/>
            <p:cNvSpPr/>
            <p:nvPr/>
          </p:nvSpPr>
          <p:spPr>
            <a:xfrm>
              <a:off x="138544" y="1443389"/>
              <a:ext cx="4432935" cy="487045"/>
            </a:xfrm>
            <a:custGeom>
              <a:avLst/>
              <a:gdLst/>
              <a:ahLst/>
              <a:cxnLst/>
              <a:rect l="l" t="t" r="r" b="b"/>
              <a:pathLst>
                <a:path w="4432935" h="487044" extrusionOk="0">
                  <a:moveTo>
                    <a:pt x="4432566" y="0"/>
                  </a:moveTo>
                  <a:lnTo>
                    <a:pt x="0" y="0"/>
                  </a:lnTo>
                  <a:lnTo>
                    <a:pt x="0" y="486821"/>
                  </a:lnTo>
                  <a:lnTo>
                    <a:pt x="4432566" y="486821"/>
                  </a:lnTo>
                  <a:lnTo>
                    <a:pt x="4432566"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13" name="Google Shape;113;p19"/>
            <p:cNvSpPr/>
            <p:nvPr/>
          </p:nvSpPr>
          <p:spPr>
            <a:xfrm>
              <a:off x="87743" y="1424552"/>
              <a:ext cx="4432935" cy="455294"/>
            </a:xfrm>
            <a:custGeom>
              <a:avLst/>
              <a:gdLst/>
              <a:ahLst/>
              <a:cxnLst/>
              <a:rect l="l" t="t" r="r" b="b"/>
              <a:pathLst>
                <a:path w="4432935" h="455294" extrusionOk="0">
                  <a:moveTo>
                    <a:pt x="4432566" y="0"/>
                  </a:moveTo>
                  <a:lnTo>
                    <a:pt x="0" y="0"/>
                  </a:lnTo>
                  <a:lnTo>
                    <a:pt x="0" y="404056"/>
                  </a:lnTo>
                  <a:lnTo>
                    <a:pt x="4008" y="423781"/>
                  </a:lnTo>
                  <a:lnTo>
                    <a:pt x="14922" y="439934"/>
                  </a:lnTo>
                  <a:lnTo>
                    <a:pt x="31075" y="450848"/>
                  </a:lnTo>
                  <a:lnTo>
                    <a:pt x="50800" y="454857"/>
                  </a:lnTo>
                  <a:lnTo>
                    <a:pt x="4381765" y="454857"/>
                  </a:lnTo>
                  <a:lnTo>
                    <a:pt x="4401490" y="450848"/>
                  </a:lnTo>
                  <a:lnTo>
                    <a:pt x="4417643" y="439934"/>
                  </a:lnTo>
                  <a:lnTo>
                    <a:pt x="4428558" y="423781"/>
                  </a:lnTo>
                  <a:lnTo>
                    <a:pt x="4432566" y="404056"/>
                  </a:lnTo>
                  <a:lnTo>
                    <a:pt x="4432566"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14" name="Google Shape;114;p19"/>
          <p:cNvSpPr txBox="1"/>
          <p:nvPr/>
        </p:nvSpPr>
        <p:spPr>
          <a:xfrm>
            <a:off x="1110964" y="1872105"/>
            <a:ext cx="7314000" cy="867555"/>
          </a:xfrm>
          <a:prstGeom prst="rect">
            <a:avLst/>
          </a:prstGeom>
          <a:noFill/>
          <a:ln>
            <a:noFill/>
          </a:ln>
        </p:spPr>
        <p:txBody>
          <a:bodyPr spcFirstLastPara="1" wrap="square" lIns="0" tIns="31125" rIns="0" bIns="0" anchor="t" anchorCtr="0">
            <a:spAutoFit/>
          </a:bodyPr>
          <a:lstStyle/>
          <a:p>
            <a:pPr marL="0" marR="0" lvl="0" indent="0" algn="ctr" rtl="0">
              <a:lnSpc>
                <a:spcPct val="100000"/>
              </a:lnSpc>
              <a:spcBef>
                <a:spcPts val="200"/>
              </a:spcBef>
              <a:spcAft>
                <a:spcPts val="0"/>
              </a:spcAft>
              <a:buNone/>
            </a:pPr>
            <a:r>
              <a:rPr lang="en-US" sz="1800" dirty="0">
                <a:solidFill>
                  <a:schemeClr val="bg1"/>
                </a:solidFill>
              </a:rPr>
              <a:t>WAVE-SENSE: An Efficient Wavelet-Based Intrusion Detection System for IoT Networks </a:t>
            </a:r>
          </a:p>
          <a:p>
            <a:pPr marL="0" marR="0" lvl="0" indent="0" algn="ctr" rtl="0">
              <a:lnSpc>
                <a:spcPct val="100000"/>
              </a:lnSpc>
              <a:spcBef>
                <a:spcPts val="200"/>
              </a:spcBef>
              <a:spcAft>
                <a:spcPts val="0"/>
              </a:spcAft>
              <a:buNone/>
            </a:pPr>
            <a:r>
              <a:rPr lang="en" sz="1500" dirty="0">
                <a:solidFill>
                  <a:srgbClr val="FFFFFF"/>
                </a:solidFill>
                <a:latin typeface="+mj-lt"/>
                <a:ea typeface="Helvetica Neue"/>
                <a:cs typeface="Helvetica Neue"/>
                <a:sym typeface="Helvetica Neue"/>
              </a:rPr>
              <a:t>BTP End Term Presentation</a:t>
            </a:r>
            <a:endParaRPr sz="2400" dirty="0">
              <a:latin typeface="+mj-lt"/>
            </a:endParaRPr>
          </a:p>
        </p:txBody>
      </p:sp>
      <p:sp>
        <p:nvSpPr>
          <p:cNvPr id="115" name="Google Shape;115;p19"/>
          <p:cNvSpPr txBox="1"/>
          <p:nvPr/>
        </p:nvSpPr>
        <p:spPr>
          <a:xfrm>
            <a:off x="214215" y="2933794"/>
            <a:ext cx="3528600" cy="2227076"/>
          </a:xfrm>
          <a:prstGeom prst="rect">
            <a:avLst/>
          </a:prstGeom>
          <a:noFill/>
          <a:ln>
            <a:noFill/>
          </a:ln>
        </p:spPr>
        <p:txBody>
          <a:bodyPr spcFirstLastPara="1" wrap="square" lIns="0" tIns="21900" rIns="0" bIns="0" anchor="t" anchorCtr="0">
            <a:spAutoFit/>
          </a:bodyPr>
          <a:lstStyle/>
          <a:p>
            <a:pPr marL="25400" marR="12700" lvl="0" indent="0" algn="just" rtl="0">
              <a:lnSpc>
                <a:spcPct val="199200"/>
              </a:lnSpc>
              <a:spcBef>
                <a:spcPts val="0"/>
              </a:spcBef>
              <a:spcAft>
                <a:spcPts val="0"/>
              </a:spcAft>
              <a:buNone/>
            </a:pPr>
            <a:r>
              <a:rPr lang="en" sz="1800" i="1" dirty="0">
                <a:solidFill>
                  <a:srgbClr val="002060"/>
                </a:solidFill>
                <a:latin typeface="Calibri"/>
                <a:ea typeface="Calibri"/>
                <a:cs typeface="Calibri"/>
                <a:sym typeface="Calibri"/>
              </a:rPr>
              <a:t>Tabish Farooqui:	112215183</a:t>
            </a:r>
          </a:p>
          <a:p>
            <a:pPr marL="25400" marR="12700" lvl="0" indent="0" algn="just" rtl="0">
              <a:lnSpc>
                <a:spcPct val="199200"/>
              </a:lnSpc>
              <a:spcBef>
                <a:spcPts val="0"/>
              </a:spcBef>
              <a:spcAft>
                <a:spcPts val="0"/>
              </a:spcAft>
              <a:buNone/>
            </a:pPr>
            <a:r>
              <a:rPr lang="en" sz="1800" i="1" dirty="0">
                <a:solidFill>
                  <a:srgbClr val="002060"/>
                </a:solidFill>
                <a:latin typeface="Calibri"/>
                <a:ea typeface="Calibri"/>
                <a:cs typeface="Calibri"/>
                <a:sym typeface="Calibri"/>
              </a:rPr>
              <a:t>Harsh Singh :           112215070</a:t>
            </a:r>
          </a:p>
          <a:p>
            <a:pPr marL="25400" marR="12700" lvl="0" indent="0" algn="just" rtl="0">
              <a:lnSpc>
                <a:spcPct val="199200"/>
              </a:lnSpc>
              <a:spcBef>
                <a:spcPts val="0"/>
              </a:spcBef>
              <a:spcAft>
                <a:spcPts val="0"/>
              </a:spcAft>
              <a:buNone/>
            </a:pPr>
            <a:r>
              <a:rPr lang="en" sz="1800" i="1" dirty="0">
                <a:solidFill>
                  <a:srgbClr val="002060"/>
                </a:solidFill>
                <a:latin typeface="Calibri"/>
                <a:ea typeface="Calibri"/>
                <a:cs typeface="Calibri"/>
                <a:sym typeface="Calibri"/>
              </a:rPr>
              <a:t>Vaibhav  Sodhi :       112215192</a:t>
            </a:r>
            <a:endParaRPr sz="2500" dirty="0"/>
          </a:p>
          <a:p>
            <a:pPr marL="25400" marR="12700" lvl="0" indent="0" algn="just" rtl="0">
              <a:lnSpc>
                <a:spcPct val="199200"/>
              </a:lnSpc>
              <a:spcBef>
                <a:spcPts val="0"/>
              </a:spcBef>
              <a:spcAft>
                <a:spcPts val="0"/>
              </a:spcAft>
              <a:buNone/>
            </a:pPr>
            <a:r>
              <a:rPr lang="en" sz="1800" i="1" dirty="0">
                <a:solidFill>
                  <a:srgbClr val="002060"/>
                </a:solidFill>
                <a:latin typeface="Calibri"/>
                <a:ea typeface="Calibri"/>
                <a:cs typeface="Calibri"/>
                <a:sym typeface="Calibri"/>
              </a:rPr>
              <a:t>Darpan Maurya:	112215054</a:t>
            </a:r>
            <a:endParaRPr sz="1800" dirty="0">
              <a:solidFill>
                <a:srgbClr val="002060"/>
              </a:solidFill>
              <a:latin typeface="Calibri"/>
              <a:ea typeface="Calibri"/>
              <a:cs typeface="Calibri"/>
              <a:sym typeface="Calibri"/>
            </a:endParaRPr>
          </a:p>
        </p:txBody>
      </p:sp>
      <p:sp>
        <p:nvSpPr>
          <p:cNvPr id="116" name="Google Shape;116;p19"/>
          <p:cNvSpPr txBox="1"/>
          <p:nvPr/>
        </p:nvSpPr>
        <p:spPr>
          <a:xfrm>
            <a:off x="4063127" y="3083298"/>
            <a:ext cx="4885200" cy="1276200"/>
          </a:xfrm>
          <a:prstGeom prst="rect">
            <a:avLst/>
          </a:prstGeom>
          <a:noFill/>
          <a:ln>
            <a:noFill/>
          </a:ln>
        </p:spPr>
        <p:txBody>
          <a:bodyPr spcFirstLastPara="1" wrap="square" lIns="166175" tIns="83075" rIns="166175" bIns="83075" anchor="t" anchorCtr="0">
            <a:spAutoFit/>
          </a:bodyPr>
          <a:lstStyle/>
          <a:p>
            <a:pPr marL="0" marR="0" lvl="0" indent="0" algn="l" rtl="0">
              <a:spcBef>
                <a:spcPts val="0"/>
              </a:spcBef>
              <a:spcAft>
                <a:spcPts val="0"/>
              </a:spcAft>
              <a:buNone/>
            </a:pPr>
            <a:r>
              <a:rPr lang="en" sz="1800" dirty="0">
                <a:solidFill>
                  <a:srgbClr val="002060"/>
                </a:solidFill>
                <a:latin typeface="Calibri"/>
                <a:ea typeface="Calibri"/>
                <a:cs typeface="Calibri"/>
                <a:sym typeface="Calibri"/>
              </a:rPr>
              <a:t>Faculty Advisor:  Dr. Sonam Maurya</a:t>
            </a:r>
            <a:endParaRPr sz="1800" dirty="0">
              <a:solidFill>
                <a:srgbClr val="002060"/>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rgbClr val="002060"/>
              </a:solidFill>
              <a:latin typeface="Calibri"/>
              <a:ea typeface="Calibri"/>
              <a:cs typeface="Calibri"/>
              <a:sym typeface="Calibri"/>
            </a:endParaRPr>
          </a:p>
          <a:p>
            <a:pPr marL="0" marR="0" lvl="0" indent="0" algn="l" rtl="0">
              <a:spcBef>
                <a:spcPts val="0"/>
              </a:spcBef>
              <a:spcAft>
                <a:spcPts val="0"/>
              </a:spcAft>
              <a:buNone/>
            </a:pPr>
            <a:r>
              <a:rPr lang="en" sz="1800" dirty="0">
                <a:solidFill>
                  <a:srgbClr val="002060"/>
                </a:solidFill>
                <a:latin typeface="Calibri"/>
                <a:ea typeface="Calibri"/>
                <a:cs typeface="Calibri"/>
                <a:sym typeface="Calibri"/>
              </a:rPr>
              <a:t>Date: 23/04/2025</a:t>
            </a:r>
            <a:endParaRPr sz="2500" dirty="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20"/>
          <p:cNvPicPr preferRelativeResize="0"/>
          <p:nvPr/>
        </p:nvPicPr>
        <p:blipFill rotWithShape="1">
          <a:blip r:embed="rId3">
            <a:alphaModFix/>
          </a:blip>
          <a:srcRect/>
          <a:stretch/>
        </p:blipFill>
        <p:spPr>
          <a:xfrm>
            <a:off x="5478843" y="646477"/>
            <a:ext cx="3423622" cy="1698771"/>
          </a:xfrm>
          <a:prstGeom prst="rect">
            <a:avLst/>
          </a:prstGeom>
          <a:noFill/>
          <a:ln>
            <a:noFill/>
          </a:ln>
        </p:spPr>
      </p:pic>
      <p:pic>
        <p:nvPicPr>
          <p:cNvPr id="122" name="Google Shape;122;p20"/>
          <p:cNvPicPr preferRelativeResize="0"/>
          <p:nvPr/>
        </p:nvPicPr>
        <p:blipFill rotWithShape="1">
          <a:blip r:embed="rId4">
            <a:alphaModFix/>
          </a:blip>
          <a:srcRect/>
          <a:stretch/>
        </p:blipFill>
        <p:spPr>
          <a:xfrm>
            <a:off x="5478843" y="2798253"/>
            <a:ext cx="3173950" cy="1636982"/>
          </a:xfrm>
          <a:prstGeom prst="rect">
            <a:avLst/>
          </a:prstGeom>
          <a:noFill/>
          <a:ln>
            <a:noFill/>
          </a:ln>
        </p:spPr>
      </p:pic>
      <p:sp>
        <p:nvSpPr>
          <p:cNvPr id="123" name="Google Shape;123;p20"/>
          <p:cNvSpPr/>
          <p:nvPr/>
        </p:nvSpPr>
        <p:spPr>
          <a:xfrm>
            <a:off x="188925" y="1248675"/>
            <a:ext cx="5161200" cy="3366600"/>
          </a:xfrm>
          <a:prstGeom prst="rect">
            <a:avLst/>
          </a:prstGeom>
          <a:noFill/>
          <a:ln>
            <a:noFill/>
          </a:ln>
        </p:spPr>
        <p:txBody>
          <a:bodyPr spcFirstLastPara="1" wrap="square" lIns="166175" tIns="83075" rIns="166175" bIns="83075" anchor="t" anchorCtr="0">
            <a:noAutofit/>
          </a:bodyPr>
          <a:lstStyle/>
          <a:p>
            <a:pPr marL="0" marR="12700" lvl="0" indent="0" algn="just" rtl="0">
              <a:lnSpc>
                <a:spcPct val="234000"/>
              </a:lnSpc>
              <a:spcBef>
                <a:spcPts val="0"/>
              </a:spcBef>
              <a:spcAft>
                <a:spcPts val="0"/>
              </a:spcAft>
              <a:buClr>
                <a:schemeClr val="dk1"/>
              </a:buClr>
              <a:buFont typeface="Arial"/>
              <a:buNone/>
            </a:pPr>
            <a:r>
              <a:rPr lang="en" sz="1600" b="1" dirty="0">
                <a:solidFill>
                  <a:schemeClr val="dk2"/>
                </a:solidFill>
                <a:latin typeface="Times New Roman"/>
                <a:ea typeface="Times New Roman"/>
                <a:cs typeface="Times New Roman"/>
                <a:sym typeface="Times New Roman"/>
              </a:rPr>
              <a:t>Internet of Things (IoT):</a:t>
            </a:r>
            <a:endParaRPr sz="1700" b="1" dirty="0">
              <a:solidFill>
                <a:srgbClr val="132C68"/>
              </a:solidFill>
              <a:latin typeface="Helvetica Neue"/>
              <a:ea typeface="Helvetica Neue"/>
              <a:cs typeface="Helvetica Neue"/>
              <a:sym typeface="Helvetica Neue"/>
            </a:endParaRPr>
          </a:p>
          <a:p>
            <a:pPr marL="0" marR="12700" lvl="0" indent="0" algn="just" rtl="0">
              <a:lnSpc>
                <a:spcPct val="233999"/>
              </a:lnSpc>
              <a:spcBef>
                <a:spcPts val="0"/>
              </a:spcBef>
              <a:spcAft>
                <a:spcPts val="0"/>
              </a:spcAft>
              <a:buNone/>
            </a:pPr>
            <a:r>
              <a:rPr lang="en" sz="1600" dirty="0">
                <a:solidFill>
                  <a:schemeClr val="dk2"/>
                </a:solidFill>
                <a:latin typeface="Times New Roman"/>
                <a:ea typeface="Times New Roman"/>
                <a:cs typeface="Times New Roman"/>
                <a:sym typeface="Times New Roman"/>
              </a:rPr>
              <a:t>IoT refers to a network of physical objects that are embedded with sensors, software, and other technologies for the purpose of connecting and exchanging data with other devices and systems over the interne</a:t>
            </a:r>
            <a:r>
              <a:rPr lang="en" sz="1700" dirty="0">
                <a:solidFill>
                  <a:schemeClr val="dk2"/>
                </a:solidFill>
                <a:latin typeface="Times New Roman"/>
                <a:ea typeface="Times New Roman"/>
                <a:cs typeface="Times New Roman"/>
                <a:sym typeface="Times New Roman"/>
              </a:rPr>
              <a:t>t.</a:t>
            </a:r>
            <a:endParaRPr sz="1700" dirty="0">
              <a:solidFill>
                <a:schemeClr val="dk2"/>
              </a:solidFill>
              <a:latin typeface="Times New Roman"/>
              <a:ea typeface="Times New Roman"/>
              <a:cs typeface="Times New Roman"/>
              <a:sym typeface="Times New Roman"/>
            </a:endParaRPr>
          </a:p>
        </p:txBody>
      </p:sp>
      <p:sp>
        <p:nvSpPr>
          <p:cNvPr id="124" name="Google Shape;124;p20"/>
          <p:cNvSpPr/>
          <p:nvPr/>
        </p:nvSpPr>
        <p:spPr>
          <a:xfrm>
            <a:off x="340075" y="500045"/>
            <a:ext cx="2943600" cy="678000"/>
          </a:xfrm>
          <a:prstGeom prst="rect">
            <a:avLst/>
          </a:prstGeom>
          <a:noFill/>
          <a:ln>
            <a:noFill/>
          </a:ln>
        </p:spPr>
        <p:txBody>
          <a:bodyPr spcFirstLastPara="1" wrap="square" lIns="166175" tIns="83075" rIns="166175" bIns="83075" anchor="t" anchorCtr="0">
            <a:noAutofit/>
          </a:bodyPr>
          <a:lstStyle/>
          <a:p>
            <a:pPr marL="0" marR="0" lvl="0" indent="0" algn="l" rtl="0">
              <a:spcBef>
                <a:spcPts val="0"/>
              </a:spcBef>
              <a:spcAft>
                <a:spcPts val="0"/>
              </a:spcAft>
              <a:buNone/>
            </a:pPr>
            <a:r>
              <a:rPr lang="en" sz="3300" b="1">
                <a:solidFill>
                  <a:srgbClr val="132C68"/>
                </a:solidFill>
                <a:latin typeface="Helvetica Neue"/>
                <a:ea typeface="Helvetica Neue"/>
                <a:cs typeface="Helvetica Neue"/>
                <a:sym typeface="Helvetica Neue"/>
              </a:rPr>
              <a:t>Introduction:</a:t>
            </a:r>
            <a:endParaRPr sz="3300" b="1">
              <a:solidFill>
                <a:srgbClr val="132C68"/>
              </a:solidFill>
              <a:latin typeface="Helvetica Neue"/>
              <a:ea typeface="Helvetica Neue"/>
              <a:cs typeface="Helvetica Neue"/>
              <a:sym typeface="Helvetica Neue"/>
            </a:endParaRPr>
          </a:p>
          <a:p>
            <a:pPr marL="0" lvl="0" indent="0" algn="l" rtl="0">
              <a:spcBef>
                <a:spcPts val="0"/>
              </a:spcBef>
              <a:spcAft>
                <a:spcPts val="0"/>
              </a:spcAft>
              <a:buClr>
                <a:schemeClr val="dk1"/>
              </a:buClr>
              <a:buFont typeface="Arial"/>
              <a:buNone/>
            </a:pPr>
            <a:endParaRPr sz="1700" b="1">
              <a:solidFill>
                <a:srgbClr val="132C68"/>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1"/>
          <p:cNvSpPr/>
          <p:nvPr/>
        </p:nvSpPr>
        <p:spPr>
          <a:xfrm>
            <a:off x="491192" y="646475"/>
            <a:ext cx="6029400" cy="549000"/>
          </a:xfrm>
          <a:prstGeom prst="rect">
            <a:avLst/>
          </a:prstGeom>
          <a:noFill/>
          <a:ln>
            <a:noFill/>
          </a:ln>
        </p:spPr>
        <p:txBody>
          <a:bodyPr spcFirstLastPara="1" wrap="square" lIns="166175" tIns="83075" rIns="166175" bIns="83075" anchor="t" anchorCtr="0">
            <a:noAutofit/>
          </a:bodyPr>
          <a:lstStyle/>
          <a:p>
            <a:pPr marL="0" lvl="0" indent="0" algn="l" rtl="0">
              <a:spcBef>
                <a:spcPts val="0"/>
              </a:spcBef>
              <a:spcAft>
                <a:spcPts val="0"/>
              </a:spcAft>
              <a:buClr>
                <a:schemeClr val="dk1"/>
              </a:buClr>
              <a:buFont typeface="Arial"/>
              <a:buNone/>
            </a:pPr>
            <a:r>
              <a:rPr lang="en" sz="2400" b="1" dirty="0">
                <a:solidFill>
                  <a:srgbClr val="132C68"/>
                </a:solidFill>
                <a:latin typeface="Helvetica Neue"/>
                <a:ea typeface="Helvetica Neue"/>
                <a:cs typeface="Helvetica Neue"/>
                <a:sym typeface="Helvetica Neue"/>
              </a:rPr>
              <a:t>IOT Security Risk</a:t>
            </a:r>
            <a:endParaRPr sz="2000" b="1" dirty="0">
              <a:solidFill>
                <a:schemeClr val="dk1"/>
              </a:solidFill>
              <a:latin typeface="Calibri"/>
              <a:ea typeface="Calibri"/>
              <a:cs typeface="Calibri"/>
              <a:sym typeface="Calibri"/>
            </a:endParaRPr>
          </a:p>
        </p:txBody>
      </p:sp>
      <p:sp>
        <p:nvSpPr>
          <p:cNvPr id="130" name="Google Shape;130;p21"/>
          <p:cNvSpPr/>
          <p:nvPr/>
        </p:nvSpPr>
        <p:spPr>
          <a:xfrm>
            <a:off x="579775" y="1354950"/>
            <a:ext cx="8564100" cy="2833200"/>
          </a:xfrm>
          <a:prstGeom prst="rect">
            <a:avLst/>
          </a:prstGeom>
          <a:noFill/>
          <a:ln>
            <a:noFill/>
          </a:ln>
        </p:spPr>
        <p:txBody>
          <a:bodyPr spcFirstLastPara="1" wrap="square" lIns="166175" tIns="83075" rIns="166175" bIns="83075" anchor="t" anchorCtr="0">
            <a:noAutofit/>
          </a:bodyPr>
          <a:lstStyle/>
          <a:p>
            <a:pPr marL="355600" marR="50800" lvl="0" indent="-336550" algn="l" rtl="0">
              <a:lnSpc>
                <a:spcPct val="150300"/>
              </a:lnSpc>
              <a:spcBef>
                <a:spcPts val="0"/>
              </a:spcBef>
              <a:spcAft>
                <a:spcPts val="0"/>
              </a:spcAft>
              <a:buClr>
                <a:schemeClr val="dk2"/>
              </a:buClr>
              <a:buSzPts val="1500"/>
              <a:buFont typeface="Tahoma"/>
              <a:buChar char="●"/>
            </a:pPr>
            <a:r>
              <a:rPr lang="en" sz="1600" b="1" dirty="0">
                <a:solidFill>
                  <a:schemeClr val="dk2"/>
                </a:solidFill>
                <a:latin typeface="Times New Roman"/>
                <a:ea typeface="Times New Roman"/>
                <a:cs typeface="Times New Roman"/>
                <a:sym typeface="Times New Roman"/>
              </a:rPr>
              <a:t>Lack of Visibility: </a:t>
            </a:r>
            <a:r>
              <a:rPr lang="en" sz="1600" dirty="0">
                <a:solidFill>
                  <a:schemeClr val="dk2"/>
                </a:solidFill>
                <a:latin typeface="Times New Roman"/>
                <a:ea typeface="Times New Roman"/>
                <a:cs typeface="Times New Roman"/>
                <a:sym typeface="Times New Roman"/>
              </a:rPr>
              <a:t>Limited ability to monitor, track, and understand the activity and status of devices</a:t>
            </a:r>
            <a:endParaRPr sz="1600" dirty="0">
              <a:solidFill>
                <a:schemeClr val="dk2"/>
              </a:solidFill>
              <a:latin typeface="Times New Roman"/>
              <a:ea typeface="Times New Roman"/>
              <a:cs typeface="Times New Roman"/>
              <a:sym typeface="Times New Roman"/>
            </a:endParaRPr>
          </a:p>
          <a:p>
            <a:pPr marL="355600" marR="12700" lvl="0" indent="-336550" algn="l" rtl="0">
              <a:lnSpc>
                <a:spcPct val="190100"/>
              </a:lnSpc>
              <a:spcBef>
                <a:spcPts val="300"/>
              </a:spcBef>
              <a:spcAft>
                <a:spcPts val="0"/>
              </a:spcAft>
              <a:buClr>
                <a:schemeClr val="dk2"/>
              </a:buClr>
              <a:buSzPts val="1500"/>
              <a:buFont typeface="Tahoma"/>
              <a:buChar char="●"/>
            </a:pPr>
            <a:r>
              <a:rPr lang="en" sz="1600" b="1" dirty="0">
                <a:solidFill>
                  <a:schemeClr val="dk2"/>
                </a:solidFill>
                <a:latin typeface="Times New Roman"/>
                <a:ea typeface="Times New Roman"/>
                <a:cs typeface="Times New Roman"/>
                <a:sym typeface="Times New Roman"/>
              </a:rPr>
              <a:t>Limited security integration: </a:t>
            </a:r>
            <a:r>
              <a:rPr lang="en" sz="1600" dirty="0">
                <a:solidFill>
                  <a:schemeClr val="dk2"/>
                </a:solidFill>
                <a:latin typeface="Times New Roman"/>
                <a:ea typeface="Times New Roman"/>
                <a:cs typeface="Times New Roman"/>
                <a:sym typeface="Times New Roman"/>
              </a:rPr>
              <a:t>Large number of IoT devices, difficult to synchronize</a:t>
            </a:r>
            <a:endParaRPr sz="1600" dirty="0">
              <a:solidFill>
                <a:schemeClr val="dk2"/>
              </a:solidFill>
              <a:latin typeface="Times New Roman"/>
              <a:ea typeface="Times New Roman"/>
              <a:cs typeface="Times New Roman"/>
              <a:sym typeface="Times New Roman"/>
            </a:endParaRPr>
          </a:p>
          <a:p>
            <a:pPr marL="355600" marR="0" lvl="0" indent="-336550" algn="l" rtl="0">
              <a:lnSpc>
                <a:spcPct val="190100"/>
              </a:lnSpc>
              <a:spcBef>
                <a:spcPts val="0"/>
              </a:spcBef>
              <a:spcAft>
                <a:spcPts val="0"/>
              </a:spcAft>
              <a:buClr>
                <a:schemeClr val="dk2"/>
              </a:buClr>
              <a:buSzPts val="1500"/>
              <a:buFont typeface="Arial"/>
              <a:buChar char="●"/>
            </a:pPr>
            <a:r>
              <a:rPr lang="en" sz="1600" b="1" dirty="0">
                <a:solidFill>
                  <a:schemeClr val="dk2"/>
                </a:solidFill>
                <a:latin typeface="Times New Roman"/>
                <a:ea typeface="Times New Roman"/>
                <a:cs typeface="Times New Roman"/>
                <a:sym typeface="Times New Roman"/>
              </a:rPr>
              <a:t>Open Source-code Vulnerabilities: </a:t>
            </a:r>
            <a:r>
              <a:rPr lang="en" sz="1600" dirty="0">
                <a:solidFill>
                  <a:schemeClr val="dk2"/>
                </a:solidFill>
                <a:latin typeface="Times New Roman"/>
                <a:ea typeface="Times New Roman"/>
                <a:cs typeface="Times New Roman"/>
                <a:sym typeface="Times New Roman"/>
              </a:rPr>
              <a:t>Free code leads to exploitation by hackers</a:t>
            </a:r>
            <a:endParaRPr sz="1600" dirty="0">
              <a:solidFill>
                <a:schemeClr val="dk2"/>
              </a:solidFill>
              <a:latin typeface="Times New Roman"/>
              <a:ea typeface="Times New Roman"/>
              <a:cs typeface="Times New Roman"/>
              <a:sym typeface="Times New Roman"/>
            </a:endParaRPr>
          </a:p>
          <a:p>
            <a:pPr marL="355600" marR="0" lvl="0" indent="-336550" algn="l" rtl="0">
              <a:lnSpc>
                <a:spcPct val="190100"/>
              </a:lnSpc>
              <a:spcBef>
                <a:spcPts val="0"/>
              </a:spcBef>
              <a:spcAft>
                <a:spcPts val="0"/>
              </a:spcAft>
              <a:buClr>
                <a:schemeClr val="dk2"/>
              </a:buClr>
              <a:buSzPts val="1500"/>
              <a:buFont typeface="Arial"/>
              <a:buChar char="●"/>
            </a:pPr>
            <a:r>
              <a:rPr lang="en" sz="1600" b="1" dirty="0">
                <a:solidFill>
                  <a:schemeClr val="dk2"/>
                </a:solidFill>
                <a:latin typeface="Times New Roman"/>
                <a:ea typeface="Times New Roman"/>
                <a:cs typeface="Times New Roman"/>
                <a:sym typeface="Times New Roman"/>
              </a:rPr>
              <a:t>Large volume of data: </a:t>
            </a:r>
            <a:r>
              <a:rPr lang="en" sz="1600" dirty="0">
                <a:solidFill>
                  <a:schemeClr val="dk2"/>
                </a:solidFill>
                <a:latin typeface="Times New Roman"/>
                <a:ea typeface="Times New Roman"/>
                <a:cs typeface="Times New Roman"/>
                <a:sym typeface="Times New Roman"/>
              </a:rPr>
              <a:t>Management and protection of data becomes difficult</a:t>
            </a:r>
            <a:endParaRPr sz="16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34"/>
        <p:cNvGrpSpPr/>
        <p:nvPr/>
      </p:nvGrpSpPr>
      <p:grpSpPr>
        <a:xfrm>
          <a:off x="0" y="0"/>
          <a:ext cx="0" cy="0"/>
          <a:chOff x="0" y="0"/>
          <a:chExt cx="0" cy="0"/>
        </a:xfrm>
      </p:grpSpPr>
      <p:grpSp>
        <p:nvGrpSpPr>
          <p:cNvPr id="135" name="Google Shape;135;p22"/>
          <p:cNvGrpSpPr/>
          <p:nvPr/>
        </p:nvGrpSpPr>
        <p:grpSpPr>
          <a:xfrm>
            <a:off x="0" y="0"/>
            <a:ext cx="9140221" cy="303891"/>
            <a:chOff x="0" y="0"/>
            <a:chExt cx="4608195" cy="204470"/>
          </a:xfrm>
        </p:grpSpPr>
        <p:sp>
          <p:nvSpPr>
            <p:cNvPr id="136" name="Google Shape;136;p22"/>
            <p:cNvSpPr/>
            <p:nvPr/>
          </p:nvSpPr>
          <p:spPr>
            <a:xfrm>
              <a:off x="0" y="0"/>
              <a:ext cx="4608195" cy="204470"/>
            </a:xfrm>
            <a:custGeom>
              <a:avLst/>
              <a:gdLst/>
              <a:ahLst/>
              <a:cxnLst/>
              <a:rect l="l" t="t" r="r" b="b"/>
              <a:pathLst>
                <a:path w="4608195" h="204470" extrusionOk="0">
                  <a:moveTo>
                    <a:pt x="4608004" y="0"/>
                  </a:moveTo>
                  <a:lnTo>
                    <a:pt x="0" y="0"/>
                  </a:lnTo>
                  <a:lnTo>
                    <a:pt x="0" y="203974"/>
                  </a:lnTo>
                  <a:lnTo>
                    <a:pt x="4608004" y="203974"/>
                  </a:lnTo>
                  <a:lnTo>
                    <a:pt x="4608004" y="0"/>
                  </a:lnTo>
                  <a:close/>
                </a:path>
              </a:pathLst>
            </a:custGeom>
            <a:solidFill>
              <a:srgbClr val="2B417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37" name="Google Shape;137;p22"/>
            <p:cNvSpPr/>
            <p:nvPr/>
          </p:nvSpPr>
          <p:spPr>
            <a:xfrm>
              <a:off x="120650"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38" name="Google Shape;138;p22"/>
            <p:cNvSpPr/>
            <p:nvPr/>
          </p:nvSpPr>
          <p:spPr>
            <a:xfrm>
              <a:off x="171056" y="142674"/>
              <a:ext cx="36195" cy="36195"/>
            </a:xfrm>
            <a:custGeom>
              <a:avLst/>
              <a:gdLst/>
              <a:ahLst/>
              <a:cxnLst/>
              <a:rect l="l" t="t" r="r" b="b"/>
              <a:pathLst>
                <a:path w="36195"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39" name="Google Shape;139;p22"/>
            <p:cNvSpPr/>
            <p:nvPr/>
          </p:nvSpPr>
          <p:spPr>
            <a:xfrm>
              <a:off x="171056"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40" name="Google Shape;140;p22"/>
            <p:cNvSpPr/>
            <p:nvPr/>
          </p:nvSpPr>
          <p:spPr>
            <a:xfrm>
              <a:off x="221449"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41" name="Google Shape;141;p22"/>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142" name="Google Shape;142;p22"/>
          <p:cNvGrpSpPr/>
          <p:nvPr/>
        </p:nvGrpSpPr>
        <p:grpSpPr>
          <a:xfrm>
            <a:off x="2804007" y="212048"/>
            <a:ext cx="471660" cy="53794"/>
            <a:chOff x="1413687" y="142674"/>
            <a:chExt cx="237795" cy="36195"/>
          </a:xfrm>
        </p:grpSpPr>
        <p:sp>
          <p:nvSpPr>
            <p:cNvPr id="143" name="Google Shape;143;p22"/>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44" name="Google Shape;144;p22"/>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45" name="Google Shape;145;p22"/>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46" name="Google Shape;146;p22"/>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47" name="Google Shape;147;p22"/>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48" name="Google Shape;148;p22"/>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149" name="Google Shape;149;p22"/>
          <p:cNvGrpSpPr/>
          <p:nvPr/>
        </p:nvGrpSpPr>
        <p:grpSpPr>
          <a:xfrm>
            <a:off x="5560332" y="212048"/>
            <a:ext cx="171747" cy="53794"/>
            <a:chOff x="2803334" y="142674"/>
            <a:chExt cx="86589" cy="36195"/>
          </a:xfrm>
        </p:grpSpPr>
        <p:sp>
          <p:nvSpPr>
            <p:cNvPr id="150" name="Google Shape;150;p22"/>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51" name="Google Shape;151;p22"/>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52" name="Google Shape;152;p22"/>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153" name="Google Shape;153;p22"/>
          <p:cNvGrpSpPr/>
          <p:nvPr/>
        </p:nvGrpSpPr>
        <p:grpSpPr>
          <a:xfrm>
            <a:off x="8027927" y="212048"/>
            <a:ext cx="171747" cy="53794"/>
            <a:chOff x="4047413" y="142674"/>
            <a:chExt cx="86589" cy="36195"/>
          </a:xfrm>
        </p:grpSpPr>
        <p:sp>
          <p:nvSpPr>
            <p:cNvPr id="154" name="Google Shape;154;p22"/>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55" name="Google Shape;155;p22"/>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56" name="Google Shape;156;p22"/>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157" name="Google Shape;157;p22"/>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58" name="Google Shape;158;p22"/>
          <p:cNvSpPr txBox="1"/>
          <p:nvPr/>
        </p:nvSpPr>
        <p:spPr>
          <a:xfrm>
            <a:off x="189025" y="614252"/>
            <a:ext cx="6021600" cy="4161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500" b="1" dirty="0">
                <a:solidFill>
                  <a:srgbClr val="132C68"/>
                </a:solidFill>
                <a:latin typeface="Helvetica Neue"/>
                <a:ea typeface="Helvetica Neue"/>
                <a:cs typeface="Helvetica Neue"/>
                <a:sym typeface="Helvetica Neue"/>
              </a:rPr>
              <a:t>Problem Statement</a:t>
            </a:r>
            <a:endParaRPr sz="2500" b="1" dirty="0">
              <a:solidFill>
                <a:schemeClr val="dk1"/>
              </a:solidFill>
              <a:latin typeface="Helvetica Neue"/>
              <a:ea typeface="Helvetica Neue"/>
              <a:cs typeface="Helvetica Neue"/>
              <a:sym typeface="Helvetica Neue"/>
            </a:endParaRPr>
          </a:p>
        </p:txBody>
      </p:sp>
      <p:grpSp>
        <p:nvGrpSpPr>
          <p:cNvPr id="159" name="Google Shape;159;p22"/>
          <p:cNvGrpSpPr/>
          <p:nvPr/>
        </p:nvGrpSpPr>
        <p:grpSpPr>
          <a:xfrm>
            <a:off x="350091" y="1407495"/>
            <a:ext cx="201521" cy="207628"/>
            <a:chOff x="176504" y="947018"/>
            <a:chExt cx="101600" cy="139700"/>
          </a:xfrm>
        </p:grpSpPr>
        <p:pic>
          <p:nvPicPr>
            <p:cNvPr id="160" name="Google Shape;160;p22"/>
            <p:cNvPicPr preferRelativeResize="0"/>
            <p:nvPr/>
          </p:nvPicPr>
          <p:blipFill rotWithShape="1">
            <a:blip r:embed="rId6">
              <a:alphaModFix/>
            </a:blip>
            <a:srcRect/>
            <a:stretch/>
          </p:blipFill>
          <p:spPr>
            <a:xfrm>
              <a:off x="176504" y="947018"/>
              <a:ext cx="101219" cy="139174"/>
            </a:xfrm>
            <a:prstGeom prst="rect">
              <a:avLst/>
            </a:prstGeom>
            <a:noFill/>
            <a:ln>
              <a:noFill/>
            </a:ln>
          </p:spPr>
        </p:pic>
        <p:sp>
          <p:nvSpPr>
            <p:cNvPr id="161" name="Google Shape;161;p22"/>
            <p:cNvSpPr/>
            <p:nvPr/>
          </p:nvSpPr>
          <p:spPr>
            <a:xfrm>
              <a:off x="176504" y="947018"/>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62" name="Google Shape;162;p22"/>
            <p:cNvSpPr/>
            <p:nvPr/>
          </p:nvSpPr>
          <p:spPr>
            <a:xfrm>
              <a:off x="189156" y="965997"/>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63" name="Google Shape;163;p22"/>
            <p:cNvSpPr/>
            <p:nvPr/>
          </p:nvSpPr>
          <p:spPr>
            <a:xfrm>
              <a:off x="201809" y="984975"/>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64" name="Google Shape;164;p22"/>
            <p:cNvSpPr/>
            <p:nvPr/>
          </p:nvSpPr>
          <p:spPr>
            <a:xfrm>
              <a:off x="189156" y="1016606"/>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165" name="Google Shape;165;p22"/>
            <p:cNvPicPr preferRelativeResize="0"/>
            <p:nvPr/>
          </p:nvPicPr>
          <p:blipFill rotWithShape="1">
            <a:blip r:embed="rId7">
              <a:alphaModFix/>
            </a:blip>
            <a:srcRect/>
            <a:stretch/>
          </p:blipFill>
          <p:spPr>
            <a:xfrm>
              <a:off x="233440" y="1013441"/>
              <a:ext cx="31635" cy="44283"/>
            </a:xfrm>
            <a:prstGeom prst="rect">
              <a:avLst/>
            </a:prstGeom>
            <a:noFill/>
            <a:ln>
              <a:noFill/>
            </a:ln>
          </p:spPr>
        </p:pic>
        <p:sp>
          <p:nvSpPr>
            <p:cNvPr id="166" name="Google Shape;166;p22"/>
            <p:cNvSpPr/>
            <p:nvPr/>
          </p:nvSpPr>
          <p:spPr>
            <a:xfrm>
              <a:off x="233440" y="1067215"/>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67" name="Google Shape;167;p22"/>
            <p:cNvSpPr/>
            <p:nvPr/>
          </p:nvSpPr>
          <p:spPr>
            <a:xfrm>
              <a:off x="252419" y="947018"/>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68" name="Google Shape;168;p22"/>
          <p:cNvSpPr txBox="1"/>
          <p:nvPr/>
        </p:nvSpPr>
        <p:spPr>
          <a:xfrm>
            <a:off x="536824" y="1398042"/>
            <a:ext cx="8480100" cy="3130200"/>
          </a:xfrm>
          <a:prstGeom prst="rect">
            <a:avLst/>
          </a:prstGeom>
          <a:noFill/>
          <a:ln>
            <a:noFill/>
          </a:ln>
        </p:spPr>
        <p:txBody>
          <a:bodyPr spcFirstLastPara="1" wrap="square" lIns="0" tIns="21900" rIns="0" bIns="0" anchor="t" anchorCtr="0">
            <a:spAutoFit/>
          </a:bodyPr>
          <a:lstStyle/>
          <a:p>
            <a:pPr marL="203200" marR="0" lvl="0" indent="0" algn="l" rtl="0">
              <a:lnSpc>
                <a:spcPct val="100000"/>
              </a:lnSpc>
              <a:spcBef>
                <a:spcPts val="0"/>
              </a:spcBef>
              <a:spcAft>
                <a:spcPts val="0"/>
              </a:spcAft>
              <a:buNone/>
            </a:pPr>
            <a:r>
              <a:rPr lang="en" sz="1600" b="1" dirty="0">
                <a:solidFill>
                  <a:srgbClr val="132C68"/>
                </a:solidFill>
                <a:latin typeface="Arial"/>
                <a:ea typeface="Arial"/>
                <a:cs typeface="Arial"/>
                <a:sym typeface="Arial"/>
              </a:rPr>
              <a:t>Introduction to Problem Statement</a:t>
            </a:r>
            <a:endParaRPr sz="1600" dirty="0">
              <a:solidFill>
                <a:schemeClr val="dk1"/>
              </a:solidFill>
              <a:latin typeface="Arial"/>
              <a:ea typeface="Arial"/>
              <a:cs typeface="Arial"/>
              <a:sym typeface="Arial"/>
            </a:endParaRPr>
          </a:p>
          <a:p>
            <a:pPr marL="711200" marR="228600" lvl="0" indent="-228600" algn="l" rtl="0">
              <a:lnSpc>
                <a:spcPct val="101499"/>
              </a:lnSpc>
              <a:spcBef>
                <a:spcPts val="1200"/>
              </a:spcBef>
              <a:spcAft>
                <a:spcPts val="0"/>
              </a:spcAft>
              <a:buClr>
                <a:srgbClr val="132C68"/>
              </a:buClr>
              <a:buSzPts val="1600"/>
              <a:buFont typeface="Times New Roman"/>
              <a:buChar char="•"/>
            </a:pPr>
            <a:r>
              <a:rPr lang="en" sz="1600" dirty="0">
                <a:solidFill>
                  <a:srgbClr val="132C68"/>
                </a:solidFill>
                <a:latin typeface="Times New Roman"/>
                <a:ea typeface="Times New Roman"/>
                <a:cs typeface="Times New Roman"/>
                <a:sym typeface="Times New Roman"/>
              </a:rPr>
              <a:t>The complexity and scale of networked systems are increasing, making  traditional intrusion detection methods less effective.</a:t>
            </a:r>
            <a:endParaRPr sz="1600" dirty="0">
              <a:solidFill>
                <a:schemeClr val="dk1"/>
              </a:solidFill>
              <a:latin typeface="Times New Roman"/>
              <a:ea typeface="Times New Roman"/>
              <a:cs typeface="Times New Roman"/>
              <a:sym typeface="Times New Roman"/>
            </a:endParaRPr>
          </a:p>
          <a:p>
            <a:pPr marL="711200" marR="127000" lvl="0" indent="-228600" algn="l" rtl="0">
              <a:lnSpc>
                <a:spcPct val="101499"/>
              </a:lnSpc>
              <a:spcBef>
                <a:spcPts val="1200"/>
              </a:spcBef>
              <a:spcAft>
                <a:spcPts val="0"/>
              </a:spcAft>
              <a:buClr>
                <a:srgbClr val="132C68"/>
              </a:buClr>
              <a:buSzPts val="1600"/>
              <a:buFont typeface="Times New Roman"/>
              <a:buChar char="•"/>
            </a:pPr>
            <a:r>
              <a:rPr lang="en" sz="1600" dirty="0">
                <a:solidFill>
                  <a:srgbClr val="132C68"/>
                </a:solidFill>
                <a:latin typeface="Times New Roman"/>
                <a:ea typeface="Times New Roman"/>
                <a:cs typeface="Times New Roman"/>
                <a:sym typeface="Times New Roman"/>
              </a:rPr>
              <a:t>Time-domain based approaches often miss the detailed and  complicated patterns of network traﬃc, resulting in higher false positive  rates.</a:t>
            </a:r>
            <a:endParaRPr sz="1600" dirty="0">
              <a:solidFill>
                <a:schemeClr val="dk1"/>
              </a:solidFill>
              <a:latin typeface="Times New Roman"/>
              <a:ea typeface="Times New Roman"/>
              <a:cs typeface="Times New Roman"/>
              <a:sym typeface="Times New Roman"/>
            </a:endParaRPr>
          </a:p>
          <a:p>
            <a:pPr marL="711200" marR="190500" lvl="0" indent="-228600" algn="l" rtl="0">
              <a:lnSpc>
                <a:spcPct val="101499"/>
              </a:lnSpc>
              <a:spcBef>
                <a:spcPts val="1200"/>
              </a:spcBef>
              <a:spcAft>
                <a:spcPts val="0"/>
              </a:spcAft>
              <a:buClr>
                <a:srgbClr val="132C68"/>
              </a:buClr>
              <a:buSzPts val="1600"/>
              <a:buFont typeface="Times New Roman"/>
              <a:buChar char="•"/>
            </a:pPr>
            <a:r>
              <a:rPr lang="en" sz="1600" dirty="0">
                <a:solidFill>
                  <a:srgbClr val="132C68"/>
                </a:solidFill>
                <a:latin typeface="Times New Roman"/>
                <a:ea typeface="Times New Roman"/>
                <a:cs typeface="Times New Roman"/>
                <a:sym typeface="Times New Roman"/>
              </a:rPr>
              <a:t>This project aims to enhance intrusion detection by analyzing the data in both time domain as well as frequency domain.</a:t>
            </a:r>
            <a:endParaRPr sz="1600" dirty="0">
              <a:solidFill>
                <a:schemeClr val="dk1"/>
              </a:solidFill>
              <a:latin typeface="Times New Roman"/>
              <a:ea typeface="Times New Roman"/>
              <a:cs typeface="Times New Roman"/>
              <a:sym typeface="Times New Roman"/>
            </a:endParaRPr>
          </a:p>
          <a:p>
            <a:pPr marL="711200" marR="838200" lvl="0" indent="-228600" algn="l" rtl="0">
              <a:lnSpc>
                <a:spcPct val="101499"/>
              </a:lnSpc>
              <a:spcBef>
                <a:spcPts val="1200"/>
              </a:spcBef>
              <a:spcAft>
                <a:spcPts val="0"/>
              </a:spcAft>
              <a:buClr>
                <a:srgbClr val="132C68"/>
              </a:buClr>
              <a:buSzPts val="1600"/>
              <a:buFont typeface="Times New Roman"/>
              <a:buChar char="•"/>
            </a:pPr>
            <a:r>
              <a:rPr lang="en" sz="1600" dirty="0">
                <a:solidFill>
                  <a:srgbClr val="132C68"/>
                </a:solidFill>
                <a:latin typeface="Times New Roman"/>
                <a:ea typeface="Times New Roman"/>
                <a:cs typeface="Times New Roman"/>
                <a:sym typeface="Times New Roman"/>
              </a:rPr>
              <a:t>By doing so, we can apply machine learning techniques to better  identify and classify anomalous behaviors, leading to improved  detection accuracy and system eﬃciency.</a:t>
            </a:r>
            <a:endParaRPr sz="1600" dirty="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grpSp>
        <p:nvGrpSpPr>
          <p:cNvPr id="173" name="Google Shape;173;p23"/>
          <p:cNvGrpSpPr/>
          <p:nvPr/>
        </p:nvGrpSpPr>
        <p:grpSpPr>
          <a:xfrm>
            <a:off x="0" y="0"/>
            <a:ext cx="9140221" cy="303891"/>
            <a:chOff x="0" y="0"/>
            <a:chExt cx="4608195" cy="204470"/>
          </a:xfrm>
        </p:grpSpPr>
        <p:sp>
          <p:nvSpPr>
            <p:cNvPr id="174" name="Google Shape;174;p23"/>
            <p:cNvSpPr/>
            <p:nvPr/>
          </p:nvSpPr>
          <p:spPr>
            <a:xfrm>
              <a:off x="0" y="0"/>
              <a:ext cx="4608195" cy="204470"/>
            </a:xfrm>
            <a:custGeom>
              <a:avLst/>
              <a:gdLst/>
              <a:ahLst/>
              <a:cxnLst/>
              <a:rect l="l" t="t" r="r" b="b"/>
              <a:pathLst>
                <a:path w="4608195" h="204470" extrusionOk="0">
                  <a:moveTo>
                    <a:pt x="4608004" y="0"/>
                  </a:moveTo>
                  <a:lnTo>
                    <a:pt x="0" y="0"/>
                  </a:lnTo>
                  <a:lnTo>
                    <a:pt x="0" y="203974"/>
                  </a:lnTo>
                  <a:lnTo>
                    <a:pt x="4608004" y="203974"/>
                  </a:lnTo>
                  <a:lnTo>
                    <a:pt x="4608004" y="0"/>
                  </a:lnTo>
                  <a:close/>
                </a:path>
              </a:pathLst>
            </a:custGeom>
            <a:solidFill>
              <a:srgbClr val="2B417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75" name="Google Shape;175;p23"/>
            <p:cNvSpPr/>
            <p:nvPr/>
          </p:nvSpPr>
          <p:spPr>
            <a:xfrm>
              <a:off x="120650"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76" name="Google Shape;176;p23"/>
            <p:cNvSpPr/>
            <p:nvPr/>
          </p:nvSpPr>
          <p:spPr>
            <a:xfrm>
              <a:off x="120650"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77" name="Google Shape;177;p23"/>
            <p:cNvSpPr/>
            <p:nvPr/>
          </p:nvSpPr>
          <p:spPr>
            <a:xfrm>
              <a:off x="171056"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78" name="Google Shape;178;p23"/>
            <p:cNvSpPr/>
            <p:nvPr/>
          </p:nvSpPr>
          <p:spPr>
            <a:xfrm>
              <a:off x="221449"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79" name="Google Shape;179;p23"/>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180" name="Google Shape;180;p23"/>
          <p:cNvGrpSpPr/>
          <p:nvPr/>
        </p:nvGrpSpPr>
        <p:grpSpPr>
          <a:xfrm>
            <a:off x="2804007" y="212048"/>
            <a:ext cx="471660" cy="53794"/>
            <a:chOff x="1413687" y="142674"/>
            <a:chExt cx="237795" cy="36195"/>
          </a:xfrm>
        </p:grpSpPr>
        <p:sp>
          <p:nvSpPr>
            <p:cNvPr id="181" name="Google Shape;181;p23"/>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82" name="Google Shape;182;p23"/>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83" name="Google Shape;183;p23"/>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84" name="Google Shape;184;p23"/>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85" name="Google Shape;185;p23"/>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86" name="Google Shape;186;p23"/>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187" name="Google Shape;187;p23"/>
          <p:cNvGrpSpPr/>
          <p:nvPr/>
        </p:nvGrpSpPr>
        <p:grpSpPr>
          <a:xfrm>
            <a:off x="5560332" y="212048"/>
            <a:ext cx="171747" cy="53794"/>
            <a:chOff x="2803334" y="142674"/>
            <a:chExt cx="86589" cy="36195"/>
          </a:xfrm>
        </p:grpSpPr>
        <p:sp>
          <p:nvSpPr>
            <p:cNvPr id="188" name="Google Shape;188;p23"/>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89" name="Google Shape;189;p23"/>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90" name="Google Shape;190;p23"/>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191" name="Google Shape;191;p23"/>
          <p:cNvGrpSpPr/>
          <p:nvPr/>
        </p:nvGrpSpPr>
        <p:grpSpPr>
          <a:xfrm>
            <a:off x="8027927" y="212048"/>
            <a:ext cx="171747" cy="53794"/>
            <a:chOff x="4047413" y="142674"/>
            <a:chExt cx="86589" cy="36195"/>
          </a:xfrm>
        </p:grpSpPr>
        <p:sp>
          <p:nvSpPr>
            <p:cNvPr id="192" name="Google Shape;192;p23"/>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93" name="Google Shape;193;p23"/>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194" name="Google Shape;194;p23"/>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195" name="Google Shape;195;p23"/>
          <p:cNvSpPr/>
          <p:nvPr/>
        </p:nvSpPr>
        <p:spPr>
          <a:xfrm>
            <a:off x="0" y="303154"/>
            <a:ext cx="9140221" cy="173651"/>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196" name="Google Shape;196;p23"/>
          <p:cNvSpPr txBox="1"/>
          <p:nvPr/>
        </p:nvSpPr>
        <p:spPr>
          <a:xfrm>
            <a:off x="214215" y="514118"/>
            <a:ext cx="2959800" cy="4008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400" b="1">
                <a:solidFill>
                  <a:srgbClr val="132C68"/>
                </a:solidFill>
                <a:latin typeface="Helvetica Neue"/>
                <a:ea typeface="Helvetica Neue"/>
                <a:cs typeface="Helvetica Neue"/>
                <a:sym typeface="Helvetica Neue"/>
              </a:rPr>
              <a:t>Literature Review</a:t>
            </a:r>
            <a:endParaRPr sz="2400" b="1">
              <a:solidFill>
                <a:schemeClr val="dk1"/>
              </a:solidFill>
              <a:latin typeface="Helvetica Neue"/>
              <a:ea typeface="Helvetica Neue"/>
              <a:cs typeface="Helvetica Neue"/>
              <a:sym typeface="Helvetica Neue"/>
            </a:endParaRPr>
          </a:p>
        </p:txBody>
      </p:sp>
      <p:pic>
        <p:nvPicPr>
          <p:cNvPr id="197" name="Google Shape;197;p23"/>
          <p:cNvPicPr preferRelativeResize="0"/>
          <p:nvPr/>
        </p:nvPicPr>
        <p:blipFill>
          <a:blip r:embed="rId6">
            <a:alphaModFix/>
          </a:blip>
          <a:stretch>
            <a:fillRect/>
          </a:stretch>
        </p:blipFill>
        <p:spPr>
          <a:xfrm>
            <a:off x="1763075" y="897375"/>
            <a:ext cx="4993500" cy="4116024"/>
          </a:xfrm>
          <a:prstGeom prst="rect">
            <a:avLst/>
          </a:prstGeom>
          <a:noFill/>
          <a:ln>
            <a:noFill/>
          </a:ln>
        </p:spPr>
      </p:pic>
      <p:sp>
        <p:nvSpPr>
          <p:cNvPr id="198" name="Google Shape;198;p23"/>
          <p:cNvSpPr txBox="1"/>
          <p:nvPr/>
        </p:nvSpPr>
        <p:spPr>
          <a:xfrm>
            <a:off x="1306275" y="988775"/>
            <a:ext cx="487500" cy="39801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endParaRPr sz="2200">
              <a:latin typeface="Calibri"/>
              <a:ea typeface="Calibri"/>
              <a:cs typeface="Calibri"/>
              <a:sym typeface="Calibri"/>
            </a:endParaRPr>
          </a:p>
          <a:p>
            <a:pPr marL="0" lvl="0" indent="0" algn="l" rtl="0">
              <a:spcBef>
                <a:spcPts val="0"/>
              </a:spcBef>
              <a:spcAft>
                <a:spcPts val="0"/>
              </a:spcAft>
              <a:buNone/>
            </a:pPr>
            <a:r>
              <a:rPr lang="en" sz="1500">
                <a:latin typeface="Calibri"/>
                <a:ea typeface="Calibri"/>
                <a:cs typeface="Calibri"/>
                <a:sym typeface="Calibri"/>
              </a:rPr>
              <a:t>  </a:t>
            </a:r>
            <a:r>
              <a:rPr lang="en">
                <a:latin typeface="Calibri"/>
                <a:ea typeface="Calibri"/>
                <a:cs typeface="Calibri"/>
                <a:sym typeface="Calibri"/>
              </a:rPr>
              <a:t>  </a:t>
            </a:r>
            <a:r>
              <a:rPr lang="en" sz="1300">
                <a:latin typeface="Calibri"/>
                <a:ea typeface="Calibri"/>
                <a:cs typeface="Calibri"/>
                <a:sym typeface="Calibri"/>
              </a:rPr>
              <a:t>1</a:t>
            </a:r>
            <a:endParaRPr sz="1300">
              <a:latin typeface="Calibri"/>
              <a:ea typeface="Calibri"/>
              <a:cs typeface="Calibri"/>
              <a:sym typeface="Calibri"/>
            </a:endParaRPr>
          </a:p>
          <a:p>
            <a:pPr marL="0" lvl="0" indent="0" algn="l" rtl="0">
              <a:spcBef>
                <a:spcPts val="0"/>
              </a:spcBef>
              <a:spcAft>
                <a:spcPts val="0"/>
              </a:spcAft>
              <a:buNone/>
            </a:pPr>
            <a:endParaRPr sz="1500">
              <a:latin typeface="Calibri"/>
              <a:ea typeface="Calibri"/>
              <a:cs typeface="Calibri"/>
              <a:sym typeface="Calibri"/>
            </a:endParaRPr>
          </a:p>
          <a:p>
            <a:pPr marL="0" lvl="0" indent="0" algn="l" rtl="0">
              <a:spcBef>
                <a:spcPts val="0"/>
              </a:spcBef>
              <a:spcAft>
                <a:spcPts val="0"/>
              </a:spcAft>
              <a:buNone/>
            </a:pPr>
            <a:endParaRPr sz="1500">
              <a:latin typeface="Calibri"/>
              <a:ea typeface="Calibri"/>
              <a:cs typeface="Calibri"/>
              <a:sym typeface="Calibri"/>
            </a:endParaRPr>
          </a:p>
          <a:p>
            <a:pPr marL="0" lvl="0" indent="0" algn="l" rtl="0">
              <a:spcBef>
                <a:spcPts val="0"/>
              </a:spcBef>
              <a:spcAft>
                <a:spcPts val="0"/>
              </a:spcAft>
              <a:buNone/>
            </a:pPr>
            <a:r>
              <a:rPr lang="en" sz="1500">
                <a:latin typeface="Calibri"/>
                <a:ea typeface="Calibri"/>
                <a:cs typeface="Calibri"/>
                <a:sym typeface="Calibri"/>
              </a:rPr>
              <a:t>    </a:t>
            </a:r>
            <a:r>
              <a:rPr lang="en" sz="1300">
                <a:latin typeface="Calibri"/>
                <a:ea typeface="Calibri"/>
                <a:cs typeface="Calibri"/>
                <a:sym typeface="Calibri"/>
              </a:rPr>
              <a:t>2</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3</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4</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5</a:t>
            </a:r>
            <a:endParaRPr sz="1300">
              <a:latin typeface="Calibri"/>
              <a:ea typeface="Calibri"/>
              <a:cs typeface="Calibri"/>
              <a:sym typeface="Calibri"/>
            </a:endParaRPr>
          </a:p>
        </p:txBody>
      </p:sp>
      <p:sp>
        <p:nvSpPr>
          <p:cNvPr id="199" name="Google Shape;199;p23"/>
          <p:cNvSpPr txBox="1"/>
          <p:nvPr/>
        </p:nvSpPr>
        <p:spPr>
          <a:xfrm>
            <a:off x="6703775" y="979725"/>
            <a:ext cx="68100" cy="39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200" name="Google Shape;200;p23"/>
          <p:cNvSpPr txBox="1"/>
          <p:nvPr/>
        </p:nvSpPr>
        <p:spPr>
          <a:xfrm>
            <a:off x="6681050" y="979725"/>
            <a:ext cx="320400" cy="398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highlight>
                <a:schemeClr val="lt1"/>
              </a:highlight>
              <a:latin typeface="Calibri"/>
              <a:ea typeface="Calibri"/>
              <a:cs typeface="Calibri"/>
              <a:sym typeface="Calibri"/>
            </a:endParaRPr>
          </a:p>
        </p:txBody>
      </p:sp>
      <p:sp>
        <p:nvSpPr>
          <p:cNvPr id="201" name="Google Shape;201;p23"/>
          <p:cNvSpPr txBox="1"/>
          <p:nvPr/>
        </p:nvSpPr>
        <p:spPr>
          <a:xfrm>
            <a:off x="6688525" y="964725"/>
            <a:ext cx="68100" cy="3900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highlight>
                <a:schemeClr val="lt1"/>
              </a:highlight>
              <a:latin typeface="Calibri"/>
              <a:ea typeface="Calibri"/>
              <a:cs typeface="Calibri"/>
              <a:sym typeface="Calibri"/>
            </a:endParaRPr>
          </a:p>
        </p:txBody>
      </p:sp>
      <p:sp>
        <p:nvSpPr>
          <p:cNvPr id="202" name="Google Shape;202;p23"/>
          <p:cNvSpPr txBox="1"/>
          <p:nvPr/>
        </p:nvSpPr>
        <p:spPr>
          <a:xfrm>
            <a:off x="6500850" y="926925"/>
            <a:ext cx="320400" cy="4086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cxnSp>
        <p:nvCxnSpPr>
          <p:cNvPr id="203" name="Google Shape;203;p23"/>
          <p:cNvCxnSpPr/>
          <p:nvPr/>
        </p:nvCxnSpPr>
        <p:spPr>
          <a:xfrm>
            <a:off x="6519063" y="973025"/>
            <a:ext cx="0" cy="4011600"/>
          </a:xfrm>
          <a:prstGeom prst="straightConnector1">
            <a:avLst/>
          </a:prstGeom>
          <a:noFill/>
          <a:ln w="9525" cap="flat" cmpd="sng">
            <a:solidFill>
              <a:schemeClr val="dk2"/>
            </a:solidFill>
            <a:prstDash val="solid"/>
            <a:round/>
            <a:headEnd type="none" w="med" len="med"/>
            <a:tailEnd type="none" w="med" len="med"/>
          </a:ln>
        </p:spPr>
      </p:cxnSp>
      <p:sp>
        <p:nvSpPr>
          <p:cNvPr id="204" name="Google Shape;204;p23"/>
          <p:cNvSpPr txBox="1"/>
          <p:nvPr/>
        </p:nvSpPr>
        <p:spPr>
          <a:xfrm>
            <a:off x="4722875" y="650900"/>
            <a:ext cx="2959800" cy="30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dirty="0">
                <a:solidFill>
                  <a:schemeClr val="dk2"/>
                </a:solidFill>
                <a:latin typeface="Times New Roman"/>
                <a:ea typeface="Times New Roman"/>
                <a:cs typeface="Times New Roman"/>
                <a:sym typeface="Times New Roman"/>
              </a:rPr>
              <a:t>Table 1: Literature review</a:t>
            </a:r>
            <a:endParaRPr sz="1300" dirty="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dirty="0">
              <a:latin typeface="Times New Roman"/>
              <a:ea typeface="Times New Roman"/>
              <a:cs typeface="Times New Roman"/>
              <a:sym typeface="Times New Roman"/>
            </a:endParaRPr>
          </a:p>
        </p:txBody>
      </p:sp>
      <p:sp>
        <p:nvSpPr>
          <p:cNvPr id="205" name="Google Shape;205;p23"/>
          <p:cNvSpPr txBox="1"/>
          <p:nvPr/>
        </p:nvSpPr>
        <p:spPr>
          <a:xfrm>
            <a:off x="1806400" y="4969750"/>
            <a:ext cx="4874700" cy="173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24"/>
          <p:cNvPicPr preferRelativeResize="0"/>
          <p:nvPr/>
        </p:nvPicPr>
        <p:blipFill>
          <a:blip r:embed="rId3">
            <a:alphaModFix/>
          </a:blip>
          <a:stretch>
            <a:fillRect/>
          </a:stretch>
        </p:blipFill>
        <p:spPr>
          <a:xfrm>
            <a:off x="1562600" y="524500"/>
            <a:ext cx="5800101" cy="4466600"/>
          </a:xfrm>
          <a:prstGeom prst="rect">
            <a:avLst/>
          </a:prstGeom>
          <a:noFill/>
          <a:ln>
            <a:noFill/>
          </a:ln>
        </p:spPr>
      </p:pic>
      <p:sp>
        <p:nvSpPr>
          <p:cNvPr id="211" name="Google Shape;211;p24"/>
          <p:cNvSpPr txBox="1"/>
          <p:nvPr/>
        </p:nvSpPr>
        <p:spPr>
          <a:xfrm>
            <a:off x="7298075" y="524500"/>
            <a:ext cx="320400" cy="43977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212" name="Google Shape;212;p24"/>
          <p:cNvSpPr txBox="1"/>
          <p:nvPr/>
        </p:nvSpPr>
        <p:spPr>
          <a:xfrm>
            <a:off x="1044400" y="589450"/>
            <a:ext cx="518100" cy="4086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6</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7</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8</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9</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   10</a:t>
            </a:r>
            <a:endParaRPr sz="13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p:nvPr/>
        </p:nvSpPr>
        <p:spPr>
          <a:xfrm>
            <a:off x="188926" y="533225"/>
            <a:ext cx="3022800" cy="1045200"/>
          </a:xfrm>
          <a:prstGeom prst="rect">
            <a:avLst/>
          </a:prstGeom>
          <a:noFill/>
          <a:ln>
            <a:noFill/>
          </a:ln>
        </p:spPr>
        <p:txBody>
          <a:bodyPr spcFirstLastPara="1" wrap="square" lIns="166175" tIns="83075" rIns="166175" bIns="83075" anchor="t" anchorCtr="0">
            <a:spAutoFit/>
          </a:bodyPr>
          <a:lstStyle/>
          <a:p>
            <a:pPr marL="0" marR="0" lvl="0" indent="0" algn="l" rtl="0">
              <a:spcBef>
                <a:spcPts val="0"/>
              </a:spcBef>
              <a:spcAft>
                <a:spcPts val="0"/>
              </a:spcAft>
              <a:buNone/>
            </a:pPr>
            <a:r>
              <a:rPr lang="en" sz="2400" b="1">
                <a:solidFill>
                  <a:srgbClr val="132C68"/>
                </a:solidFill>
                <a:latin typeface="Helvetica Neue"/>
                <a:ea typeface="Helvetica Neue"/>
                <a:cs typeface="Helvetica Neue"/>
                <a:sym typeface="Helvetica Neue"/>
              </a:rPr>
              <a:t>Research Gap</a:t>
            </a:r>
            <a:endParaRPr sz="2400" b="1">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18" name="Google Shape;218;p25"/>
          <p:cNvSpPr txBox="1"/>
          <p:nvPr/>
        </p:nvSpPr>
        <p:spPr>
          <a:xfrm>
            <a:off x="357699" y="1325985"/>
            <a:ext cx="7841700" cy="2969100"/>
          </a:xfrm>
          <a:prstGeom prst="rect">
            <a:avLst/>
          </a:prstGeom>
          <a:noFill/>
          <a:ln>
            <a:noFill/>
          </a:ln>
        </p:spPr>
        <p:txBody>
          <a:bodyPr spcFirstLastPara="1" wrap="square" lIns="166175" tIns="83075" rIns="166175" bIns="83075" anchor="t" anchorCtr="0">
            <a:spAutoFit/>
          </a:bodyPr>
          <a:lstStyle/>
          <a:p>
            <a:pPr marL="0" marR="0" lvl="0" indent="0" algn="l" rtl="0">
              <a:spcBef>
                <a:spcPts val="0"/>
              </a:spcBef>
              <a:spcAft>
                <a:spcPts val="0"/>
              </a:spcAft>
              <a:buNone/>
            </a:pPr>
            <a:r>
              <a:rPr lang="en" sz="1800">
                <a:solidFill>
                  <a:srgbClr val="002060"/>
                </a:solidFill>
                <a:latin typeface="Helvetica Neue"/>
                <a:ea typeface="Helvetica Neue"/>
                <a:cs typeface="Helvetica Neue"/>
                <a:sym typeface="Helvetica Neue"/>
              </a:rPr>
              <a:t>I</a:t>
            </a:r>
            <a:r>
              <a:rPr lang="en" sz="1800">
                <a:solidFill>
                  <a:srgbClr val="002060"/>
                </a:solidFill>
                <a:latin typeface="Times New Roman"/>
                <a:ea typeface="Times New Roman"/>
                <a:cs typeface="Times New Roman"/>
                <a:sym typeface="Times New Roman"/>
              </a:rPr>
              <a:t>n all of the research papers that we have studied none of them are doing feature extraction of the frequency data , they are rather only analyzing the frequency amplitude pattern.</a:t>
            </a:r>
            <a:endParaRPr sz="2500">
              <a:latin typeface="Times New Roman"/>
              <a:ea typeface="Times New Roman"/>
              <a:cs typeface="Times New Roman"/>
              <a:sym typeface="Times New Roman"/>
            </a:endParaRPr>
          </a:p>
          <a:p>
            <a:pPr marL="0" marR="0" lvl="0" indent="0" algn="l" rtl="0">
              <a:spcBef>
                <a:spcPts val="0"/>
              </a:spcBef>
              <a:spcAft>
                <a:spcPts val="0"/>
              </a:spcAft>
              <a:buNone/>
            </a:pPr>
            <a:endParaRPr sz="1800">
              <a:solidFill>
                <a:srgbClr val="002060"/>
              </a:solidFill>
              <a:latin typeface="Times New Roman"/>
              <a:ea typeface="Times New Roman"/>
              <a:cs typeface="Times New Roman"/>
              <a:sym typeface="Times New Roman"/>
            </a:endParaRPr>
          </a:p>
          <a:p>
            <a:pPr marL="0" marR="0" lvl="0" indent="0" algn="l" rtl="0">
              <a:spcBef>
                <a:spcPts val="0"/>
              </a:spcBef>
              <a:spcAft>
                <a:spcPts val="0"/>
              </a:spcAft>
              <a:buNone/>
            </a:pPr>
            <a:r>
              <a:rPr lang="en" sz="1800">
                <a:solidFill>
                  <a:srgbClr val="002060"/>
                </a:solidFill>
                <a:latin typeface="Times New Roman"/>
                <a:ea typeface="Times New Roman"/>
                <a:cs typeface="Times New Roman"/>
                <a:sym typeface="Times New Roman"/>
              </a:rPr>
              <a:t>Our project focuses to continue the research after getting data from wavelet coefficients that is taking out various features from the generated frequency data and training our machine learning model on that features </a:t>
            </a:r>
            <a:endParaRPr sz="2500">
              <a:latin typeface="Times New Roman"/>
              <a:ea typeface="Times New Roman"/>
              <a:cs typeface="Times New Roman"/>
              <a:sym typeface="Times New Roman"/>
            </a:endParaRPr>
          </a:p>
          <a:p>
            <a:pPr marL="0" marR="0" lvl="0" indent="0" algn="l" rtl="0">
              <a:spcBef>
                <a:spcPts val="0"/>
              </a:spcBef>
              <a:spcAft>
                <a:spcPts val="0"/>
              </a:spcAft>
              <a:buNone/>
            </a:pPr>
            <a:endParaRPr sz="1800">
              <a:solidFill>
                <a:srgbClr val="002060"/>
              </a:solidFill>
              <a:latin typeface="Times New Roman"/>
              <a:ea typeface="Times New Roman"/>
              <a:cs typeface="Times New Roman"/>
              <a:sym typeface="Times New Roman"/>
            </a:endParaRPr>
          </a:p>
          <a:p>
            <a:pPr marL="0" marR="0" lvl="0" indent="0" algn="l" rtl="0">
              <a:spcBef>
                <a:spcPts val="0"/>
              </a:spcBef>
              <a:spcAft>
                <a:spcPts val="0"/>
              </a:spcAft>
              <a:buNone/>
            </a:pPr>
            <a:r>
              <a:rPr lang="en" sz="1800">
                <a:solidFill>
                  <a:srgbClr val="002060"/>
                </a:solidFill>
                <a:latin typeface="Times New Roman"/>
                <a:ea typeface="Times New Roman"/>
                <a:cs typeface="Times New Roman"/>
                <a:sym typeface="Times New Roman"/>
              </a:rPr>
              <a:t>Then after training we will be ready to deploy this model to predict anomalies from the real time network traffic</a:t>
            </a:r>
            <a:r>
              <a:rPr lang="en" sz="2000">
                <a:solidFill>
                  <a:srgbClr val="002060"/>
                </a:solidFill>
                <a:latin typeface="Helvetica Neue"/>
                <a:ea typeface="Helvetica Neue"/>
                <a:cs typeface="Helvetica Neue"/>
                <a:sym typeface="Helvetica Neue"/>
              </a:rPr>
              <a:t>.</a:t>
            </a:r>
            <a:endParaRPr sz="2000">
              <a:solidFill>
                <a:srgbClr val="002060"/>
              </a:solidFill>
              <a:latin typeface="Helvetica Neue"/>
              <a:ea typeface="Helvetica Neue"/>
              <a:cs typeface="Helvetica Neue"/>
              <a:sym typeface="Helvetica Neue"/>
            </a:endParaRPr>
          </a:p>
        </p:txBody>
      </p:sp>
      <p:grpSp>
        <p:nvGrpSpPr>
          <p:cNvPr id="219" name="Google Shape;219;p25"/>
          <p:cNvGrpSpPr/>
          <p:nvPr/>
        </p:nvGrpSpPr>
        <p:grpSpPr>
          <a:xfrm>
            <a:off x="127162" y="1442230"/>
            <a:ext cx="331297" cy="208409"/>
            <a:chOff x="111075" y="946492"/>
            <a:chExt cx="167029" cy="140226"/>
          </a:xfrm>
        </p:grpSpPr>
        <p:pic>
          <p:nvPicPr>
            <p:cNvPr id="220" name="Google Shape;220;p25"/>
            <p:cNvPicPr preferRelativeResize="0"/>
            <p:nvPr/>
          </p:nvPicPr>
          <p:blipFill rotWithShape="1">
            <a:blip r:embed="rId3">
              <a:alphaModFix/>
            </a:blip>
            <a:srcRect/>
            <a:stretch/>
          </p:blipFill>
          <p:spPr>
            <a:xfrm>
              <a:off x="111075" y="946492"/>
              <a:ext cx="101219" cy="139174"/>
            </a:xfrm>
            <a:prstGeom prst="rect">
              <a:avLst/>
            </a:prstGeom>
            <a:noFill/>
            <a:ln>
              <a:noFill/>
            </a:ln>
          </p:spPr>
        </p:pic>
        <p:sp>
          <p:nvSpPr>
            <p:cNvPr id="221" name="Google Shape;221;p25"/>
            <p:cNvSpPr/>
            <p:nvPr/>
          </p:nvSpPr>
          <p:spPr>
            <a:xfrm>
              <a:off x="176504" y="947018"/>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22" name="Google Shape;222;p25"/>
            <p:cNvSpPr/>
            <p:nvPr/>
          </p:nvSpPr>
          <p:spPr>
            <a:xfrm>
              <a:off x="189156" y="965997"/>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23" name="Google Shape;223;p25"/>
            <p:cNvSpPr/>
            <p:nvPr/>
          </p:nvSpPr>
          <p:spPr>
            <a:xfrm>
              <a:off x="201809" y="984975"/>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24" name="Google Shape;224;p25"/>
            <p:cNvSpPr/>
            <p:nvPr/>
          </p:nvSpPr>
          <p:spPr>
            <a:xfrm>
              <a:off x="189156" y="1016606"/>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225" name="Google Shape;225;p25"/>
            <p:cNvPicPr preferRelativeResize="0"/>
            <p:nvPr/>
          </p:nvPicPr>
          <p:blipFill rotWithShape="1">
            <a:blip r:embed="rId4">
              <a:alphaModFix/>
            </a:blip>
            <a:srcRect/>
            <a:stretch/>
          </p:blipFill>
          <p:spPr>
            <a:xfrm>
              <a:off x="233440" y="1013441"/>
              <a:ext cx="31635" cy="44283"/>
            </a:xfrm>
            <a:prstGeom prst="rect">
              <a:avLst/>
            </a:prstGeom>
            <a:noFill/>
            <a:ln>
              <a:noFill/>
            </a:ln>
          </p:spPr>
        </p:pic>
        <p:sp>
          <p:nvSpPr>
            <p:cNvPr id="226" name="Google Shape;226;p25"/>
            <p:cNvSpPr/>
            <p:nvPr/>
          </p:nvSpPr>
          <p:spPr>
            <a:xfrm>
              <a:off x="233440" y="1067215"/>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27" name="Google Shape;227;p25"/>
            <p:cNvSpPr/>
            <p:nvPr/>
          </p:nvSpPr>
          <p:spPr>
            <a:xfrm>
              <a:off x="252419" y="947018"/>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grpSp>
        <p:nvGrpSpPr>
          <p:cNvPr id="228" name="Google Shape;228;p25"/>
          <p:cNvGrpSpPr/>
          <p:nvPr/>
        </p:nvGrpSpPr>
        <p:grpSpPr>
          <a:xfrm>
            <a:off x="248719" y="2555071"/>
            <a:ext cx="201524" cy="207622"/>
            <a:chOff x="176504" y="947018"/>
            <a:chExt cx="101600" cy="139700"/>
          </a:xfrm>
        </p:grpSpPr>
        <p:pic>
          <p:nvPicPr>
            <p:cNvPr id="229" name="Google Shape;229;p25"/>
            <p:cNvPicPr preferRelativeResize="0"/>
            <p:nvPr/>
          </p:nvPicPr>
          <p:blipFill rotWithShape="1">
            <a:blip r:embed="rId3">
              <a:alphaModFix/>
            </a:blip>
            <a:srcRect/>
            <a:stretch/>
          </p:blipFill>
          <p:spPr>
            <a:xfrm>
              <a:off x="176504" y="947018"/>
              <a:ext cx="101219" cy="139174"/>
            </a:xfrm>
            <a:prstGeom prst="rect">
              <a:avLst/>
            </a:prstGeom>
            <a:noFill/>
            <a:ln>
              <a:noFill/>
            </a:ln>
          </p:spPr>
        </p:pic>
        <p:sp>
          <p:nvSpPr>
            <p:cNvPr id="230" name="Google Shape;230;p25"/>
            <p:cNvSpPr/>
            <p:nvPr/>
          </p:nvSpPr>
          <p:spPr>
            <a:xfrm>
              <a:off x="176504" y="947018"/>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31" name="Google Shape;231;p25"/>
            <p:cNvSpPr/>
            <p:nvPr/>
          </p:nvSpPr>
          <p:spPr>
            <a:xfrm>
              <a:off x="189156" y="965997"/>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32" name="Google Shape;232;p25"/>
            <p:cNvSpPr/>
            <p:nvPr/>
          </p:nvSpPr>
          <p:spPr>
            <a:xfrm>
              <a:off x="201809" y="984975"/>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33" name="Google Shape;233;p25"/>
            <p:cNvSpPr/>
            <p:nvPr/>
          </p:nvSpPr>
          <p:spPr>
            <a:xfrm>
              <a:off x="189156" y="1016606"/>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234" name="Google Shape;234;p25"/>
            <p:cNvPicPr preferRelativeResize="0"/>
            <p:nvPr/>
          </p:nvPicPr>
          <p:blipFill rotWithShape="1">
            <a:blip r:embed="rId4">
              <a:alphaModFix/>
            </a:blip>
            <a:srcRect/>
            <a:stretch/>
          </p:blipFill>
          <p:spPr>
            <a:xfrm>
              <a:off x="233440" y="1013441"/>
              <a:ext cx="31635" cy="44283"/>
            </a:xfrm>
            <a:prstGeom prst="rect">
              <a:avLst/>
            </a:prstGeom>
            <a:noFill/>
            <a:ln>
              <a:noFill/>
            </a:ln>
          </p:spPr>
        </p:pic>
        <p:sp>
          <p:nvSpPr>
            <p:cNvPr id="235" name="Google Shape;235;p25"/>
            <p:cNvSpPr/>
            <p:nvPr/>
          </p:nvSpPr>
          <p:spPr>
            <a:xfrm>
              <a:off x="233440" y="1067215"/>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36" name="Google Shape;236;p25"/>
            <p:cNvSpPr/>
            <p:nvPr/>
          </p:nvSpPr>
          <p:spPr>
            <a:xfrm>
              <a:off x="252419" y="947018"/>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grpSp>
        <p:nvGrpSpPr>
          <p:cNvPr id="237" name="Google Shape;237;p25"/>
          <p:cNvGrpSpPr/>
          <p:nvPr/>
        </p:nvGrpSpPr>
        <p:grpSpPr>
          <a:xfrm>
            <a:off x="248721" y="3667178"/>
            <a:ext cx="201521" cy="207628"/>
            <a:chOff x="176504" y="947018"/>
            <a:chExt cx="101600" cy="139700"/>
          </a:xfrm>
        </p:grpSpPr>
        <p:pic>
          <p:nvPicPr>
            <p:cNvPr id="238" name="Google Shape;238;p25"/>
            <p:cNvPicPr preferRelativeResize="0"/>
            <p:nvPr/>
          </p:nvPicPr>
          <p:blipFill rotWithShape="1">
            <a:blip r:embed="rId3">
              <a:alphaModFix/>
            </a:blip>
            <a:srcRect/>
            <a:stretch/>
          </p:blipFill>
          <p:spPr>
            <a:xfrm>
              <a:off x="176504" y="947018"/>
              <a:ext cx="101219" cy="139174"/>
            </a:xfrm>
            <a:prstGeom prst="rect">
              <a:avLst/>
            </a:prstGeom>
            <a:noFill/>
            <a:ln>
              <a:noFill/>
            </a:ln>
          </p:spPr>
        </p:pic>
        <p:sp>
          <p:nvSpPr>
            <p:cNvPr id="239" name="Google Shape;239;p25"/>
            <p:cNvSpPr/>
            <p:nvPr/>
          </p:nvSpPr>
          <p:spPr>
            <a:xfrm>
              <a:off x="176504" y="947018"/>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40" name="Google Shape;240;p25"/>
            <p:cNvSpPr/>
            <p:nvPr/>
          </p:nvSpPr>
          <p:spPr>
            <a:xfrm>
              <a:off x="189156" y="965997"/>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41" name="Google Shape;241;p25"/>
            <p:cNvSpPr/>
            <p:nvPr/>
          </p:nvSpPr>
          <p:spPr>
            <a:xfrm>
              <a:off x="201809" y="984975"/>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42" name="Google Shape;242;p25"/>
            <p:cNvSpPr/>
            <p:nvPr/>
          </p:nvSpPr>
          <p:spPr>
            <a:xfrm>
              <a:off x="189156" y="1016606"/>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243" name="Google Shape;243;p25"/>
            <p:cNvPicPr preferRelativeResize="0"/>
            <p:nvPr/>
          </p:nvPicPr>
          <p:blipFill rotWithShape="1">
            <a:blip r:embed="rId4">
              <a:alphaModFix/>
            </a:blip>
            <a:srcRect/>
            <a:stretch/>
          </p:blipFill>
          <p:spPr>
            <a:xfrm>
              <a:off x="233440" y="1013441"/>
              <a:ext cx="31635" cy="44283"/>
            </a:xfrm>
            <a:prstGeom prst="rect">
              <a:avLst/>
            </a:prstGeom>
            <a:noFill/>
            <a:ln>
              <a:noFill/>
            </a:ln>
          </p:spPr>
        </p:pic>
        <p:sp>
          <p:nvSpPr>
            <p:cNvPr id="244" name="Google Shape;244;p25"/>
            <p:cNvSpPr/>
            <p:nvPr/>
          </p:nvSpPr>
          <p:spPr>
            <a:xfrm>
              <a:off x="233440" y="1067215"/>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45" name="Google Shape;245;p25"/>
            <p:cNvSpPr/>
            <p:nvPr/>
          </p:nvSpPr>
          <p:spPr>
            <a:xfrm>
              <a:off x="252419" y="947018"/>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55"/>
        <p:cNvGrpSpPr/>
        <p:nvPr/>
      </p:nvGrpSpPr>
      <p:grpSpPr>
        <a:xfrm>
          <a:off x="0" y="0"/>
          <a:ext cx="0" cy="0"/>
          <a:chOff x="0" y="0"/>
          <a:chExt cx="0" cy="0"/>
        </a:xfrm>
      </p:grpSpPr>
      <p:grpSp>
        <p:nvGrpSpPr>
          <p:cNvPr id="256" name="Google Shape;256;p27"/>
          <p:cNvGrpSpPr/>
          <p:nvPr/>
        </p:nvGrpSpPr>
        <p:grpSpPr>
          <a:xfrm>
            <a:off x="0" y="0"/>
            <a:ext cx="9140221" cy="303891"/>
            <a:chOff x="0" y="0"/>
            <a:chExt cx="4608195" cy="204470"/>
          </a:xfrm>
        </p:grpSpPr>
        <p:sp>
          <p:nvSpPr>
            <p:cNvPr id="257" name="Google Shape;257;p27"/>
            <p:cNvSpPr/>
            <p:nvPr/>
          </p:nvSpPr>
          <p:spPr>
            <a:xfrm>
              <a:off x="0" y="0"/>
              <a:ext cx="4608195" cy="204470"/>
            </a:xfrm>
            <a:custGeom>
              <a:avLst/>
              <a:gdLst/>
              <a:ahLst/>
              <a:cxnLst/>
              <a:rect l="l" t="t" r="r" b="b"/>
              <a:pathLst>
                <a:path w="4608195" h="204470" extrusionOk="0">
                  <a:moveTo>
                    <a:pt x="4608004" y="0"/>
                  </a:moveTo>
                  <a:lnTo>
                    <a:pt x="0" y="0"/>
                  </a:lnTo>
                  <a:lnTo>
                    <a:pt x="0" y="203974"/>
                  </a:lnTo>
                  <a:lnTo>
                    <a:pt x="4608004" y="203974"/>
                  </a:lnTo>
                  <a:lnTo>
                    <a:pt x="4608004" y="0"/>
                  </a:lnTo>
                  <a:close/>
                </a:path>
              </a:pathLst>
            </a:custGeom>
            <a:solidFill>
              <a:srgbClr val="2B4177"/>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58" name="Google Shape;258;p27"/>
            <p:cNvSpPr/>
            <p:nvPr/>
          </p:nvSpPr>
          <p:spPr>
            <a:xfrm>
              <a:off x="120650"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59" name="Google Shape;259;p27"/>
            <p:cNvSpPr/>
            <p:nvPr/>
          </p:nvSpPr>
          <p:spPr>
            <a:xfrm>
              <a:off x="171056"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0" name="Google Shape;260;p27"/>
            <p:cNvSpPr/>
            <p:nvPr/>
          </p:nvSpPr>
          <p:spPr>
            <a:xfrm>
              <a:off x="221449" y="142674"/>
              <a:ext cx="36195" cy="36195"/>
            </a:xfrm>
            <a:custGeom>
              <a:avLst/>
              <a:gdLst/>
              <a:ahLst/>
              <a:cxnLst/>
              <a:rect l="l" t="t" r="r" b="b"/>
              <a:pathLst>
                <a:path w="36195"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1" name="Google Shape;261;p27"/>
            <p:cNvSpPr/>
            <p:nvPr/>
          </p:nvSpPr>
          <p:spPr>
            <a:xfrm>
              <a:off x="221449"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262" name="Google Shape;262;p27"/>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263" name="Google Shape;263;p27"/>
          <p:cNvGrpSpPr/>
          <p:nvPr/>
        </p:nvGrpSpPr>
        <p:grpSpPr>
          <a:xfrm>
            <a:off x="2804007" y="212048"/>
            <a:ext cx="471660" cy="53794"/>
            <a:chOff x="1413687" y="142674"/>
            <a:chExt cx="237795" cy="36195"/>
          </a:xfrm>
        </p:grpSpPr>
        <p:sp>
          <p:nvSpPr>
            <p:cNvPr id="264" name="Google Shape;264;p27"/>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5" name="Google Shape;265;p27"/>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6" name="Google Shape;266;p27"/>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7" name="Google Shape;267;p27"/>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68" name="Google Shape;268;p27"/>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269" name="Google Shape;269;p27"/>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270" name="Google Shape;270;p27"/>
          <p:cNvGrpSpPr/>
          <p:nvPr/>
        </p:nvGrpSpPr>
        <p:grpSpPr>
          <a:xfrm>
            <a:off x="5560332" y="212048"/>
            <a:ext cx="171747" cy="53794"/>
            <a:chOff x="2803334" y="142674"/>
            <a:chExt cx="86589" cy="36195"/>
          </a:xfrm>
        </p:grpSpPr>
        <p:sp>
          <p:nvSpPr>
            <p:cNvPr id="271" name="Google Shape;271;p27"/>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72" name="Google Shape;272;p27"/>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273" name="Google Shape;273;p27"/>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274" name="Google Shape;274;p27"/>
          <p:cNvGrpSpPr/>
          <p:nvPr/>
        </p:nvGrpSpPr>
        <p:grpSpPr>
          <a:xfrm>
            <a:off x="8027927" y="212048"/>
            <a:ext cx="171747" cy="53794"/>
            <a:chOff x="4047413" y="142674"/>
            <a:chExt cx="86589" cy="36195"/>
          </a:xfrm>
        </p:grpSpPr>
        <p:sp>
          <p:nvSpPr>
            <p:cNvPr id="275" name="Google Shape;275;p27"/>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76" name="Google Shape;276;p27"/>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277" name="Google Shape;277;p27"/>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278" name="Google Shape;278;p27"/>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79" name="Google Shape;279;p27"/>
          <p:cNvSpPr txBox="1"/>
          <p:nvPr/>
        </p:nvSpPr>
        <p:spPr>
          <a:xfrm>
            <a:off x="189025" y="614252"/>
            <a:ext cx="3261000" cy="4161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500" b="1">
                <a:solidFill>
                  <a:srgbClr val="132C68"/>
                </a:solidFill>
                <a:latin typeface="Helvetica Neue"/>
                <a:ea typeface="Helvetica Neue"/>
                <a:cs typeface="Helvetica Neue"/>
                <a:sym typeface="Helvetica Neue"/>
              </a:rPr>
              <a:t>Research Objective</a:t>
            </a:r>
            <a:endParaRPr sz="2500" b="1">
              <a:solidFill>
                <a:schemeClr val="dk1"/>
              </a:solidFill>
              <a:latin typeface="Helvetica Neue"/>
              <a:ea typeface="Helvetica Neue"/>
              <a:cs typeface="Helvetica Neue"/>
              <a:sym typeface="Helvetica Neue"/>
            </a:endParaRPr>
          </a:p>
        </p:txBody>
      </p:sp>
      <p:grpSp>
        <p:nvGrpSpPr>
          <p:cNvPr id="280" name="Google Shape;280;p27"/>
          <p:cNvGrpSpPr/>
          <p:nvPr/>
        </p:nvGrpSpPr>
        <p:grpSpPr>
          <a:xfrm>
            <a:off x="385671" y="1857794"/>
            <a:ext cx="201524" cy="207622"/>
            <a:chOff x="176504" y="1223586"/>
            <a:chExt cx="101600" cy="139700"/>
          </a:xfrm>
        </p:grpSpPr>
        <p:pic>
          <p:nvPicPr>
            <p:cNvPr id="281" name="Google Shape;281;p27"/>
            <p:cNvPicPr preferRelativeResize="0"/>
            <p:nvPr/>
          </p:nvPicPr>
          <p:blipFill rotWithShape="1">
            <a:blip r:embed="rId6">
              <a:alphaModFix/>
            </a:blip>
            <a:srcRect/>
            <a:stretch/>
          </p:blipFill>
          <p:spPr>
            <a:xfrm>
              <a:off x="176504" y="1223586"/>
              <a:ext cx="101219" cy="139174"/>
            </a:xfrm>
            <a:prstGeom prst="rect">
              <a:avLst/>
            </a:prstGeom>
            <a:noFill/>
            <a:ln>
              <a:noFill/>
            </a:ln>
          </p:spPr>
        </p:pic>
        <p:sp>
          <p:nvSpPr>
            <p:cNvPr id="282" name="Google Shape;282;p27"/>
            <p:cNvSpPr/>
            <p:nvPr/>
          </p:nvSpPr>
          <p:spPr>
            <a:xfrm>
              <a:off x="176504" y="1223586"/>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83" name="Google Shape;283;p27"/>
            <p:cNvSpPr/>
            <p:nvPr/>
          </p:nvSpPr>
          <p:spPr>
            <a:xfrm>
              <a:off x="189156" y="1242565"/>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84" name="Google Shape;284;p27"/>
            <p:cNvSpPr/>
            <p:nvPr/>
          </p:nvSpPr>
          <p:spPr>
            <a:xfrm>
              <a:off x="201809" y="1261543"/>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85" name="Google Shape;285;p27"/>
            <p:cNvSpPr/>
            <p:nvPr/>
          </p:nvSpPr>
          <p:spPr>
            <a:xfrm>
              <a:off x="189156" y="1293174"/>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286" name="Google Shape;286;p27"/>
            <p:cNvPicPr preferRelativeResize="0"/>
            <p:nvPr/>
          </p:nvPicPr>
          <p:blipFill rotWithShape="1">
            <a:blip r:embed="rId7">
              <a:alphaModFix/>
            </a:blip>
            <a:srcRect/>
            <a:stretch/>
          </p:blipFill>
          <p:spPr>
            <a:xfrm>
              <a:off x="233440" y="1290010"/>
              <a:ext cx="31635" cy="44283"/>
            </a:xfrm>
            <a:prstGeom prst="rect">
              <a:avLst/>
            </a:prstGeom>
            <a:noFill/>
            <a:ln>
              <a:noFill/>
            </a:ln>
          </p:spPr>
        </p:pic>
        <p:sp>
          <p:nvSpPr>
            <p:cNvPr id="287" name="Google Shape;287;p27"/>
            <p:cNvSpPr/>
            <p:nvPr/>
          </p:nvSpPr>
          <p:spPr>
            <a:xfrm>
              <a:off x="233440" y="1343783"/>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88" name="Google Shape;288;p27"/>
            <p:cNvSpPr/>
            <p:nvPr/>
          </p:nvSpPr>
          <p:spPr>
            <a:xfrm>
              <a:off x="252419" y="1223586"/>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289" name="Google Shape;289;p27"/>
          <p:cNvSpPr txBox="1"/>
          <p:nvPr/>
        </p:nvSpPr>
        <p:spPr>
          <a:xfrm>
            <a:off x="587200" y="1767700"/>
            <a:ext cx="8421000" cy="1763700"/>
          </a:xfrm>
          <a:prstGeom prst="rect">
            <a:avLst/>
          </a:prstGeom>
          <a:noFill/>
          <a:ln>
            <a:noFill/>
          </a:ln>
        </p:spPr>
        <p:txBody>
          <a:bodyPr spcFirstLastPara="1" wrap="square" lIns="0" tIns="72700" rIns="0" bIns="0" anchor="t" anchorCtr="0">
            <a:spAutoFit/>
          </a:bodyPr>
          <a:lstStyle/>
          <a:p>
            <a:pPr marL="165100" marR="0" lvl="0" indent="0" algn="l" rtl="0">
              <a:lnSpc>
                <a:spcPct val="100000"/>
              </a:lnSpc>
              <a:spcBef>
                <a:spcPts val="0"/>
              </a:spcBef>
              <a:spcAft>
                <a:spcPts val="0"/>
              </a:spcAft>
              <a:buNone/>
            </a:pPr>
            <a:r>
              <a:rPr lang="en" sz="1600" b="1">
                <a:solidFill>
                  <a:srgbClr val="132C68"/>
                </a:solidFill>
                <a:latin typeface="Arial"/>
                <a:ea typeface="Arial"/>
                <a:cs typeface="Arial"/>
                <a:sym typeface="Arial"/>
              </a:rPr>
              <a:t>Research Objective</a:t>
            </a:r>
            <a:endParaRPr sz="1600" b="1">
              <a:solidFill>
                <a:srgbClr val="132C68"/>
              </a:solidFill>
              <a:latin typeface="Arial"/>
              <a:ea typeface="Arial"/>
              <a:cs typeface="Arial"/>
              <a:sym typeface="Arial"/>
            </a:endParaRPr>
          </a:p>
          <a:p>
            <a:pPr marL="165100" marR="0" lvl="0" indent="0" algn="l" rtl="0">
              <a:lnSpc>
                <a:spcPct val="100000"/>
              </a:lnSpc>
              <a:spcBef>
                <a:spcPts val="0"/>
              </a:spcBef>
              <a:spcAft>
                <a:spcPts val="0"/>
              </a:spcAft>
              <a:buNone/>
            </a:pPr>
            <a:endParaRPr sz="1600" b="1">
              <a:solidFill>
                <a:srgbClr val="132C68"/>
              </a:solidFill>
            </a:endParaRPr>
          </a:p>
          <a:p>
            <a:pPr marL="660400" marR="152400" lvl="0" indent="-228600" algn="l" rtl="0">
              <a:lnSpc>
                <a:spcPct val="101499"/>
              </a:lnSpc>
              <a:spcBef>
                <a:spcPts val="400"/>
              </a:spcBef>
              <a:spcAft>
                <a:spcPts val="0"/>
              </a:spcAft>
              <a:buClr>
                <a:srgbClr val="132C68"/>
              </a:buClr>
              <a:buSzPts val="1600"/>
              <a:buFont typeface="Times New Roman"/>
              <a:buChar char="•"/>
            </a:pPr>
            <a:r>
              <a:rPr lang="en" sz="1600">
                <a:solidFill>
                  <a:srgbClr val="132C68"/>
                </a:solidFill>
                <a:latin typeface="Times New Roman"/>
                <a:ea typeface="Times New Roman"/>
                <a:cs typeface="Times New Roman"/>
                <a:sym typeface="Times New Roman"/>
              </a:rPr>
              <a:t>Develop and evaluate a Machine Learning-based Intrusion Detection  System (IDS).</a:t>
            </a:r>
            <a:endParaRPr sz="1600">
              <a:solidFill>
                <a:srgbClr val="132C68"/>
              </a:solidFill>
              <a:latin typeface="Times New Roman"/>
              <a:ea typeface="Times New Roman"/>
              <a:cs typeface="Times New Roman"/>
              <a:sym typeface="Times New Roman"/>
            </a:endParaRPr>
          </a:p>
          <a:p>
            <a:pPr marL="660400" marR="101600" lvl="0" indent="-228600" algn="l" rtl="0">
              <a:lnSpc>
                <a:spcPct val="101499"/>
              </a:lnSpc>
              <a:spcBef>
                <a:spcPts val="400"/>
              </a:spcBef>
              <a:spcAft>
                <a:spcPts val="0"/>
              </a:spcAft>
              <a:buClr>
                <a:srgbClr val="132C68"/>
              </a:buClr>
              <a:buSzPts val="1600"/>
              <a:buFont typeface="Times New Roman"/>
              <a:buChar char="•"/>
            </a:pPr>
            <a:r>
              <a:rPr lang="en" sz="1600">
                <a:solidFill>
                  <a:srgbClr val="132C68"/>
                </a:solidFill>
                <a:latin typeface="Times New Roman"/>
                <a:ea typeface="Times New Roman"/>
                <a:cs typeface="Times New Roman"/>
                <a:sym typeface="Times New Roman"/>
              </a:rPr>
              <a:t>Apply Wavelet Transform to network traﬃc data to convert it into the  frequency domain.</a:t>
            </a:r>
            <a:endParaRPr sz="1600">
              <a:solidFill>
                <a:srgbClr val="132C68"/>
              </a:solidFill>
              <a:latin typeface="Times New Roman"/>
              <a:ea typeface="Times New Roman"/>
              <a:cs typeface="Times New Roman"/>
              <a:sym typeface="Times New Roman"/>
            </a:endParaRPr>
          </a:p>
          <a:p>
            <a:pPr marL="660400" marR="0" lvl="0" indent="-228600" algn="l" rtl="0">
              <a:lnSpc>
                <a:spcPct val="100000"/>
              </a:lnSpc>
              <a:spcBef>
                <a:spcPts val="400"/>
              </a:spcBef>
              <a:spcAft>
                <a:spcPts val="0"/>
              </a:spcAft>
              <a:buClr>
                <a:srgbClr val="132C68"/>
              </a:buClr>
              <a:buSzPts val="1600"/>
              <a:buFont typeface="Times New Roman"/>
              <a:buChar char="•"/>
            </a:pPr>
            <a:r>
              <a:rPr lang="en" sz="1600">
                <a:solidFill>
                  <a:srgbClr val="132C68"/>
                </a:solidFill>
                <a:latin typeface="Times New Roman"/>
                <a:ea typeface="Times New Roman"/>
                <a:cs typeface="Times New Roman"/>
                <a:sym typeface="Times New Roman"/>
              </a:rPr>
              <a:t>Compare the performance of various machine learning classiﬁers.</a:t>
            </a:r>
            <a:endParaRPr sz="1600">
              <a:solidFill>
                <a:schemeClr val="dk1"/>
              </a:solidFill>
              <a:latin typeface="Times New Roman"/>
              <a:ea typeface="Times New Roman"/>
              <a:cs typeface="Times New Roman"/>
              <a:sym typeface="Times New Roman"/>
            </a:endParaRPr>
          </a:p>
          <a:p>
            <a:pPr marL="660400" marR="647700" lvl="0" indent="-228600" algn="l" rtl="0">
              <a:lnSpc>
                <a:spcPct val="101499"/>
              </a:lnSpc>
              <a:spcBef>
                <a:spcPts val="400"/>
              </a:spcBef>
              <a:spcAft>
                <a:spcPts val="0"/>
              </a:spcAft>
              <a:buClr>
                <a:srgbClr val="132C68"/>
              </a:buClr>
              <a:buSzPts val="1600"/>
              <a:buFont typeface="Times New Roman"/>
              <a:buChar char="•"/>
            </a:pPr>
            <a:r>
              <a:rPr lang="en" sz="1600">
                <a:solidFill>
                  <a:srgbClr val="132C68"/>
                </a:solidFill>
                <a:latin typeface="Times New Roman"/>
                <a:ea typeface="Times New Roman"/>
                <a:cs typeface="Times New Roman"/>
                <a:sym typeface="Times New Roman"/>
              </a:rPr>
              <a:t>Test the model against real-time network attacks in a simulated  environment.</a:t>
            </a:r>
            <a:endParaRPr sz="16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295" name="Google Shape;295;p28"/>
          <p:cNvGrpSpPr/>
          <p:nvPr/>
        </p:nvGrpSpPr>
        <p:grpSpPr>
          <a:xfrm>
            <a:off x="2804007" y="212048"/>
            <a:ext cx="471660" cy="53794"/>
            <a:chOff x="1413687" y="142674"/>
            <a:chExt cx="237795" cy="36195"/>
          </a:xfrm>
        </p:grpSpPr>
        <p:sp>
          <p:nvSpPr>
            <p:cNvPr id="296" name="Google Shape;296;p28"/>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97" name="Google Shape;297;p28"/>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98" name="Google Shape;298;p28"/>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299" name="Google Shape;299;p28"/>
            <p:cNvSpPr/>
            <p:nvPr/>
          </p:nvSpPr>
          <p:spPr>
            <a:xfrm>
              <a:off x="1564893"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00" name="Google Shape;300;p28"/>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01" name="Google Shape;301;p28"/>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02" name="Google Shape;302;p28"/>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303" name="Google Shape;303;p28"/>
          <p:cNvGrpSpPr/>
          <p:nvPr/>
        </p:nvGrpSpPr>
        <p:grpSpPr>
          <a:xfrm>
            <a:off x="5560332" y="212048"/>
            <a:ext cx="171747" cy="53794"/>
            <a:chOff x="2803334" y="142674"/>
            <a:chExt cx="86589" cy="36195"/>
          </a:xfrm>
        </p:grpSpPr>
        <p:sp>
          <p:nvSpPr>
            <p:cNvPr id="304" name="Google Shape;304;p28"/>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05" name="Google Shape;305;p28"/>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06" name="Google Shape;306;p28"/>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307" name="Google Shape;307;p28"/>
          <p:cNvGrpSpPr/>
          <p:nvPr/>
        </p:nvGrpSpPr>
        <p:grpSpPr>
          <a:xfrm>
            <a:off x="8027927" y="212048"/>
            <a:ext cx="171747" cy="53794"/>
            <a:chOff x="4047413" y="142674"/>
            <a:chExt cx="86589" cy="36195"/>
          </a:xfrm>
        </p:grpSpPr>
        <p:sp>
          <p:nvSpPr>
            <p:cNvPr id="308" name="Google Shape;308;p28"/>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09" name="Google Shape;309;p28"/>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10" name="Google Shape;310;p28"/>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311" name="Google Shape;311;p28"/>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12" name="Google Shape;312;p28"/>
          <p:cNvSpPr txBox="1"/>
          <p:nvPr/>
        </p:nvSpPr>
        <p:spPr>
          <a:xfrm>
            <a:off x="189025" y="522100"/>
            <a:ext cx="5249700" cy="11499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300" b="1">
                <a:solidFill>
                  <a:srgbClr val="132C68"/>
                </a:solidFill>
                <a:latin typeface="Helvetica Neue"/>
                <a:ea typeface="Helvetica Neue"/>
                <a:cs typeface="Helvetica Neue"/>
                <a:sym typeface="Helvetica Neue"/>
              </a:rPr>
              <a:t>PROPOSED WORK :</a:t>
            </a:r>
            <a:endParaRPr sz="2300" b="1">
              <a:solidFill>
                <a:srgbClr val="132C68"/>
              </a:solidFill>
              <a:latin typeface="Helvetica Neue"/>
              <a:ea typeface="Helvetica Neue"/>
              <a:cs typeface="Helvetica Neue"/>
              <a:sym typeface="Helvetica Neue"/>
            </a:endParaRPr>
          </a:p>
          <a:p>
            <a:pPr marL="25400" marR="0" lvl="0" indent="0" algn="l" rtl="0">
              <a:lnSpc>
                <a:spcPct val="100000"/>
              </a:lnSpc>
              <a:spcBef>
                <a:spcPts val="0"/>
              </a:spcBef>
              <a:spcAft>
                <a:spcPts val="0"/>
              </a:spcAft>
              <a:buNone/>
            </a:pPr>
            <a:endParaRPr sz="2300" b="1">
              <a:solidFill>
                <a:srgbClr val="132C68"/>
              </a:solidFill>
              <a:latin typeface="Helvetica Neue"/>
              <a:ea typeface="Helvetica Neue"/>
              <a:cs typeface="Helvetica Neue"/>
              <a:sym typeface="Helvetica Neue"/>
            </a:endParaRPr>
          </a:p>
          <a:p>
            <a:pPr marL="25400" marR="0" lvl="0" indent="0" algn="l" rtl="0">
              <a:lnSpc>
                <a:spcPct val="100000"/>
              </a:lnSpc>
              <a:spcBef>
                <a:spcPts val="200"/>
              </a:spcBef>
              <a:spcAft>
                <a:spcPts val="0"/>
              </a:spcAft>
              <a:buNone/>
            </a:pPr>
            <a:r>
              <a:rPr lang="en" sz="2100" b="1">
                <a:solidFill>
                  <a:srgbClr val="132C68"/>
                </a:solidFill>
                <a:latin typeface="Helvetica Neue"/>
                <a:ea typeface="Helvetica Neue"/>
                <a:cs typeface="Helvetica Neue"/>
                <a:sym typeface="Helvetica Neue"/>
              </a:rPr>
              <a:t>Dataset Description</a:t>
            </a:r>
            <a:r>
              <a:rPr lang="en" sz="2500" b="1">
                <a:solidFill>
                  <a:srgbClr val="132C68"/>
                </a:solidFill>
                <a:latin typeface="Helvetica Neue"/>
                <a:ea typeface="Helvetica Neue"/>
                <a:cs typeface="Helvetica Neue"/>
                <a:sym typeface="Helvetica Neue"/>
              </a:rPr>
              <a:t> </a:t>
            </a:r>
            <a:endParaRPr sz="2500" b="1">
              <a:solidFill>
                <a:schemeClr val="dk1"/>
              </a:solidFill>
              <a:latin typeface="Helvetica Neue"/>
              <a:ea typeface="Helvetica Neue"/>
              <a:cs typeface="Helvetica Neue"/>
              <a:sym typeface="Helvetica Neue"/>
            </a:endParaRPr>
          </a:p>
        </p:txBody>
      </p:sp>
      <p:grpSp>
        <p:nvGrpSpPr>
          <p:cNvPr id="313" name="Google Shape;313;p28"/>
          <p:cNvGrpSpPr/>
          <p:nvPr/>
        </p:nvGrpSpPr>
        <p:grpSpPr>
          <a:xfrm>
            <a:off x="841127" y="1795167"/>
            <a:ext cx="201524" cy="207624"/>
            <a:chOff x="176504" y="1108841"/>
            <a:chExt cx="101600" cy="139701"/>
          </a:xfrm>
        </p:grpSpPr>
        <p:pic>
          <p:nvPicPr>
            <p:cNvPr id="314" name="Google Shape;314;p28"/>
            <p:cNvPicPr preferRelativeResize="0"/>
            <p:nvPr/>
          </p:nvPicPr>
          <p:blipFill rotWithShape="1">
            <a:blip r:embed="rId6">
              <a:alphaModFix/>
            </a:blip>
            <a:srcRect/>
            <a:stretch/>
          </p:blipFill>
          <p:spPr>
            <a:xfrm>
              <a:off x="176504" y="1108841"/>
              <a:ext cx="101219" cy="139175"/>
            </a:xfrm>
            <a:prstGeom prst="rect">
              <a:avLst/>
            </a:prstGeom>
            <a:noFill/>
            <a:ln>
              <a:noFill/>
            </a:ln>
          </p:spPr>
        </p:pic>
        <p:sp>
          <p:nvSpPr>
            <p:cNvPr id="315" name="Google Shape;315;p28"/>
            <p:cNvSpPr/>
            <p:nvPr/>
          </p:nvSpPr>
          <p:spPr>
            <a:xfrm>
              <a:off x="176504" y="1108842"/>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16" name="Google Shape;316;p28"/>
            <p:cNvSpPr/>
            <p:nvPr/>
          </p:nvSpPr>
          <p:spPr>
            <a:xfrm>
              <a:off x="189156" y="1127820"/>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17" name="Google Shape;317;p28"/>
            <p:cNvSpPr/>
            <p:nvPr/>
          </p:nvSpPr>
          <p:spPr>
            <a:xfrm>
              <a:off x="201809" y="1146798"/>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18" name="Google Shape;318;p28"/>
            <p:cNvSpPr/>
            <p:nvPr/>
          </p:nvSpPr>
          <p:spPr>
            <a:xfrm>
              <a:off x="189156" y="1178429"/>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319" name="Google Shape;319;p28"/>
            <p:cNvPicPr preferRelativeResize="0"/>
            <p:nvPr/>
          </p:nvPicPr>
          <p:blipFill rotWithShape="1">
            <a:blip r:embed="rId7">
              <a:alphaModFix/>
            </a:blip>
            <a:srcRect/>
            <a:stretch/>
          </p:blipFill>
          <p:spPr>
            <a:xfrm>
              <a:off x="233440" y="1175265"/>
              <a:ext cx="31635" cy="44283"/>
            </a:xfrm>
            <a:prstGeom prst="rect">
              <a:avLst/>
            </a:prstGeom>
            <a:noFill/>
            <a:ln>
              <a:noFill/>
            </a:ln>
          </p:spPr>
        </p:pic>
        <p:sp>
          <p:nvSpPr>
            <p:cNvPr id="320" name="Google Shape;320;p28"/>
            <p:cNvSpPr/>
            <p:nvPr/>
          </p:nvSpPr>
          <p:spPr>
            <a:xfrm>
              <a:off x="233440" y="1229038"/>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21" name="Google Shape;321;p28"/>
            <p:cNvSpPr/>
            <p:nvPr/>
          </p:nvSpPr>
          <p:spPr>
            <a:xfrm>
              <a:off x="252419" y="1108842"/>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22" name="Google Shape;322;p28"/>
          <p:cNvSpPr txBox="1"/>
          <p:nvPr/>
        </p:nvSpPr>
        <p:spPr>
          <a:xfrm>
            <a:off x="1110975" y="1725850"/>
            <a:ext cx="3982500" cy="3591300"/>
          </a:xfrm>
          <a:prstGeom prst="rect">
            <a:avLst/>
          </a:prstGeom>
          <a:noFill/>
          <a:ln>
            <a:noFill/>
          </a:ln>
        </p:spPr>
        <p:txBody>
          <a:bodyPr spcFirstLastPara="1" wrap="square" lIns="0" tIns="21900" rIns="0" bIns="0" anchor="t" anchorCtr="0">
            <a:spAutoFit/>
          </a:bodyPr>
          <a:lstStyle/>
          <a:p>
            <a:pPr marL="114300" marR="0" lvl="0" indent="0" algn="l" rtl="0">
              <a:lnSpc>
                <a:spcPct val="100000"/>
              </a:lnSpc>
              <a:spcBef>
                <a:spcPts val="0"/>
              </a:spcBef>
              <a:spcAft>
                <a:spcPts val="0"/>
              </a:spcAft>
              <a:buNone/>
            </a:pPr>
            <a:r>
              <a:rPr lang="en" sz="1600" b="1">
                <a:solidFill>
                  <a:srgbClr val="132C68"/>
                </a:solidFill>
                <a:latin typeface="Arial"/>
                <a:ea typeface="Arial"/>
                <a:cs typeface="Arial"/>
                <a:sym typeface="Arial"/>
              </a:rPr>
              <a:t>NSL-</a:t>
            </a:r>
            <a:r>
              <a:rPr lang="en" sz="1600" b="1">
                <a:solidFill>
                  <a:srgbClr val="132C68"/>
                </a:solidFill>
              </a:rPr>
              <a:t>K</a:t>
            </a:r>
            <a:r>
              <a:rPr lang="en" sz="1600" b="1">
                <a:solidFill>
                  <a:srgbClr val="132C68"/>
                </a:solidFill>
                <a:latin typeface="Arial"/>
                <a:ea typeface="Arial"/>
                <a:cs typeface="Arial"/>
                <a:sym typeface="Arial"/>
              </a:rPr>
              <a:t>DD</a:t>
            </a:r>
            <a:endParaRPr sz="1600">
              <a:solidFill>
                <a:schemeClr val="dk1"/>
              </a:solidFill>
              <a:latin typeface="Arial"/>
              <a:ea typeface="Arial"/>
              <a:cs typeface="Arial"/>
              <a:sym typeface="Arial"/>
            </a:endParaRPr>
          </a:p>
          <a:p>
            <a:pPr marL="622300" marR="101600" lvl="0" indent="-209550" algn="l" rtl="0">
              <a:lnSpc>
                <a:spcPct val="101499"/>
              </a:lnSpc>
              <a:spcBef>
                <a:spcPts val="1200"/>
              </a:spcBef>
              <a:spcAft>
                <a:spcPts val="0"/>
              </a:spcAft>
              <a:buClr>
                <a:srgbClr val="132C68"/>
              </a:buClr>
              <a:buSzPts val="1300"/>
              <a:buFont typeface="Times New Roman"/>
              <a:buChar char="•"/>
            </a:pPr>
            <a:r>
              <a:rPr lang="en" sz="1300">
                <a:solidFill>
                  <a:srgbClr val="132C68"/>
                </a:solidFill>
                <a:latin typeface="Times New Roman"/>
                <a:ea typeface="Times New Roman"/>
                <a:cs typeface="Times New Roman"/>
                <a:sym typeface="Times New Roman"/>
              </a:rPr>
              <a:t>A benchmark dataset used for evaluating intrusion detection systems,  offering a reﬁned version of the KDD’99 dataset with reduced  redundancy and improved data quality for identifying network  intrusions.</a:t>
            </a:r>
            <a:endParaRPr sz="1300">
              <a:solidFill>
                <a:schemeClr val="dk1"/>
              </a:solidFill>
              <a:latin typeface="Times New Roman"/>
              <a:ea typeface="Times New Roman"/>
              <a:cs typeface="Times New Roman"/>
              <a:sym typeface="Times New Roman"/>
            </a:endParaRPr>
          </a:p>
          <a:p>
            <a:pPr marL="114300" marR="0" lvl="0" indent="0" algn="l" rtl="0">
              <a:lnSpc>
                <a:spcPct val="100000"/>
              </a:lnSpc>
              <a:spcBef>
                <a:spcPts val="1900"/>
              </a:spcBef>
              <a:spcAft>
                <a:spcPts val="0"/>
              </a:spcAft>
              <a:buNone/>
            </a:pPr>
            <a:r>
              <a:rPr lang="en" sz="1600" b="1">
                <a:solidFill>
                  <a:srgbClr val="132C68"/>
                </a:solidFill>
                <a:latin typeface="Arial"/>
                <a:ea typeface="Arial"/>
                <a:cs typeface="Arial"/>
                <a:sym typeface="Arial"/>
              </a:rPr>
              <a:t>WSN-DS      </a:t>
            </a:r>
            <a:endParaRPr sz="1600">
              <a:solidFill>
                <a:schemeClr val="dk1"/>
              </a:solidFill>
              <a:latin typeface="Arial"/>
              <a:ea typeface="Arial"/>
              <a:cs typeface="Arial"/>
              <a:sym typeface="Arial"/>
            </a:endParaRPr>
          </a:p>
          <a:p>
            <a:pPr marL="622300" marR="88900" lvl="0" indent="-228600" algn="l" rtl="0">
              <a:lnSpc>
                <a:spcPct val="101499"/>
              </a:lnSpc>
              <a:spcBef>
                <a:spcPts val="1200"/>
              </a:spcBef>
              <a:spcAft>
                <a:spcPts val="0"/>
              </a:spcAft>
              <a:buClr>
                <a:srgbClr val="132C68"/>
              </a:buClr>
              <a:buSzPts val="1600"/>
              <a:buFont typeface="Times New Roman"/>
              <a:buChar char="•"/>
            </a:pPr>
            <a:r>
              <a:rPr lang="en" sz="1300">
                <a:solidFill>
                  <a:srgbClr val="132C68"/>
                </a:solidFill>
                <a:latin typeface="Times New Roman"/>
                <a:ea typeface="Times New Roman"/>
                <a:cs typeface="Times New Roman"/>
                <a:sym typeface="Times New Roman"/>
              </a:rPr>
              <a:t>A dataset designed for evaluating intrusion detection systems in  wireless sensor networks, focusing on attacks like Sinkhole, Blackhole and Wormhole with features related to node behavior and communication patterns</a:t>
            </a:r>
            <a:r>
              <a:rPr lang="en" sz="1600">
                <a:solidFill>
                  <a:srgbClr val="132C68"/>
                </a:solidFill>
                <a:latin typeface="Times New Roman"/>
                <a:ea typeface="Times New Roman"/>
                <a:cs typeface="Times New Roman"/>
                <a:sym typeface="Times New Roman"/>
              </a:rPr>
              <a:t>.</a:t>
            </a:r>
            <a:endParaRPr sz="1600">
              <a:solidFill>
                <a:srgbClr val="132C68"/>
              </a:solidFill>
              <a:latin typeface="Times New Roman"/>
              <a:ea typeface="Times New Roman"/>
              <a:cs typeface="Times New Roman"/>
              <a:sym typeface="Times New Roman"/>
            </a:endParaRPr>
          </a:p>
          <a:p>
            <a:pPr marL="381000" marR="88900" lvl="0" indent="0" algn="l" rtl="0">
              <a:lnSpc>
                <a:spcPct val="101499"/>
              </a:lnSpc>
              <a:spcBef>
                <a:spcPts val="1200"/>
              </a:spcBef>
              <a:spcAft>
                <a:spcPts val="0"/>
              </a:spcAft>
              <a:buNone/>
            </a:pPr>
            <a:endParaRPr sz="1600">
              <a:solidFill>
                <a:schemeClr val="dk1"/>
              </a:solidFill>
              <a:latin typeface="Helvetica Neue"/>
              <a:ea typeface="Helvetica Neue"/>
              <a:cs typeface="Helvetica Neue"/>
              <a:sym typeface="Helvetica Neue"/>
            </a:endParaRPr>
          </a:p>
        </p:txBody>
      </p:sp>
      <p:grpSp>
        <p:nvGrpSpPr>
          <p:cNvPr id="323" name="Google Shape;323;p28"/>
          <p:cNvGrpSpPr/>
          <p:nvPr/>
        </p:nvGrpSpPr>
        <p:grpSpPr>
          <a:xfrm>
            <a:off x="793298" y="3391377"/>
            <a:ext cx="201524" cy="218952"/>
            <a:chOff x="176504" y="2022708"/>
            <a:chExt cx="101600" cy="139700"/>
          </a:xfrm>
        </p:grpSpPr>
        <p:pic>
          <p:nvPicPr>
            <p:cNvPr id="324" name="Google Shape;324;p28"/>
            <p:cNvPicPr preferRelativeResize="0"/>
            <p:nvPr/>
          </p:nvPicPr>
          <p:blipFill rotWithShape="1">
            <a:blip r:embed="rId6">
              <a:alphaModFix/>
            </a:blip>
            <a:srcRect/>
            <a:stretch/>
          </p:blipFill>
          <p:spPr>
            <a:xfrm>
              <a:off x="176504" y="2022708"/>
              <a:ext cx="101219" cy="139174"/>
            </a:xfrm>
            <a:prstGeom prst="rect">
              <a:avLst/>
            </a:prstGeom>
            <a:noFill/>
            <a:ln>
              <a:noFill/>
            </a:ln>
          </p:spPr>
        </p:pic>
        <p:sp>
          <p:nvSpPr>
            <p:cNvPr id="325" name="Google Shape;325;p28"/>
            <p:cNvSpPr/>
            <p:nvPr/>
          </p:nvSpPr>
          <p:spPr>
            <a:xfrm>
              <a:off x="176504" y="2022708"/>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26" name="Google Shape;326;p28"/>
            <p:cNvSpPr/>
            <p:nvPr/>
          </p:nvSpPr>
          <p:spPr>
            <a:xfrm>
              <a:off x="189156" y="2041687"/>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27" name="Google Shape;327;p28"/>
            <p:cNvSpPr/>
            <p:nvPr/>
          </p:nvSpPr>
          <p:spPr>
            <a:xfrm>
              <a:off x="201809" y="2060665"/>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28" name="Google Shape;328;p28"/>
            <p:cNvSpPr/>
            <p:nvPr/>
          </p:nvSpPr>
          <p:spPr>
            <a:xfrm>
              <a:off x="189156" y="2092296"/>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329" name="Google Shape;329;p28"/>
            <p:cNvPicPr preferRelativeResize="0"/>
            <p:nvPr/>
          </p:nvPicPr>
          <p:blipFill rotWithShape="1">
            <a:blip r:embed="rId7">
              <a:alphaModFix/>
            </a:blip>
            <a:srcRect/>
            <a:stretch/>
          </p:blipFill>
          <p:spPr>
            <a:xfrm>
              <a:off x="233440" y="2089132"/>
              <a:ext cx="31635" cy="44283"/>
            </a:xfrm>
            <a:prstGeom prst="rect">
              <a:avLst/>
            </a:prstGeom>
            <a:noFill/>
            <a:ln>
              <a:noFill/>
            </a:ln>
          </p:spPr>
        </p:pic>
        <p:sp>
          <p:nvSpPr>
            <p:cNvPr id="330" name="Google Shape;330;p28"/>
            <p:cNvSpPr/>
            <p:nvPr/>
          </p:nvSpPr>
          <p:spPr>
            <a:xfrm>
              <a:off x="233440" y="2142905"/>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31" name="Google Shape;331;p28"/>
            <p:cNvSpPr/>
            <p:nvPr/>
          </p:nvSpPr>
          <p:spPr>
            <a:xfrm>
              <a:off x="252419" y="2022708"/>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pic>
        <p:nvPicPr>
          <p:cNvPr id="332" name="Google Shape;332;p28"/>
          <p:cNvPicPr preferRelativeResize="0"/>
          <p:nvPr/>
        </p:nvPicPr>
        <p:blipFill rotWithShape="1">
          <a:blip r:embed="rId8">
            <a:alphaModFix/>
          </a:blip>
          <a:srcRect/>
          <a:stretch/>
        </p:blipFill>
        <p:spPr>
          <a:xfrm>
            <a:off x="5065918" y="1544530"/>
            <a:ext cx="3411123" cy="1819275"/>
          </a:xfrm>
          <a:prstGeom prst="rect">
            <a:avLst/>
          </a:prstGeom>
          <a:noFill/>
          <a:ln>
            <a:noFill/>
          </a:ln>
        </p:spPr>
      </p:pic>
      <p:pic>
        <p:nvPicPr>
          <p:cNvPr id="333" name="Google Shape;333;p28"/>
          <p:cNvPicPr preferRelativeResize="0"/>
          <p:nvPr/>
        </p:nvPicPr>
        <p:blipFill rotWithShape="1">
          <a:blip r:embed="rId9">
            <a:alphaModFix/>
          </a:blip>
          <a:srcRect/>
          <a:stretch/>
        </p:blipFill>
        <p:spPr>
          <a:xfrm>
            <a:off x="5209628" y="3324218"/>
            <a:ext cx="3225092" cy="1819282"/>
          </a:xfrm>
          <a:prstGeom prst="rect">
            <a:avLst/>
          </a:prstGeom>
          <a:noFill/>
          <a:ln>
            <a:noFill/>
          </a:ln>
        </p:spPr>
      </p:pic>
      <p:sp>
        <p:nvSpPr>
          <p:cNvPr id="334" name="Google Shape;334;p28"/>
          <p:cNvSpPr txBox="1"/>
          <p:nvPr/>
        </p:nvSpPr>
        <p:spPr>
          <a:xfrm>
            <a:off x="2306600" y="1672000"/>
            <a:ext cx="2569200" cy="31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10"/>
              </a:rPr>
              <a:t>NSL-KDD Dataset</a:t>
            </a:r>
            <a:endParaRPr sz="1600">
              <a:latin typeface="Calibri"/>
              <a:ea typeface="Calibri"/>
              <a:cs typeface="Calibri"/>
              <a:sym typeface="Calibri"/>
            </a:endParaRPr>
          </a:p>
        </p:txBody>
      </p:sp>
      <p:sp>
        <p:nvSpPr>
          <p:cNvPr id="335" name="Google Shape;335;p28">
            <a:hlinkClick r:id="rId11"/>
          </p:cNvPr>
          <p:cNvSpPr txBox="1"/>
          <p:nvPr/>
        </p:nvSpPr>
        <p:spPr>
          <a:xfrm>
            <a:off x="9670050" y="2917625"/>
            <a:ext cx="27012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336" name="Google Shape;336;p28"/>
          <p:cNvSpPr txBox="1"/>
          <p:nvPr/>
        </p:nvSpPr>
        <p:spPr>
          <a:xfrm>
            <a:off x="2306600" y="3140500"/>
            <a:ext cx="1919100" cy="722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u="sng">
                <a:solidFill>
                  <a:schemeClr val="hlink"/>
                </a:solidFill>
                <a:hlinkClick r:id="rId11"/>
              </a:rPr>
              <a:t>WSN-DS</a:t>
            </a:r>
            <a:endParaRPr sz="1500"/>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9"/>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342" name="Google Shape;342;p29"/>
          <p:cNvGrpSpPr/>
          <p:nvPr/>
        </p:nvGrpSpPr>
        <p:grpSpPr>
          <a:xfrm>
            <a:off x="2804007" y="212048"/>
            <a:ext cx="471660" cy="53794"/>
            <a:chOff x="1413687" y="142674"/>
            <a:chExt cx="237795" cy="36195"/>
          </a:xfrm>
        </p:grpSpPr>
        <p:sp>
          <p:nvSpPr>
            <p:cNvPr id="343" name="Google Shape;343;p29"/>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44" name="Google Shape;344;p29"/>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45" name="Google Shape;345;p29"/>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46" name="Google Shape;346;p29"/>
            <p:cNvSpPr/>
            <p:nvPr/>
          </p:nvSpPr>
          <p:spPr>
            <a:xfrm>
              <a:off x="1564893"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47" name="Google Shape;347;p29"/>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48" name="Google Shape;348;p29"/>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49" name="Google Shape;349;p29"/>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350" name="Google Shape;350;p29"/>
          <p:cNvGrpSpPr/>
          <p:nvPr/>
        </p:nvGrpSpPr>
        <p:grpSpPr>
          <a:xfrm>
            <a:off x="5560332" y="212048"/>
            <a:ext cx="171747" cy="53794"/>
            <a:chOff x="2803334" y="142674"/>
            <a:chExt cx="86589" cy="36195"/>
          </a:xfrm>
        </p:grpSpPr>
        <p:sp>
          <p:nvSpPr>
            <p:cNvPr id="351" name="Google Shape;351;p29"/>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52" name="Google Shape;352;p29"/>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53" name="Google Shape;353;p29"/>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354" name="Google Shape;354;p29"/>
          <p:cNvGrpSpPr/>
          <p:nvPr/>
        </p:nvGrpSpPr>
        <p:grpSpPr>
          <a:xfrm>
            <a:off x="8027927" y="212048"/>
            <a:ext cx="171747" cy="53794"/>
            <a:chOff x="4047413" y="142674"/>
            <a:chExt cx="86589" cy="36195"/>
          </a:xfrm>
        </p:grpSpPr>
        <p:sp>
          <p:nvSpPr>
            <p:cNvPr id="355" name="Google Shape;355;p29"/>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56" name="Google Shape;356;p29"/>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57" name="Google Shape;357;p29"/>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358" name="Google Shape;358;p29"/>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59" name="Google Shape;359;p29"/>
          <p:cNvSpPr txBox="1"/>
          <p:nvPr/>
        </p:nvSpPr>
        <p:spPr>
          <a:xfrm>
            <a:off x="143583" y="614252"/>
            <a:ext cx="4730700" cy="4008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400" b="1">
                <a:solidFill>
                  <a:srgbClr val="132C68"/>
                </a:solidFill>
                <a:latin typeface="Helvetica Neue"/>
                <a:ea typeface="Helvetica Neue"/>
                <a:cs typeface="Helvetica Neue"/>
                <a:sym typeface="Helvetica Neue"/>
              </a:rPr>
              <a:t>Dataset Description(Cont.)</a:t>
            </a:r>
            <a:endParaRPr sz="2400" b="1">
              <a:solidFill>
                <a:schemeClr val="dk1"/>
              </a:solidFill>
              <a:latin typeface="Helvetica Neue"/>
              <a:ea typeface="Helvetica Neue"/>
              <a:cs typeface="Helvetica Neue"/>
              <a:sym typeface="Helvetica Neue"/>
            </a:endParaRPr>
          </a:p>
        </p:txBody>
      </p:sp>
      <p:grpSp>
        <p:nvGrpSpPr>
          <p:cNvPr id="360" name="Google Shape;360;p29"/>
          <p:cNvGrpSpPr/>
          <p:nvPr/>
        </p:nvGrpSpPr>
        <p:grpSpPr>
          <a:xfrm>
            <a:off x="561838" y="1669513"/>
            <a:ext cx="201521" cy="207629"/>
            <a:chOff x="176504" y="1108841"/>
            <a:chExt cx="101600" cy="139701"/>
          </a:xfrm>
        </p:grpSpPr>
        <p:pic>
          <p:nvPicPr>
            <p:cNvPr id="361" name="Google Shape;361;p29"/>
            <p:cNvPicPr preferRelativeResize="0"/>
            <p:nvPr/>
          </p:nvPicPr>
          <p:blipFill rotWithShape="1">
            <a:blip r:embed="rId6">
              <a:alphaModFix/>
            </a:blip>
            <a:srcRect/>
            <a:stretch/>
          </p:blipFill>
          <p:spPr>
            <a:xfrm>
              <a:off x="176504" y="1108841"/>
              <a:ext cx="101219" cy="139175"/>
            </a:xfrm>
            <a:prstGeom prst="rect">
              <a:avLst/>
            </a:prstGeom>
            <a:noFill/>
            <a:ln>
              <a:noFill/>
            </a:ln>
          </p:spPr>
        </p:pic>
        <p:sp>
          <p:nvSpPr>
            <p:cNvPr id="362" name="Google Shape;362;p29"/>
            <p:cNvSpPr/>
            <p:nvPr/>
          </p:nvSpPr>
          <p:spPr>
            <a:xfrm>
              <a:off x="176504" y="1108842"/>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63" name="Google Shape;363;p29"/>
            <p:cNvSpPr/>
            <p:nvPr/>
          </p:nvSpPr>
          <p:spPr>
            <a:xfrm>
              <a:off x="189156" y="1127820"/>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64" name="Google Shape;364;p29"/>
            <p:cNvSpPr/>
            <p:nvPr/>
          </p:nvSpPr>
          <p:spPr>
            <a:xfrm>
              <a:off x="201809" y="1146798"/>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65" name="Google Shape;365;p29"/>
            <p:cNvSpPr/>
            <p:nvPr/>
          </p:nvSpPr>
          <p:spPr>
            <a:xfrm>
              <a:off x="189156" y="1178429"/>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366" name="Google Shape;366;p29"/>
            <p:cNvPicPr preferRelativeResize="0"/>
            <p:nvPr/>
          </p:nvPicPr>
          <p:blipFill rotWithShape="1">
            <a:blip r:embed="rId7">
              <a:alphaModFix/>
            </a:blip>
            <a:srcRect/>
            <a:stretch/>
          </p:blipFill>
          <p:spPr>
            <a:xfrm>
              <a:off x="233440" y="1175265"/>
              <a:ext cx="31635" cy="44283"/>
            </a:xfrm>
            <a:prstGeom prst="rect">
              <a:avLst/>
            </a:prstGeom>
            <a:noFill/>
            <a:ln>
              <a:noFill/>
            </a:ln>
          </p:spPr>
        </p:pic>
        <p:sp>
          <p:nvSpPr>
            <p:cNvPr id="367" name="Google Shape;367;p29"/>
            <p:cNvSpPr/>
            <p:nvPr/>
          </p:nvSpPr>
          <p:spPr>
            <a:xfrm>
              <a:off x="233440" y="1229038"/>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68" name="Google Shape;368;p29"/>
            <p:cNvSpPr/>
            <p:nvPr/>
          </p:nvSpPr>
          <p:spPr>
            <a:xfrm>
              <a:off x="252419" y="1108842"/>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69" name="Google Shape;369;p29"/>
          <p:cNvSpPr txBox="1"/>
          <p:nvPr/>
        </p:nvSpPr>
        <p:spPr>
          <a:xfrm>
            <a:off x="381000" y="1110875"/>
            <a:ext cx="8336400" cy="2170800"/>
          </a:xfrm>
          <a:prstGeom prst="rect">
            <a:avLst/>
          </a:prstGeom>
          <a:noFill/>
          <a:ln>
            <a:noFill/>
          </a:ln>
        </p:spPr>
        <p:txBody>
          <a:bodyPr spcFirstLastPara="1" wrap="square" lIns="0" tIns="21900" rIns="0" bIns="0" anchor="t" anchorCtr="0">
            <a:spAutoFit/>
          </a:bodyPr>
          <a:lstStyle/>
          <a:p>
            <a:pPr marL="114300" marR="0" lvl="0" indent="0" algn="l" rtl="0">
              <a:spcBef>
                <a:spcPts val="0"/>
              </a:spcBef>
              <a:spcAft>
                <a:spcPts val="0"/>
              </a:spcAft>
              <a:buNone/>
            </a:pPr>
            <a:endParaRPr sz="1600" b="1" dirty="0">
              <a:solidFill>
                <a:srgbClr val="132C68"/>
              </a:solidFill>
            </a:endParaRPr>
          </a:p>
          <a:p>
            <a:pPr marL="0" marR="0" lvl="0" indent="0" algn="l" rtl="0">
              <a:spcBef>
                <a:spcPts val="0"/>
              </a:spcBef>
              <a:spcAft>
                <a:spcPts val="0"/>
              </a:spcAft>
              <a:buNone/>
            </a:pPr>
            <a:r>
              <a:rPr lang="en" sz="1600" b="1" dirty="0">
                <a:solidFill>
                  <a:srgbClr val="132C68"/>
                </a:solidFill>
              </a:rPr>
              <a:t>           </a:t>
            </a:r>
            <a:endParaRPr sz="1600" b="1" dirty="0">
              <a:solidFill>
                <a:srgbClr val="132C68"/>
              </a:solidFill>
            </a:endParaRPr>
          </a:p>
          <a:p>
            <a:pPr marL="0" marR="0" lvl="0" indent="0" algn="l" rtl="0">
              <a:spcBef>
                <a:spcPts val="0"/>
              </a:spcBef>
              <a:spcAft>
                <a:spcPts val="0"/>
              </a:spcAft>
              <a:buNone/>
            </a:pPr>
            <a:r>
              <a:rPr lang="en" sz="1600" b="1" dirty="0">
                <a:solidFill>
                  <a:srgbClr val="132C68"/>
                </a:solidFill>
              </a:rPr>
              <a:t>          </a:t>
            </a:r>
            <a:r>
              <a:rPr lang="en" sz="1600" b="1" dirty="0">
                <a:solidFill>
                  <a:srgbClr val="132C68"/>
                </a:solidFill>
                <a:latin typeface="Arial"/>
                <a:ea typeface="Arial"/>
                <a:cs typeface="Arial"/>
                <a:sym typeface="Arial"/>
              </a:rPr>
              <a:t>NF-TON-IOT </a:t>
            </a:r>
            <a:endParaRPr sz="1600" b="1" dirty="0">
              <a:solidFill>
                <a:srgbClr val="132C68"/>
              </a:solidFill>
              <a:latin typeface="Arial"/>
              <a:ea typeface="Arial"/>
              <a:cs typeface="Arial"/>
              <a:sym typeface="Arial"/>
            </a:endParaRPr>
          </a:p>
          <a:p>
            <a:pPr marL="0" marR="0" lvl="0" indent="0" algn="l" rtl="0">
              <a:spcBef>
                <a:spcPts val="0"/>
              </a:spcBef>
              <a:spcAft>
                <a:spcPts val="0"/>
              </a:spcAft>
              <a:buNone/>
            </a:pPr>
            <a:endParaRPr sz="1600" b="1" dirty="0">
              <a:solidFill>
                <a:srgbClr val="132C68"/>
              </a:solidFill>
            </a:endParaRPr>
          </a:p>
          <a:p>
            <a:pPr marL="622300" marR="88900" lvl="0" indent="-209550" algn="l" rtl="0">
              <a:lnSpc>
                <a:spcPct val="101499"/>
              </a:lnSpc>
              <a:spcBef>
                <a:spcPts val="1200"/>
              </a:spcBef>
              <a:spcAft>
                <a:spcPts val="0"/>
              </a:spcAft>
              <a:buClr>
                <a:srgbClr val="132C68"/>
              </a:buClr>
              <a:buSzPts val="1300"/>
              <a:buFont typeface="Times New Roman"/>
              <a:buChar char="•"/>
            </a:pPr>
            <a:r>
              <a:rPr lang="en" sz="1300" dirty="0">
                <a:solidFill>
                  <a:srgbClr val="132C68"/>
                </a:solidFill>
                <a:latin typeface="Times New Roman"/>
                <a:ea typeface="Times New Roman"/>
                <a:cs typeface="Times New Roman"/>
                <a:sym typeface="Times New Roman"/>
              </a:rPr>
              <a:t>The NF-TON IoT dataset (Network Flow TON_IoT) is a comprehensive dataset designed specifically for research in cybersecurity within IoT environments. It contains network traffic data generated from an IoT testbed and captures a wide range of normal and malicious activities.</a:t>
            </a:r>
            <a:endParaRPr sz="1300" dirty="0">
              <a:solidFill>
                <a:srgbClr val="132C68"/>
              </a:solidFill>
              <a:latin typeface="Times New Roman"/>
              <a:ea typeface="Times New Roman"/>
              <a:cs typeface="Times New Roman"/>
              <a:sym typeface="Times New Roman"/>
            </a:endParaRPr>
          </a:p>
          <a:p>
            <a:pPr marL="381000" marR="88900" lvl="0" indent="0" algn="l" rtl="0">
              <a:lnSpc>
                <a:spcPct val="101499"/>
              </a:lnSpc>
              <a:spcBef>
                <a:spcPts val="1200"/>
              </a:spcBef>
              <a:spcAft>
                <a:spcPts val="0"/>
              </a:spcAft>
              <a:buNone/>
            </a:pPr>
            <a:endParaRPr sz="1600" dirty="0">
              <a:solidFill>
                <a:schemeClr val="dk1"/>
              </a:solidFill>
              <a:latin typeface="Helvetica Neue"/>
              <a:ea typeface="Helvetica Neue"/>
              <a:cs typeface="Helvetica Neue"/>
              <a:sym typeface="Helvetica Neue"/>
            </a:endParaRPr>
          </a:p>
        </p:txBody>
      </p:sp>
      <p:pic>
        <p:nvPicPr>
          <p:cNvPr id="370" name="Google Shape;370;p29"/>
          <p:cNvPicPr preferRelativeResize="0"/>
          <p:nvPr/>
        </p:nvPicPr>
        <p:blipFill>
          <a:blip r:embed="rId8">
            <a:alphaModFix/>
          </a:blip>
          <a:stretch>
            <a:fillRect/>
          </a:stretch>
        </p:blipFill>
        <p:spPr>
          <a:xfrm>
            <a:off x="2778918" y="2900903"/>
            <a:ext cx="3252368" cy="2171214"/>
          </a:xfrm>
          <a:prstGeom prst="rect">
            <a:avLst/>
          </a:prstGeom>
          <a:noFill/>
          <a:ln>
            <a:noFill/>
          </a:ln>
        </p:spPr>
      </p:pic>
      <p:sp>
        <p:nvSpPr>
          <p:cNvPr id="371" name="Google Shape;371;p29"/>
          <p:cNvSpPr txBox="1"/>
          <p:nvPr/>
        </p:nvSpPr>
        <p:spPr>
          <a:xfrm>
            <a:off x="2305975" y="1533663"/>
            <a:ext cx="2686800" cy="40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9"/>
              </a:rPr>
              <a:t>NF-TON-IOT </a:t>
            </a:r>
            <a:r>
              <a:rPr lang="en" u="sng">
                <a:solidFill>
                  <a:schemeClr val="hlink"/>
                </a:solidFill>
                <a:latin typeface="Calibri"/>
                <a:ea typeface="Calibri"/>
                <a:cs typeface="Calibri"/>
                <a:sym typeface="Calibri"/>
                <a:hlinkClick r:id="rId9"/>
              </a:rPr>
              <a:t>Dataset</a:t>
            </a:r>
            <a:endParaRPr>
              <a:latin typeface="Calibri"/>
              <a:ea typeface="Calibri"/>
              <a:cs typeface="Calibri"/>
              <a:sym typeface="Calibri"/>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0"/>
          <p:cNvSpPr/>
          <p:nvPr/>
        </p:nvSpPr>
        <p:spPr>
          <a:xfrm>
            <a:off x="188925" y="533225"/>
            <a:ext cx="4534200" cy="494100"/>
          </a:xfrm>
          <a:prstGeom prst="rect">
            <a:avLst/>
          </a:prstGeom>
          <a:noFill/>
          <a:ln>
            <a:noFill/>
          </a:ln>
        </p:spPr>
        <p:txBody>
          <a:bodyPr spcFirstLastPara="1" wrap="square" lIns="166175" tIns="83075" rIns="166175" bIns="83075" anchor="t" anchorCtr="0">
            <a:noAutofit/>
          </a:bodyPr>
          <a:lstStyle/>
          <a:p>
            <a:pPr marL="25400" marR="0" lvl="0" indent="0" algn="l" rtl="0">
              <a:lnSpc>
                <a:spcPct val="100000"/>
              </a:lnSpc>
              <a:spcBef>
                <a:spcPts val="0"/>
              </a:spcBef>
              <a:spcAft>
                <a:spcPts val="0"/>
              </a:spcAft>
              <a:buNone/>
            </a:pPr>
            <a:r>
              <a:rPr lang="en" sz="2700" b="1">
                <a:solidFill>
                  <a:srgbClr val="132C68"/>
                </a:solidFill>
                <a:latin typeface="Helvetica Neue"/>
                <a:ea typeface="Helvetica Neue"/>
                <a:cs typeface="Helvetica Neue"/>
                <a:sym typeface="Helvetica Neue"/>
              </a:rPr>
              <a:t>Dataset Generation</a:t>
            </a:r>
            <a:endParaRPr sz="2700" b="1">
              <a:solidFill>
                <a:schemeClr val="dk1"/>
              </a:solidFill>
              <a:latin typeface="Helvetica Neue"/>
              <a:ea typeface="Helvetica Neue"/>
              <a:cs typeface="Helvetica Neue"/>
              <a:sym typeface="Helvetica Neue"/>
            </a:endParaRPr>
          </a:p>
        </p:txBody>
      </p:sp>
      <p:sp>
        <p:nvSpPr>
          <p:cNvPr id="377" name="Google Shape;377;p30"/>
          <p:cNvSpPr/>
          <p:nvPr/>
        </p:nvSpPr>
        <p:spPr>
          <a:xfrm>
            <a:off x="340066" y="1098629"/>
            <a:ext cx="8161587" cy="1257931"/>
          </a:xfrm>
          <a:prstGeom prst="rect">
            <a:avLst/>
          </a:prstGeom>
          <a:noFill/>
          <a:ln>
            <a:noFill/>
          </a:ln>
        </p:spPr>
        <p:txBody>
          <a:bodyPr spcFirstLastPara="1" wrap="square" lIns="166175" tIns="83075" rIns="166175" bIns="83075" anchor="t" anchorCtr="0">
            <a:noAutofit/>
          </a:bodyPr>
          <a:lstStyle/>
          <a:p>
            <a:pPr marL="0" marR="0" lvl="0" indent="0" algn="l" rtl="0">
              <a:spcBef>
                <a:spcPts val="0"/>
              </a:spcBef>
              <a:spcAft>
                <a:spcPts val="0"/>
              </a:spcAft>
              <a:buNone/>
            </a:pPr>
            <a:r>
              <a:rPr lang="en" sz="1800" b="1">
                <a:solidFill>
                  <a:srgbClr val="132C68"/>
                </a:solidFill>
                <a:latin typeface="Arial"/>
                <a:ea typeface="Arial"/>
                <a:cs typeface="Arial"/>
                <a:sym typeface="Arial"/>
              </a:rPr>
              <a:t>WGAN</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GAN consists of two neural networks known as the generator (ζ)and the discriminator/critic (ϑ) . Wasserstein (Earth Mover’s) Distance used with GAN to increase the dataset .</a:t>
            </a:r>
            <a:endParaRPr sz="1800">
              <a:solidFill>
                <a:schemeClr val="dk2"/>
              </a:solidFill>
              <a:latin typeface="Times New Roman"/>
              <a:ea typeface="Times New Roman"/>
              <a:cs typeface="Times New Roman"/>
              <a:sym typeface="Times New Roman"/>
            </a:endParaRPr>
          </a:p>
        </p:txBody>
      </p:sp>
      <p:pic>
        <p:nvPicPr>
          <p:cNvPr id="378" name="Google Shape;378;p30"/>
          <p:cNvPicPr preferRelativeResize="0"/>
          <p:nvPr/>
        </p:nvPicPr>
        <p:blipFill rotWithShape="1">
          <a:blip r:embed="rId3">
            <a:alphaModFix/>
          </a:blip>
          <a:srcRect/>
          <a:stretch/>
        </p:blipFill>
        <p:spPr>
          <a:xfrm>
            <a:off x="484403" y="3163133"/>
            <a:ext cx="3713580" cy="1428844"/>
          </a:xfrm>
          <a:prstGeom prst="rect">
            <a:avLst/>
          </a:prstGeom>
          <a:noFill/>
          <a:ln>
            <a:noFill/>
          </a:ln>
        </p:spPr>
      </p:pic>
      <p:pic>
        <p:nvPicPr>
          <p:cNvPr id="379" name="Google Shape;379;p30"/>
          <p:cNvPicPr preferRelativeResize="0"/>
          <p:nvPr/>
        </p:nvPicPr>
        <p:blipFill rotWithShape="1">
          <a:blip r:embed="rId4">
            <a:alphaModFix/>
          </a:blip>
          <a:srcRect/>
          <a:stretch/>
        </p:blipFill>
        <p:spPr>
          <a:xfrm>
            <a:off x="4827325" y="2356549"/>
            <a:ext cx="3376929" cy="2480225"/>
          </a:xfrm>
          <a:prstGeom prst="rect">
            <a:avLst/>
          </a:prstGeom>
          <a:noFill/>
          <a:ln>
            <a:noFill/>
          </a:ln>
        </p:spPr>
      </p:pic>
      <p:sp>
        <p:nvSpPr>
          <p:cNvPr id="380" name="Google Shape;380;p30"/>
          <p:cNvSpPr/>
          <p:nvPr/>
        </p:nvSpPr>
        <p:spPr>
          <a:xfrm>
            <a:off x="203753" y="2427880"/>
            <a:ext cx="4534200" cy="823500"/>
          </a:xfrm>
          <a:prstGeom prst="rect">
            <a:avLst/>
          </a:prstGeom>
          <a:noFill/>
          <a:ln>
            <a:noFill/>
          </a:ln>
        </p:spPr>
        <p:txBody>
          <a:bodyPr spcFirstLastPara="1" wrap="square" lIns="166175" tIns="83075" rIns="166175" bIns="83075" anchor="t" anchorCtr="0">
            <a:noAutofit/>
          </a:bodyPr>
          <a:lstStyle/>
          <a:p>
            <a:pPr marL="0" marR="0" lvl="0" indent="0" algn="l" rtl="0">
              <a:spcBef>
                <a:spcPts val="0"/>
              </a:spcBef>
              <a:spcAft>
                <a:spcPts val="0"/>
              </a:spcAft>
              <a:buNone/>
            </a:pPr>
            <a:r>
              <a:rPr lang="en" sz="1800">
                <a:solidFill>
                  <a:schemeClr val="dk1"/>
                </a:solidFill>
                <a:latin typeface="Times New Roman"/>
                <a:ea typeface="Times New Roman"/>
                <a:cs typeface="Times New Roman"/>
                <a:sym typeface="Times New Roman"/>
              </a:rPr>
              <a:t>  </a:t>
            </a:r>
            <a:r>
              <a:rPr lang="en" sz="1800">
                <a:solidFill>
                  <a:schemeClr val="dk2"/>
                </a:solidFill>
                <a:latin typeface="Times New Roman"/>
                <a:ea typeface="Times New Roman"/>
                <a:cs typeface="Times New Roman"/>
                <a:sym typeface="Times New Roman"/>
              </a:rPr>
              <a:t>Wasserstein Distance      W(p,q)=∫​∣Fp​(y)−Fq​(y)∣dy</a:t>
            </a:r>
            <a:endParaRPr sz="1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 sz="1800">
                <a:solidFill>
                  <a:schemeClr val="dk1"/>
                </a:solidFill>
                <a:latin typeface="Calibri"/>
                <a:ea typeface="Calibri"/>
                <a:cs typeface="Calibri"/>
                <a:sym typeface="Calibri"/>
              </a:rPr>
              <a:t> </a:t>
            </a:r>
            <a:endParaRPr sz="2500"/>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1" name="Google Shape;381;p30" descr="data:image/gif;base64,R0lGODlhAQABAIAAAP///wAAACH5BAEAAAAALAAAAAABAAEAAAICRAEAOw=="/>
          <p:cNvSpPr/>
          <p:nvPr/>
        </p:nvSpPr>
        <p:spPr>
          <a:xfrm>
            <a:off x="308579" y="-408178"/>
            <a:ext cx="604562" cy="453007"/>
          </a:xfrm>
          <a:prstGeom prst="rect">
            <a:avLst/>
          </a:prstGeom>
          <a:noFill/>
          <a:ln>
            <a:noFill/>
          </a:ln>
        </p:spPr>
        <p:txBody>
          <a:bodyPr spcFirstLastPara="1" wrap="square" lIns="166175" tIns="83075" rIns="166175" bIns="83075"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82" name="Google Shape;382;p30"/>
          <p:cNvSpPr txBox="1"/>
          <p:nvPr/>
        </p:nvSpPr>
        <p:spPr>
          <a:xfrm>
            <a:off x="5049025" y="4482350"/>
            <a:ext cx="3633300" cy="3078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latin typeface="Times New Roman"/>
                <a:ea typeface="Times New Roman"/>
                <a:cs typeface="Times New Roman"/>
                <a:sym typeface="Times New Roman"/>
              </a:rPr>
              <a:t>Table 2: Descriptions of Symbols in Loss Equations</a:t>
            </a:r>
            <a:endParaRPr sz="800">
              <a:latin typeface="Times New Roman"/>
              <a:ea typeface="Times New Roman"/>
              <a:cs typeface="Times New Roman"/>
              <a:sym typeface="Times New Roman"/>
            </a:endParaRPr>
          </a:p>
        </p:txBody>
      </p:sp>
      <p:sp>
        <p:nvSpPr>
          <p:cNvPr id="383" name="Google Shape;383;p30"/>
          <p:cNvSpPr txBox="1"/>
          <p:nvPr/>
        </p:nvSpPr>
        <p:spPr>
          <a:xfrm>
            <a:off x="4950325" y="4519850"/>
            <a:ext cx="3836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Calibri"/>
                <a:ea typeface="Calibri"/>
                <a:cs typeface="Calibri"/>
                <a:sym typeface="Calibri"/>
              </a:rPr>
              <a:t>    </a:t>
            </a:r>
            <a:endParaRPr sz="1800">
              <a:latin typeface="Calibri"/>
              <a:ea typeface="Calibri"/>
              <a:cs typeface="Calibri"/>
              <a:sym typeface="Calibri"/>
            </a:endParaRPr>
          </a:p>
        </p:txBody>
      </p:sp>
      <p:sp>
        <p:nvSpPr>
          <p:cNvPr id="384" name="Google Shape;384;p30"/>
          <p:cNvSpPr txBox="1"/>
          <p:nvPr/>
        </p:nvSpPr>
        <p:spPr>
          <a:xfrm>
            <a:off x="4890375" y="4519850"/>
            <a:ext cx="199800" cy="2328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385" name="Google Shape;385;p30"/>
          <p:cNvSpPr txBox="1"/>
          <p:nvPr/>
        </p:nvSpPr>
        <p:spPr>
          <a:xfrm>
            <a:off x="639375" y="4651925"/>
            <a:ext cx="3633300" cy="338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dk2"/>
                </a:solidFill>
                <a:latin typeface="Times New Roman"/>
                <a:ea typeface="Times New Roman"/>
                <a:cs typeface="Times New Roman"/>
                <a:sym typeface="Times New Roman"/>
              </a:rPr>
              <a:t>WGAN</a:t>
            </a:r>
            <a:endParaRPr sz="10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1"/>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391" name="Google Shape;391;p31"/>
          <p:cNvGrpSpPr/>
          <p:nvPr/>
        </p:nvGrpSpPr>
        <p:grpSpPr>
          <a:xfrm>
            <a:off x="2804007" y="212048"/>
            <a:ext cx="471660" cy="53794"/>
            <a:chOff x="1413687" y="142674"/>
            <a:chExt cx="237795" cy="36195"/>
          </a:xfrm>
        </p:grpSpPr>
        <p:sp>
          <p:nvSpPr>
            <p:cNvPr id="392" name="Google Shape;392;p31"/>
            <p:cNvSpPr/>
            <p:nvPr/>
          </p:nvSpPr>
          <p:spPr>
            <a:xfrm>
              <a:off x="1413687"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93" name="Google Shape;393;p31"/>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94" name="Google Shape;394;p31"/>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95" name="Google Shape;395;p31"/>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96" name="Google Shape;396;p31"/>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397" name="Google Shape;397;p31"/>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398" name="Google Shape;398;p31"/>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399" name="Google Shape;399;p31"/>
          <p:cNvGrpSpPr/>
          <p:nvPr/>
        </p:nvGrpSpPr>
        <p:grpSpPr>
          <a:xfrm>
            <a:off x="5560332" y="212048"/>
            <a:ext cx="171747" cy="53794"/>
            <a:chOff x="2803334" y="142674"/>
            <a:chExt cx="86589" cy="36195"/>
          </a:xfrm>
        </p:grpSpPr>
        <p:sp>
          <p:nvSpPr>
            <p:cNvPr id="400" name="Google Shape;400;p31"/>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01" name="Google Shape;401;p31"/>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02" name="Google Shape;402;p31"/>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403" name="Google Shape;403;p31"/>
          <p:cNvGrpSpPr/>
          <p:nvPr/>
        </p:nvGrpSpPr>
        <p:grpSpPr>
          <a:xfrm>
            <a:off x="8027927" y="212048"/>
            <a:ext cx="171747" cy="53794"/>
            <a:chOff x="4047413" y="142674"/>
            <a:chExt cx="86589" cy="36195"/>
          </a:xfrm>
        </p:grpSpPr>
        <p:sp>
          <p:nvSpPr>
            <p:cNvPr id="404" name="Google Shape;404;p31"/>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05" name="Google Shape;405;p31"/>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06" name="Google Shape;406;p31"/>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407" name="Google Shape;407;p31"/>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08" name="Google Shape;408;p31"/>
          <p:cNvSpPr txBox="1"/>
          <p:nvPr/>
        </p:nvSpPr>
        <p:spPr>
          <a:xfrm>
            <a:off x="94419" y="2924964"/>
            <a:ext cx="8951400" cy="416100"/>
          </a:xfrm>
          <a:prstGeom prst="rect">
            <a:avLst/>
          </a:prstGeom>
          <a:noFill/>
          <a:ln>
            <a:noFill/>
          </a:ln>
        </p:spPr>
        <p:txBody>
          <a:bodyPr spcFirstLastPara="1" wrap="square" lIns="0" tIns="31125" rIns="0" bIns="0" anchor="t" anchorCtr="0">
            <a:spAutoFit/>
          </a:bodyPr>
          <a:lstStyle/>
          <a:p>
            <a:pPr marL="203200" marR="0" lvl="0" indent="0" algn="l" rtl="0">
              <a:lnSpc>
                <a:spcPct val="100000"/>
              </a:lnSpc>
              <a:spcBef>
                <a:spcPts val="0"/>
              </a:spcBef>
              <a:spcAft>
                <a:spcPts val="0"/>
              </a:spcAft>
              <a:buNone/>
            </a:pPr>
            <a:r>
              <a:rPr lang="en" sz="2500" b="1">
                <a:solidFill>
                  <a:srgbClr val="132C68"/>
                </a:solidFill>
                <a:latin typeface="Helvetica Neue"/>
                <a:ea typeface="Helvetica Neue"/>
                <a:cs typeface="Helvetica Neue"/>
                <a:sym typeface="Helvetica Neue"/>
              </a:rPr>
              <a:t>  </a:t>
            </a:r>
            <a:r>
              <a:rPr lang="en" sz="2300" b="1">
                <a:solidFill>
                  <a:srgbClr val="132C68"/>
                </a:solidFill>
                <a:latin typeface="Helvetica Neue"/>
                <a:ea typeface="Helvetica Neue"/>
                <a:cs typeface="Helvetica Neue"/>
                <a:sym typeface="Helvetica Neue"/>
              </a:rPr>
              <a:t>ENCODING CATEGORICAL VARIABLE</a:t>
            </a:r>
            <a:endParaRPr sz="2300" b="1">
              <a:solidFill>
                <a:schemeClr val="dk1"/>
              </a:solidFill>
              <a:latin typeface="Helvetica Neue"/>
              <a:ea typeface="Helvetica Neue"/>
              <a:cs typeface="Helvetica Neue"/>
              <a:sym typeface="Helvetica Neue"/>
            </a:endParaRPr>
          </a:p>
        </p:txBody>
      </p:sp>
      <p:pic>
        <p:nvPicPr>
          <p:cNvPr id="409" name="Google Shape;409;p31" descr="One Hot Encoding Layer with TensorFlow ..."/>
          <p:cNvPicPr preferRelativeResize="0"/>
          <p:nvPr/>
        </p:nvPicPr>
        <p:blipFill rotWithShape="1">
          <a:blip r:embed="rId6">
            <a:alphaModFix/>
          </a:blip>
          <a:srcRect/>
          <a:stretch/>
        </p:blipFill>
        <p:spPr>
          <a:xfrm>
            <a:off x="4123118" y="3513295"/>
            <a:ext cx="3624044" cy="1017125"/>
          </a:xfrm>
          <a:prstGeom prst="rect">
            <a:avLst/>
          </a:prstGeom>
          <a:noFill/>
          <a:ln>
            <a:noFill/>
          </a:ln>
        </p:spPr>
      </p:pic>
      <p:sp>
        <p:nvSpPr>
          <p:cNvPr id="410" name="Google Shape;410;p31"/>
          <p:cNvSpPr txBox="1"/>
          <p:nvPr/>
        </p:nvSpPr>
        <p:spPr>
          <a:xfrm>
            <a:off x="368300" y="810675"/>
            <a:ext cx="7071000" cy="538800"/>
          </a:xfrm>
          <a:prstGeom prst="rect">
            <a:avLst/>
          </a:prstGeom>
          <a:noFill/>
          <a:ln>
            <a:noFill/>
          </a:ln>
        </p:spPr>
        <p:txBody>
          <a:bodyPr spcFirstLastPara="1" wrap="square" lIns="91425" tIns="91425" rIns="91425" bIns="91425" anchor="t" anchorCtr="0">
            <a:spAutoFit/>
          </a:bodyPr>
          <a:lstStyle/>
          <a:p>
            <a:pPr marL="203200" lvl="0" indent="0" algn="l" rtl="0">
              <a:spcBef>
                <a:spcPts val="0"/>
              </a:spcBef>
              <a:spcAft>
                <a:spcPts val="0"/>
              </a:spcAft>
              <a:buNone/>
            </a:pPr>
            <a:r>
              <a:rPr lang="en" sz="2300" b="1">
                <a:solidFill>
                  <a:schemeClr val="dk1"/>
                </a:solidFill>
                <a:latin typeface="Helvetica Neue"/>
                <a:ea typeface="Helvetica Neue"/>
                <a:cs typeface="Helvetica Neue"/>
                <a:sym typeface="Helvetica Neue"/>
              </a:rPr>
              <a:t>  </a:t>
            </a:r>
            <a:r>
              <a:rPr lang="en" sz="2300" b="1">
                <a:solidFill>
                  <a:schemeClr val="dk2"/>
                </a:solidFill>
                <a:latin typeface="Helvetica Neue"/>
                <a:ea typeface="Helvetica Neue"/>
                <a:cs typeface="Helvetica Neue"/>
                <a:sym typeface="Helvetica Neue"/>
              </a:rPr>
              <a:t>DATA CLEANING</a:t>
            </a:r>
            <a:r>
              <a:rPr lang="en" sz="2300" b="1">
                <a:solidFill>
                  <a:schemeClr val="dk1"/>
                </a:solidFill>
                <a:latin typeface="Helvetica Neue"/>
                <a:ea typeface="Helvetica Neue"/>
                <a:cs typeface="Helvetica Neue"/>
                <a:sym typeface="Helvetica Neue"/>
              </a:rPr>
              <a:t> </a:t>
            </a:r>
            <a:endParaRPr sz="2300" b="1">
              <a:solidFill>
                <a:schemeClr val="dk1"/>
              </a:solidFill>
              <a:latin typeface="Helvetica Neue"/>
              <a:ea typeface="Helvetica Neue"/>
              <a:cs typeface="Helvetica Neue"/>
              <a:sym typeface="Helvetica Neue"/>
            </a:endParaRPr>
          </a:p>
        </p:txBody>
      </p:sp>
      <p:sp>
        <p:nvSpPr>
          <p:cNvPr id="411" name="Google Shape;411;p31"/>
          <p:cNvSpPr txBox="1"/>
          <p:nvPr/>
        </p:nvSpPr>
        <p:spPr>
          <a:xfrm>
            <a:off x="414650" y="1638075"/>
            <a:ext cx="3420300" cy="8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a:solidFill>
                  <a:schemeClr val="dk2"/>
                </a:solidFill>
                <a:latin typeface="Times New Roman"/>
                <a:ea typeface="Times New Roman"/>
                <a:cs typeface="Times New Roman"/>
                <a:sym typeface="Times New Roman"/>
              </a:rPr>
              <a:t>Data Cleaning is the process of identifying and fixing incorrect, incomplete, or irrelevant data in a dataset, table, or database</a:t>
            </a:r>
            <a:endParaRPr>
              <a:solidFill>
                <a:schemeClr val="dk2"/>
              </a:solidFill>
              <a:latin typeface="Times New Roman"/>
              <a:ea typeface="Times New Roman"/>
              <a:cs typeface="Times New Roman"/>
              <a:sym typeface="Times New Roman"/>
            </a:endParaRPr>
          </a:p>
        </p:txBody>
      </p:sp>
      <p:sp>
        <p:nvSpPr>
          <p:cNvPr id="412" name="Google Shape;412;p31"/>
          <p:cNvSpPr txBox="1"/>
          <p:nvPr/>
        </p:nvSpPr>
        <p:spPr>
          <a:xfrm>
            <a:off x="368300" y="3623750"/>
            <a:ext cx="3513000" cy="8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50">
                <a:solidFill>
                  <a:schemeClr val="dk2"/>
                </a:solidFill>
                <a:latin typeface="Times New Roman"/>
                <a:ea typeface="Times New Roman"/>
                <a:cs typeface="Times New Roman"/>
                <a:sym typeface="Times New Roman"/>
              </a:rPr>
              <a:t>Categorical Data (Data in string format)</a:t>
            </a:r>
            <a:endParaRPr sz="135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350">
                <a:solidFill>
                  <a:schemeClr val="dk2"/>
                </a:solidFill>
                <a:latin typeface="Times New Roman"/>
                <a:ea typeface="Times New Roman"/>
                <a:cs typeface="Times New Roman"/>
                <a:sym typeface="Times New Roman"/>
              </a:rPr>
              <a:t>so in order to use such columns we first need to convert these columns into binary format.</a:t>
            </a:r>
            <a:endParaRPr sz="1350">
              <a:solidFill>
                <a:schemeClr val="dk2"/>
              </a:solidFill>
              <a:latin typeface="Times New Roman"/>
              <a:ea typeface="Times New Roman"/>
              <a:cs typeface="Times New Roman"/>
              <a:sym typeface="Times New Roman"/>
            </a:endParaRPr>
          </a:p>
        </p:txBody>
      </p:sp>
      <p:pic>
        <p:nvPicPr>
          <p:cNvPr id="413" name="Google Shape;413;p31"/>
          <p:cNvPicPr preferRelativeResize="0"/>
          <p:nvPr/>
        </p:nvPicPr>
        <p:blipFill rotWithShape="1">
          <a:blip r:embed="rId7">
            <a:alphaModFix/>
          </a:blip>
          <a:srcRect l="4852"/>
          <a:stretch/>
        </p:blipFill>
        <p:spPr>
          <a:xfrm>
            <a:off x="4456600" y="679950"/>
            <a:ext cx="2525025" cy="1830900"/>
          </a:xfrm>
          <a:prstGeom prst="rect">
            <a:avLst/>
          </a:prstGeom>
          <a:noFill/>
          <a:ln>
            <a:noFill/>
          </a:ln>
        </p:spPr>
      </p:pic>
      <p:sp>
        <p:nvSpPr>
          <p:cNvPr id="414" name="Google Shape;414;p31"/>
          <p:cNvSpPr txBox="1"/>
          <p:nvPr/>
        </p:nvSpPr>
        <p:spPr>
          <a:xfrm>
            <a:off x="4850100" y="2555675"/>
            <a:ext cx="3633300"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Data Cleaning</a:t>
            </a:r>
            <a:endParaRPr sz="1200">
              <a:solidFill>
                <a:schemeClr val="dk2"/>
              </a:solidFill>
              <a:latin typeface="Times New Roman"/>
              <a:ea typeface="Times New Roman"/>
              <a:cs typeface="Times New Roman"/>
              <a:sym typeface="Times New Roman"/>
            </a:endParaRPr>
          </a:p>
        </p:txBody>
      </p:sp>
      <p:sp>
        <p:nvSpPr>
          <p:cNvPr id="415" name="Google Shape;415;p31"/>
          <p:cNvSpPr txBox="1"/>
          <p:nvPr/>
        </p:nvSpPr>
        <p:spPr>
          <a:xfrm>
            <a:off x="4306675" y="4530413"/>
            <a:ext cx="3633300" cy="3849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2"/>
                </a:solidFill>
                <a:latin typeface="Times New Roman"/>
                <a:ea typeface="Times New Roman"/>
                <a:cs typeface="Times New Roman"/>
                <a:sym typeface="Times New Roman"/>
              </a:rPr>
              <a:t>Categorical encoding</a:t>
            </a:r>
            <a:endParaRPr sz="1300">
              <a:solidFill>
                <a:schemeClr val="dk2"/>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2"/>
          <p:cNvSpPr/>
          <p:nvPr/>
        </p:nvSpPr>
        <p:spPr>
          <a:xfrm>
            <a:off x="97351" y="448377"/>
            <a:ext cx="8010300" cy="457500"/>
          </a:xfrm>
          <a:prstGeom prst="rect">
            <a:avLst/>
          </a:prstGeom>
          <a:noFill/>
          <a:ln>
            <a:noFill/>
          </a:ln>
        </p:spPr>
        <p:txBody>
          <a:bodyPr spcFirstLastPara="1" wrap="square" lIns="166175" tIns="83075" rIns="166175" bIns="83075" anchor="t" anchorCtr="0">
            <a:noAutofit/>
          </a:bodyPr>
          <a:lstStyle/>
          <a:p>
            <a:pPr marL="203200" marR="0" lvl="0" indent="0" algn="l" rtl="0">
              <a:lnSpc>
                <a:spcPct val="100000"/>
              </a:lnSpc>
              <a:spcBef>
                <a:spcPts val="0"/>
              </a:spcBef>
              <a:spcAft>
                <a:spcPts val="0"/>
              </a:spcAft>
              <a:buNone/>
            </a:pPr>
            <a:r>
              <a:rPr lang="en" sz="2500" b="1">
                <a:solidFill>
                  <a:srgbClr val="132C68"/>
                </a:solidFill>
                <a:latin typeface="Helvetica Neue"/>
                <a:ea typeface="Helvetica Neue"/>
                <a:cs typeface="Helvetica Neue"/>
                <a:sym typeface="Helvetica Neue"/>
              </a:rPr>
              <a:t>Wavelet Transform</a:t>
            </a:r>
            <a:endParaRPr sz="2500" b="1">
              <a:solidFill>
                <a:schemeClr val="dk1"/>
              </a:solidFill>
              <a:latin typeface="Helvetica Neue"/>
              <a:ea typeface="Helvetica Neue"/>
              <a:cs typeface="Helvetica Neue"/>
              <a:sym typeface="Helvetica Neue"/>
            </a:endParaRPr>
          </a:p>
        </p:txBody>
      </p:sp>
      <p:sp>
        <p:nvSpPr>
          <p:cNvPr id="421" name="Google Shape;421;p32"/>
          <p:cNvSpPr/>
          <p:nvPr/>
        </p:nvSpPr>
        <p:spPr>
          <a:xfrm>
            <a:off x="491207" y="1044858"/>
            <a:ext cx="8652900" cy="1052100"/>
          </a:xfrm>
          <a:prstGeom prst="rect">
            <a:avLst/>
          </a:prstGeom>
          <a:noFill/>
          <a:ln>
            <a:noFill/>
          </a:ln>
        </p:spPr>
        <p:txBody>
          <a:bodyPr spcFirstLastPara="1" wrap="square" lIns="166175" tIns="83075" rIns="166175" bIns="83075" anchor="t" anchorCtr="0">
            <a:noAutofit/>
          </a:bodyPr>
          <a:lstStyle/>
          <a:p>
            <a:pPr marL="0" marR="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Wavelet transforms are able to decompose signals into both time and </a:t>
            </a:r>
            <a:endParaRPr sz="18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frequency domain.</a:t>
            </a:r>
            <a:endParaRPr sz="2500">
              <a:solidFill>
                <a:schemeClr val="dk2"/>
              </a:solidFill>
              <a:latin typeface="Times New Roman"/>
              <a:ea typeface="Times New Roman"/>
              <a:cs typeface="Times New Roman"/>
              <a:sym typeface="Times New Roman"/>
            </a:endParaRPr>
          </a:p>
          <a:p>
            <a:pPr marL="0" marR="0" lvl="0" indent="0" algn="l" rtl="0">
              <a:spcBef>
                <a:spcPts val="0"/>
              </a:spcBef>
              <a:spcAft>
                <a:spcPts val="0"/>
              </a:spcAft>
              <a:buNone/>
            </a:pPr>
            <a:r>
              <a:rPr lang="en" sz="1800">
                <a:solidFill>
                  <a:schemeClr val="dk2"/>
                </a:solidFill>
                <a:latin typeface="Times New Roman"/>
                <a:ea typeface="Times New Roman"/>
                <a:cs typeface="Times New Roman"/>
                <a:sym typeface="Times New Roman"/>
              </a:rPr>
              <a:t>A family of functions called wavelets are localized in both time and frequency. wavelets are scaled and shifted versions of a Mother wavelet ψ(t</a:t>
            </a:r>
            <a:r>
              <a:rPr lang="en" sz="1800">
                <a:solidFill>
                  <a:schemeClr val="dk2"/>
                </a:solidFill>
                <a:latin typeface="Calibri"/>
                <a:ea typeface="Calibri"/>
                <a:cs typeface="Calibri"/>
                <a:sym typeface="Calibri"/>
              </a:rPr>
              <a:t>).</a:t>
            </a:r>
            <a:r>
              <a:rPr lang="en" sz="1800">
                <a:solidFill>
                  <a:schemeClr val="dk1"/>
                </a:solidFill>
                <a:latin typeface="Calibri"/>
                <a:ea typeface="Calibri"/>
                <a:cs typeface="Calibri"/>
                <a:sym typeface="Calibri"/>
              </a:rPr>
              <a:t> </a:t>
            </a:r>
            <a:endParaRPr sz="2500"/>
          </a:p>
        </p:txBody>
      </p:sp>
      <p:pic>
        <p:nvPicPr>
          <p:cNvPr id="422" name="Google Shape;422;p32"/>
          <p:cNvPicPr preferRelativeResize="0"/>
          <p:nvPr/>
        </p:nvPicPr>
        <p:blipFill>
          <a:blip r:embed="rId3">
            <a:alphaModFix/>
          </a:blip>
          <a:stretch>
            <a:fillRect/>
          </a:stretch>
        </p:blipFill>
        <p:spPr>
          <a:xfrm>
            <a:off x="5117350" y="2299575"/>
            <a:ext cx="3871424" cy="2756400"/>
          </a:xfrm>
          <a:prstGeom prst="rect">
            <a:avLst/>
          </a:prstGeom>
          <a:noFill/>
          <a:ln>
            <a:noFill/>
          </a:ln>
        </p:spPr>
      </p:pic>
      <p:pic>
        <p:nvPicPr>
          <p:cNvPr id="423" name="Google Shape;423;p32" descr="Introduction to Wavelet Transform Introduction"/>
          <p:cNvPicPr preferRelativeResize="0"/>
          <p:nvPr/>
        </p:nvPicPr>
        <p:blipFill rotWithShape="1">
          <a:blip r:embed="rId4">
            <a:alphaModFix/>
          </a:blip>
          <a:srcRect/>
          <a:stretch/>
        </p:blipFill>
        <p:spPr>
          <a:xfrm>
            <a:off x="1085123" y="2502200"/>
            <a:ext cx="3431300" cy="2178025"/>
          </a:xfrm>
          <a:prstGeom prst="rect">
            <a:avLst/>
          </a:prstGeom>
          <a:noFill/>
          <a:ln>
            <a:noFill/>
          </a:ln>
        </p:spPr>
      </p:pic>
      <p:sp>
        <p:nvSpPr>
          <p:cNvPr id="424" name="Google Shape;424;p32"/>
          <p:cNvSpPr txBox="1"/>
          <p:nvPr/>
        </p:nvSpPr>
        <p:spPr>
          <a:xfrm>
            <a:off x="1352150" y="4525825"/>
            <a:ext cx="3633300" cy="4155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solidFill>
                  <a:schemeClr val="dk2"/>
                </a:solidFill>
                <a:latin typeface="Times New Roman"/>
                <a:ea typeface="Times New Roman"/>
                <a:cs typeface="Times New Roman"/>
                <a:sym typeface="Times New Roman"/>
              </a:rPr>
              <a:t> Wavelet Transforms</a:t>
            </a:r>
            <a:endParaRPr sz="1500">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33"/>
          <p:cNvSpPr txBox="1"/>
          <p:nvPr/>
        </p:nvSpPr>
        <p:spPr>
          <a:xfrm>
            <a:off x="228950" y="1256875"/>
            <a:ext cx="4474800" cy="708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Times New Roman"/>
                <a:ea typeface="Times New Roman"/>
                <a:cs typeface="Times New Roman"/>
                <a:sym typeface="Times New Roman"/>
              </a:rPr>
              <a:t>For a record, a signal S(t) can be written as: </a:t>
            </a:r>
            <a:endParaRPr sz="1700">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sz="1700">
                <a:solidFill>
                  <a:schemeClr val="dk2"/>
                </a:solidFill>
                <a:latin typeface="Times New Roman"/>
                <a:ea typeface="Times New Roman"/>
                <a:cs typeface="Times New Roman"/>
                <a:sym typeface="Times New Roman"/>
              </a:rPr>
              <a:t>S(t) = [x1, x2, . . . , xn]</a:t>
            </a:r>
            <a:endParaRPr sz="1300">
              <a:solidFill>
                <a:schemeClr val="dk2"/>
              </a:solidFill>
              <a:latin typeface="Times New Roman"/>
              <a:ea typeface="Times New Roman"/>
              <a:cs typeface="Times New Roman"/>
              <a:sym typeface="Times New Roman"/>
            </a:endParaRPr>
          </a:p>
        </p:txBody>
      </p:sp>
      <p:sp>
        <p:nvSpPr>
          <p:cNvPr id="430" name="Google Shape;430;p33"/>
          <p:cNvSpPr txBox="1"/>
          <p:nvPr/>
        </p:nvSpPr>
        <p:spPr>
          <a:xfrm>
            <a:off x="0" y="579975"/>
            <a:ext cx="7483800" cy="569400"/>
          </a:xfrm>
          <a:prstGeom prst="rect">
            <a:avLst/>
          </a:prstGeom>
          <a:noFill/>
          <a:ln>
            <a:noFill/>
          </a:ln>
        </p:spPr>
        <p:txBody>
          <a:bodyPr spcFirstLastPara="1" wrap="square" lIns="91425" tIns="91425" rIns="91425" bIns="91425" anchor="t" anchorCtr="0">
            <a:spAutoFit/>
          </a:bodyPr>
          <a:lstStyle/>
          <a:p>
            <a:pPr marL="203200" lvl="0" indent="0" algn="l" rtl="0">
              <a:spcBef>
                <a:spcPts val="0"/>
              </a:spcBef>
              <a:spcAft>
                <a:spcPts val="0"/>
              </a:spcAft>
              <a:buNone/>
            </a:pPr>
            <a:r>
              <a:rPr lang="en" sz="2500" b="1">
                <a:solidFill>
                  <a:srgbClr val="132C68"/>
                </a:solidFill>
                <a:latin typeface="Helvetica Neue"/>
                <a:ea typeface="Helvetica Neue"/>
                <a:cs typeface="Helvetica Neue"/>
                <a:sym typeface="Helvetica Neue"/>
              </a:rPr>
              <a:t>Wavelet Transform</a:t>
            </a:r>
            <a:endParaRPr sz="2500" b="1">
              <a:solidFill>
                <a:schemeClr val="dk1"/>
              </a:solidFill>
              <a:latin typeface="Helvetica Neue"/>
              <a:ea typeface="Helvetica Neue"/>
              <a:cs typeface="Helvetica Neue"/>
              <a:sym typeface="Helvetica Neue"/>
            </a:endParaRPr>
          </a:p>
        </p:txBody>
      </p:sp>
      <p:pic>
        <p:nvPicPr>
          <p:cNvPr id="431" name="Google Shape;431;p33"/>
          <p:cNvPicPr preferRelativeResize="0"/>
          <p:nvPr/>
        </p:nvPicPr>
        <p:blipFill>
          <a:blip r:embed="rId3">
            <a:alphaModFix/>
          </a:blip>
          <a:stretch>
            <a:fillRect/>
          </a:stretch>
        </p:blipFill>
        <p:spPr>
          <a:xfrm>
            <a:off x="4800925" y="1413576"/>
            <a:ext cx="4159800" cy="1876549"/>
          </a:xfrm>
          <a:prstGeom prst="rect">
            <a:avLst/>
          </a:prstGeom>
          <a:noFill/>
          <a:ln>
            <a:noFill/>
          </a:ln>
        </p:spPr>
      </p:pic>
      <p:sp>
        <p:nvSpPr>
          <p:cNvPr id="432" name="Google Shape;432;p33"/>
          <p:cNvSpPr txBox="1"/>
          <p:nvPr/>
        </p:nvSpPr>
        <p:spPr>
          <a:xfrm>
            <a:off x="137375" y="2697725"/>
            <a:ext cx="4159800" cy="227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2"/>
                </a:solidFill>
                <a:latin typeface="Times New Roman"/>
                <a:ea typeface="Times New Roman"/>
                <a:cs typeface="Times New Roman"/>
                <a:sym typeface="Times New Roman"/>
              </a:rPr>
              <a:t>The wavelet family is denoted by ‘dbA‘, where A refers to the number of vanishing moments. In our case, we choose the Daubechies wavelet with 4 vanishing moments (i.e., ‘db4‘). A vanishing moment limits the wavelet’s ability to represent polynomial behavior or information in a signal.</a:t>
            </a:r>
            <a:endParaRPr>
              <a:solidFill>
                <a:schemeClr val="dk2"/>
              </a:solidFill>
              <a:latin typeface="Times New Roman"/>
              <a:ea typeface="Times New Roman"/>
              <a:cs typeface="Times New Roman"/>
              <a:sym typeface="Times New Roman"/>
            </a:endParaRPr>
          </a:p>
        </p:txBody>
      </p:sp>
      <p:pic>
        <p:nvPicPr>
          <p:cNvPr id="433" name="Google Shape;433;p33"/>
          <p:cNvPicPr preferRelativeResize="0"/>
          <p:nvPr/>
        </p:nvPicPr>
        <p:blipFill>
          <a:blip r:embed="rId4">
            <a:alphaModFix/>
          </a:blip>
          <a:stretch>
            <a:fillRect/>
          </a:stretch>
        </p:blipFill>
        <p:spPr>
          <a:xfrm>
            <a:off x="4297173" y="3457998"/>
            <a:ext cx="4356244" cy="168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4"/>
          <p:cNvSpPr txBox="1"/>
          <p:nvPr/>
        </p:nvSpPr>
        <p:spPr>
          <a:xfrm>
            <a:off x="0" y="412100"/>
            <a:ext cx="6629100" cy="569400"/>
          </a:xfrm>
          <a:prstGeom prst="rect">
            <a:avLst/>
          </a:prstGeom>
          <a:noFill/>
          <a:ln>
            <a:noFill/>
          </a:ln>
        </p:spPr>
        <p:txBody>
          <a:bodyPr spcFirstLastPara="1" wrap="square" lIns="91425" tIns="91425" rIns="91425" bIns="91425" anchor="t" anchorCtr="0">
            <a:spAutoFit/>
          </a:bodyPr>
          <a:lstStyle/>
          <a:p>
            <a:pPr marL="203200" lvl="0" indent="0" algn="l" rtl="0">
              <a:spcBef>
                <a:spcPts val="0"/>
              </a:spcBef>
              <a:spcAft>
                <a:spcPts val="0"/>
              </a:spcAft>
              <a:buNone/>
            </a:pPr>
            <a:r>
              <a:rPr lang="en" sz="2500" b="1">
                <a:solidFill>
                  <a:srgbClr val="132C68"/>
                </a:solidFill>
                <a:latin typeface="Helvetica Neue"/>
                <a:ea typeface="Helvetica Neue"/>
                <a:cs typeface="Helvetica Neue"/>
                <a:sym typeface="Helvetica Neue"/>
              </a:rPr>
              <a:t>Feature Extraction </a:t>
            </a:r>
            <a:endParaRPr sz="2500" b="1">
              <a:solidFill>
                <a:schemeClr val="dk1"/>
              </a:solidFill>
              <a:latin typeface="Helvetica Neue"/>
              <a:ea typeface="Helvetica Neue"/>
              <a:cs typeface="Helvetica Neue"/>
              <a:sym typeface="Helvetica Neue"/>
            </a:endParaRPr>
          </a:p>
        </p:txBody>
      </p:sp>
      <p:sp>
        <p:nvSpPr>
          <p:cNvPr id="439" name="Google Shape;439;p34"/>
          <p:cNvSpPr txBox="1"/>
          <p:nvPr/>
        </p:nvSpPr>
        <p:spPr>
          <a:xfrm>
            <a:off x="0" y="879900"/>
            <a:ext cx="5681100" cy="1631700"/>
          </a:xfrm>
          <a:prstGeom prst="rect">
            <a:avLst/>
          </a:prstGeom>
          <a:noFill/>
          <a:ln>
            <a:noFill/>
          </a:ln>
        </p:spPr>
        <p:txBody>
          <a:bodyPr spcFirstLastPara="1" wrap="square" lIns="91425" tIns="91425" rIns="91425" bIns="91425" anchor="t" anchorCtr="0">
            <a:spAutoFit/>
          </a:bodyPr>
          <a:lstStyle/>
          <a:p>
            <a:pPr marL="203200" lvl="0" indent="0" algn="l" rtl="0">
              <a:spcBef>
                <a:spcPts val="0"/>
              </a:spcBef>
              <a:spcAft>
                <a:spcPts val="0"/>
              </a:spcAft>
              <a:buNone/>
            </a:pPr>
            <a:r>
              <a:rPr lang="en" sz="1900" b="1">
                <a:solidFill>
                  <a:srgbClr val="132C68"/>
                </a:solidFill>
                <a:latin typeface="Times New Roman"/>
                <a:ea typeface="Times New Roman"/>
                <a:cs typeface="Times New Roman"/>
                <a:sym typeface="Times New Roman"/>
              </a:rPr>
              <a:t>Feature Extraction After Wavelet Transforms:</a:t>
            </a:r>
            <a:r>
              <a:rPr lang="en" sz="1900">
                <a:solidFill>
                  <a:srgbClr val="132C68"/>
                </a:solidFill>
                <a:latin typeface="Times New Roman"/>
                <a:ea typeface="Times New Roman"/>
                <a:cs typeface="Times New Roman"/>
                <a:sym typeface="Times New Roman"/>
              </a:rPr>
              <a:t> </a:t>
            </a:r>
            <a:endParaRPr sz="1900">
              <a:solidFill>
                <a:srgbClr val="132C68"/>
              </a:solidFill>
              <a:latin typeface="Times New Roman"/>
              <a:ea typeface="Times New Roman"/>
              <a:cs typeface="Times New Roman"/>
              <a:sym typeface="Times New Roman"/>
            </a:endParaRPr>
          </a:p>
          <a:p>
            <a:pPr marL="0" lvl="0" indent="0" algn="l" rtl="0">
              <a:spcBef>
                <a:spcPts val="0"/>
              </a:spcBef>
              <a:spcAft>
                <a:spcPts val="0"/>
              </a:spcAft>
              <a:buNone/>
            </a:pPr>
            <a:r>
              <a:rPr lang="en" sz="1900">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203200" lvl="0" indent="0" algn="l" rtl="0">
              <a:spcBef>
                <a:spcPts val="0"/>
              </a:spcBef>
              <a:spcAft>
                <a:spcPts val="0"/>
              </a:spcAft>
              <a:buNone/>
            </a:pPr>
            <a:r>
              <a:rPr lang="en" sz="1700">
                <a:solidFill>
                  <a:srgbClr val="132C68"/>
                </a:solidFill>
                <a:latin typeface="Times New Roman"/>
                <a:ea typeface="Times New Roman"/>
                <a:cs typeface="Times New Roman"/>
                <a:sym typeface="Times New Roman"/>
              </a:rPr>
              <a:t>Detail Coefficients along with mean, variance, standard deviation, entropy, skewness and kurtosis</a:t>
            </a:r>
            <a:r>
              <a:rPr lang="en" sz="2000">
                <a:solidFill>
                  <a:srgbClr val="132C68"/>
                </a:solidFill>
                <a:latin typeface="Times New Roman"/>
                <a:ea typeface="Times New Roman"/>
                <a:cs typeface="Times New Roman"/>
                <a:sym typeface="Times New Roman"/>
              </a:rPr>
              <a:t>.</a:t>
            </a:r>
            <a:endParaRPr sz="2000">
              <a:solidFill>
                <a:srgbClr val="132C68"/>
              </a:solidFill>
              <a:latin typeface="Times New Roman"/>
              <a:ea typeface="Times New Roman"/>
              <a:cs typeface="Times New Roman"/>
              <a:sym typeface="Times New Roman"/>
            </a:endParaRPr>
          </a:p>
          <a:p>
            <a:pPr marL="203200" lvl="0" indent="0" algn="l" rtl="0">
              <a:spcBef>
                <a:spcPts val="0"/>
              </a:spcBef>
              <a:spcAft>
                <a:spcPts val="0"/>
              </a:spcAft>
              <a:buNone/>
            </a:pPr>
            <a:endParaRPr sz="1900">
              <a:solidFill>
                <a:srgbClr val="132C68"/>
              </a:solidFill>
              <a:latin typeface="Helvetica Neue"/>
              <a:ea typeface="Helvetica Neue"/>
              <a:cs typeface="Helvetica Neue"/>
              <a:sym typeface="Helvetica Neue"/>
            </a:endParaRPr>
          </a:p>
        </p:txBody>
      </p:sp>
      <p:sp>
        <p:nvSpPr>
          <p:cNvPr id="440" name="Google Shape;440;p34"/>
          <p:cNvSpPr txBox="1"/>
          <p:nvPr/>
        </p:nvSpPr>
        <p:spPr>
          <a:xfrm>
            <a:off x="63500" y="2684275"/>
            <a:ext cx="7586100" cy="477000"/>
          </a:xfrm>
          <a:prstGeom prst="rect">
            <a:avLst/>
          </a:prstGeom>
          <a:noFill/>
          <a:ln>
            <a:noFill/>
          </a:ln>
        </p:spPr>
        <p:txBody>
          <a:bodyPr spcFirstLastPara="1" wrap="square" lIns="91425" tIns="91425" rIns="91425" bIns="91425" anchor="t" anchorCtr="0">
            <a:spAutoFit/>
          </a:bodyPr>
          <a:lstStyle/>
          <a:p>
            <a:pPr marL="203200" lvl="0" indent="0" algn="l" rtl="0">
              <a:spcBef>
                <a:spcPts val="0"/>
              </a:spcBef>
              <a:spcAft>
                <a:spcPts val="0"/>
              </a:spcAft>
              <a:buNone/>
            </a:pPr>
            <a:r>
              <a:rPr lang="en" sz="1900" b="1">
                <a:solidFill>
                  <a:srgbClr val="132C68"/>
                </a:solidFill>
                <a:latin typeface="Helvetica Neue"/>
                <a:ea typeface="Helvetica Neue"/>
                <a:cs typeface="Helvetica Neue"/>
                <a:sym typeface="Helvetica Neue"/>
              </a:rPr>
              <a:t>Principal Component Analysis</a:t>
            </a:r>
            <a:endParaRPr sz="1900" b="1">
              <a:solidFill>
                <a:schemeClr val="dk1"/>
              </a:solidFill>
              <a:latin typeface="Helvetica Neue"/>
              <a:ea typeface="Helvetica Neue"/>
              <a:cs typeface="Helvetica Neue"/>
              <a:sym typeface="Helvetica Neue"/>
            </a:endParaRPr>
          </a:p>
        </p:txBody>
      </p:sp>
      <p:pic>
        <p:nvPicPr>
          <p:cNvPr id="441" name="Google Shape;441;p34"/>
          <p:cNvPicPr preferRelativeResize="0"/>
          <p:nvPr/>
        </p:nvPicPr>
        <p:blipFill>
          <a:blip r:embed="rId3">
            <a:alphaModFix/>
          </a:blip>
          <a:stretch>
            <a:fillRect/>
          </a:stretch>
        </p:blipFill>
        <p:spPr>
          <a:xfrm>
            <a:off x="6171900" y="704300"/>
            <a:ext cx="1922226" cy="1903776"/>
          </a:xfrm>
          <a:prstGeom prst="rect">
            <a:avLst/>
          </a:prstGeom>
          <a:noFill/>
          <a:ln>
            <a:noFill/>
          </a:ln>
        </p:spPr>
      </p:pic>
      <p:pic>
        <p:nvPicPr>
          <p:cNvPr id="442" name="Google Shape;442;p34" descr="Danny Butvinik on LinkedIn: #artificialintelligence #machinelearning  #analytics | 19 comments"/>
          <p:cNvPicPr preferRelativeResize="0"/>
          <p:nvPr/>
        </p:nvPicPr>
        <p:blipFill rotWithShape="1">
          <a:blip r:embed="rId4">
            <a:alphaModFix/>
          </a:blip>
          <a:srcRect r="51552"/>
          <a:stretch/>
        </p:blipFill>
        <p:spPr>
          <a:xfrm>
            <a:off x="6171902" y="3023050"/>
            <a:ext cx="1730626" cy="2029075"/>
          </a:xfrm>
          <a:prstGeom prst="rect">
            <a:avLst/>
          </a:prstGeom>
          <a:noFill/>
          <a:ln>
            <a:noFill/>
          </a:ln>
        </p:spPr>
      </p:pic>
      <p:sp>
        <p:nvSpPr>
          <p:cNvPr id="443" name="Google Shape;443;p34"/>
          <p:cNvSpPr txBox="1"/>
          <p:nvPr/>
        </p:nvSpPr>
        <p:spPr>
          <a:xfrm>
            <a:off x="279400" y="3085075"/>
            <a:ext cx="46863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latin typeface="Times New Roman"/>
                <a:ea typeface="Times New Roman"/>
                <a:cs typeface="Times New Roman"/>
                <a:sym typeface="Times New Roman"/>
              </a:rPr>
              <a:t>PCA can be effectively used to reduce dimensionality of the data to make pattern recognition easier and avoid curse of dimensionality</a:t>
            </a:r>
            <a:endParaRPr>
              <a:solidFill>
                <a:schemeClr val="dk2"/>
              </a:solidFill>
              <a:latin typeface="Times New Roman"/>
              <a:ea typeface="Times New Roman"/>
              <a:cs typeface="Times New Roman"/>
              <a:sym typeface="Times New Roman"/>
            </a:endParaRPr>
          </a:p>
        </p:txBody>
      </p:sp>
      <p:sp>
        <p:nvSpPr>
          <p:cNvPr id="444" name="Google Shape;444;p34"/>
          <p:cNvSpPr txBox="1"/>
          <p:nvPr/>
        </p:nvSpPr>
        <p:spPr>
          <a:xfrm>
            <a:off x="6599493" y="2653750"/>
            <a:ext cx="2544507"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db4 wavelets</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5"/>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450" name="Google Shape;450;p35"/>
          <p:cNvGrpSpPr/>
          <p:nvPr/>
        </p:nvGrpSpPr>
        <p:grpSpPr>
          <a:xfrm>
            <a:off x="2804007" y="212048"/>
            <a:ext cx="471660" cy="53794"/>
            <a:chOff x="1413687" y="142674"/>
            <a:chExt cx="237795" cy="36195"/>
          </a:xfrm>
        </p:grpSpPr>
        <p:sp>
          <p:nvSpPr>
            <p:cNvPr id="451" name="Google Shape;451;p35"/>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52" name="Google Shape;452;p35"/>
            <p:cNvSpPr/>
            <p:nvPr/>
          </p:nvSpPr>
          <p:spPr>
            <a:xfrm>
              <a:off x="1464094"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53" name="Google Shape;453;p35"/>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54" name="Google Shape;454;p35"/>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55" name="Google Shape;455;p35"/>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56" name="Google Shape;456;p35"/>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57" name="Google Shape;457;p35"/>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458" name="Google Shape;458;p35"/>
          <p:cNvGrpSpPr/>
          <p:nvPr/>
        </p:nvGrpSpPr>
        <p:grpSpPr>
          <a:xfrm>
            <a:off x="5560332" y="212048"/>
            <a:ext cx="171747" cy="53794"/>
            <a:chOff x="2803334" y="142674"/>
            <a:chExt cx="86589" cy="36195"/>
          </a:xfrm>
        </p:grpSpPr>
        <p:sp>
          <p:nvSpPr>
            <p:cNvPr id="459" name="Google Shape;459;p35"/>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60" name="Google Shape;460;p35"/>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61" name="Google Shape;461;p35"/>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462" name="Google Shape;462;p35"/>
          <p:cNvGrpSpPr/>
          <p:nvPr/>
        </p:nvGrpSpPr>
        <p:grpSpPr>
          <a:xfrm>
            <a:off x="8027927" y="212048"/>
            <a:ext cx="171747" cy="53794"/>
            <a:chOff x="4047413" y="142674"/>
            <a:chExt cx="86589" cy="36195"/>
          </a:xfrm>
        </p:grpSpPr>
        <p:sp>
          <p:nvSpPr>
            <p:cNvPr id="463" name="Google Shape;463;p35"/>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64" name="Google Shape;464;p35"/>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65" name="Google Shape;465;p35"/>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466" name="Google Shape;466;p35"/>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67" name="Google Shape;467;p35"/>
          <p:cNvSpPr txBox="1"/>
          <p:nvPr/>
        </p:nvSpPr>
        <p:spPr>
          <a:xfrm>
            <a:off x="189025" y="454480"/>
            <a:ext cx="3324900" cy="1029000"/>
          </a:xfrm>
          <a:prstGeom prst="rect">
            <a:avLst/>
          </a:prstGeom>
          <a:noFill/>
          <a:ln>
            <a:noFill/>
          </a:ln>
        </p:spPr>
        <p:txBody>
          <a:bodyPr spcFirstLastPara="1" wrap="square" lIns="0" tIns="226225" rIns="0" bIns="0" anchor="t" anchorCtr="0">
            <a:spAutoFit/>
          </a:bodyPr>
          <a:lstStyle/>
          <a:p>
            <a:pPr marL="25400" marR="0" lvl="0" indent="0" algn="l" rtl="0">
              <a:lnSpc>
                <a:spcPct val="100000"/>
              </a:lnSpc>
              <a:spcBef>
                <a:spcPts val="0"/>
              </a:spcBef>
              <a:spcAft>
                <a:spcPts val="0"/>
              </a:spcAft>
              <a:buNone/>
            </a:pPr>
            <a:r>
              <a:rPr lang="en" sz="2200" b="1">
                <a:solidFill>
                  <a:srgbClr val="132C68"/>
                </a:solidFill>
                <a:latin typeface="Helvetica Neue"/>
                <a:ea typeface="Helvetica Neue"/>
                <a:cs typeface="Helvetica Neue"/>
                <a:sym typeface="Helvetica Neue"/>
              </a:rPr>
              <a:t>Proposed Work</a:t>
            </a:r>
            <a:endParaRPr sz="2200" b="1">
              <a:solidFill>
                <a:schemeClr val="dk1"/>
              </a:solidFill>
              <a:latin typeface="Helvetica Neue"/>
              <a:ea typeface="Helvetica Neue"/>
              <a:cs typeface="Helvetica Neue"/>
              <a:sym typeface="Helvetica Neue"/>
            </a:endParaRPr>
          </a:p>
          <a:p>
            <a:pPr marL="76200" marR="0" lvl="0" indent="0" algn="l" rtl="0">
              <a:lnSpc>
                <a:spcPct val="100000"/>
              </a:lnSpc>
              <a:spcBef>
                <a:spcPts val="1200"/>
              </a:spcBef>
              <a:spcAft>
                <a:spcPts val="0"/>
              </a:spcAft>
              <a:buNone/>
            </a:pPr>
            <a:endParaRPr sz="2000">
              <a:solidFill>
                <a:schemeClr val="dk1"/>
              </a:solidFill>
              <a:latin typeface="Arial"/>
              <a:ea typeface="Arial"/>
              <a:cs typeface="Arial"/>
              <a:sym typeface="Arial"/>
            </a:endParaRPr>
          </a:p>
        </p:txBody>
      </p:sp>
      <p:sp>
        <p:nvSpPr>
          <p:cNvPr id="468" name="Google Shape;468;p35"/>
          <p:cNvSpPr txBox="1"/>
          <p:nvPr/>
        </p:nvSpPr>
        <p:spPr>
          <a:xfrm>
            <a:off x="3275725" y="4706625"/>
            <a:ext cx="4220100" cy="299100"/>
          </a:xfrm>
          <a:prstGeom prst="rect">
            <a:avLst/>
          </a:prstGeom>
          <a:noFill/>
          <a:ln>
            <a:noFill/>
          </a:ln>
        </p:spPr>
        <p:txBody>
          <a:bodyPr spcFirstLastPara="1" wrap="square" lIns="0" tIns="21900" rIns="0" bIns="0" anchor="t" anchorCtr="0">
            <a:spAutoFit/>
          </a:bodyPr>
          <a:lstStyle/>
          <a:p>
            <a:pPr marL="25400" marR="0" lvl="0" indent="0" algn="l" rtl="0">
              <a:lnSpc>
                <a:spcPct val="100000"/>
              </a:lnSpc>
              <a:spcBef>
                <a:spcPts val="0"/>
              </a:spcBef>
              <a:spcAft>
                <a:spcPts val="0"/>
              </a:spcAft>
              <a:buNone/>
            </a:pPr>
            <a:r>
              <a:rPr lang="en" sz="1800" b="1">
                <a:solidFill>
                  <a:schemeClr val="dk2"/>
                </a:solidFill>
                <a:latin typeface="Helvetica Neue"/>
                <a:ea typeface="Helvetica Neue"/>
                <a:cs typeface="Helvetica Neue"/>
                <a:sym typeface="Helvetica Neue"/>
              </a:rPr>
              <a:t>ML model ﬂow diagram</a:t>
            </a:r>
            <a:endParaRPr sz="1800" b="1">
              <a:solidFill>
                <a:schemeClr val="dk2"/>
              </a:solidFill>
              <a:latin typeface="Helvetica Neue"/>
              <a:ea typeface="Helvetica Neue"/>
              <a:cs typeface="Helvetica Neue"/>
              <a:sym typeface="Helvetica Neue"/>
            </a:endParaRPr>
          </a:p>
        </p:txBody>
      </p:sp>
      <p:pic>
        <p:nvPicPr>
          <p:cNvPr id="469" name="Google Shape;469;p35"/>
          <p:cNvPicPr preferRelativeResize="0"/>
          <p:nvPr/>
        </p:nvPicPr>
        <p:blipFill rotWithShape="1">
          <a:blip r:embed="rId6">
            <a:alphaModFix/>
          </a:blip>
          <a:srcRect/>
          <a:stretch/>
        </p:blipFill>
        <p:spPr>
          <a:xfrm>
            <a:off x="2794363" y="762213"/>
            <a:ext cx="3551500" cy="3842074"/>
          </a:xfrm>
          <a:prstGeom prst="rect">
            <a:avLst/>
          </a:prstGeom>
          <a:noFill/>
          <a:ln>
            <a:noFill/>
          </a:ln>
        </p:spPr>
      </p:pic>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36"/>
          <p:cNvSpPr txBox="1"/>
          <p:nvPr/>
        </p:nvSpPr>
        <p:spPr>
          <a:xfrm>
            <a:off x="154200" y="475800"/>
            <a:ext cx="7269300" cy="62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100" b="1">
                <a:solidFill>
                  <a:schemeClr val="dk2"/>
                </a:solidFill>
                <a:latin typeface="Calibri"/>
                <a:ea typeface="Calibri"/>
                <a:cs typeface="Calibri"/>
                <a:sym typeface="Calibri"/>
              </a:rPr>
              <a:t>Overview of Classification Algorithms</a:t>
            </a:r>
            <a:endParaRPr sz="3100" b="1">
              <a:solidFill>
                <a:schemeClr val="dk2"/>
              </a:solidFill>
              <a:latin typeface="Calibri"/>
              <a:ea typeface="Calibri"/>
              <a:cs typeface="Calibri"/>
              <a:sym typeface="Calibri"/>
            </a:endParaRPr>
          </a:p>
        </p:txBody>
      </p:sp>
      <p:sp>
        <p:nvSpPr>
          <p:cNvPr id="475" name="Google Shape;475;p36"/>
          <p:cNvSpPr txBox="1"/>
          <p:nvPr/>
        </p:nvSpPr>
        <p:spPr>
          <a:xfrm>
            <a:off x="154200" y="1312875"/>
            <a:ext cx="8634900" cy="368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2"/>
                </a:solidFill>
                <a:latin typeface="Times New Roman"/>
                <a:ea typeface="Times New Roman"/>
                <a:cs typeface="Times New Roman"/>
                <a:sym typeface="Times New Roman"/>
              </a:rPr>
              <a:t>CATBOOST (CATEGORICAL BOOSTING)</a:t>
            </a:r>
            <a:r>
              <a:rPr lang="en">
                <a:solidFill>
                  <a:schemeClr val="dk2"/>
                </a:solidFill>
                <a:latin typeface="Times New Roman"/>
                <a:ea typeface="Times New Roman"/>
                <a:cs typeface="Times New Roman"/>
                <a:sym typeface="Times New Roman"/>
              </a:rPr>
              <a:t>  is a gradient boosting algorithm designed for datasets with categorical features. It handles categorical variables efficiently without extensive preprocessing and can achieve high accuracy in many real-world classification problems .</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b="1">
                <a:solidFill>
                  <a:schemeClr val="dk2"/>
                </a:solidFill>
                <a:latin typeface="Times New Roman"/>
                <a:ea typeface="Times New Roman"/>
                <a:cs typeface="Times New Roman"/>
                <a:sym typeface="Times New Roman"/>
              </a:rPr>
              <a:t> ADABOOST(ADAPTIVE BOOSTING) </a:t>
            </a:r>
            <a:r>
              <a:rPr lang="en">
                <a:solidFill>
                  <a:schemeClr val="dk2"/>
                </a:solidFill>
                <a:latin typeface="Times New Roman"/>
                <a:ea typeface="Times New Roman"/>
                <a:cs typeface="Times New Roman"/>
                <a:sym typeface="Times New Roman"/>
              </a:rPr>
              <a:t> combines multiple weak classifiers to create a robust model. By assigning higher weights to misclassified samples in each iteration, AdaBoost aims to minimize errors and improve model accuracy. It is frequently used with decision trees as base learners.</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 </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a:solidFill>
                  <a:schemeClr val="dk2"/>
                </a:solidFill>
                <a:latin typeface="Times New Roman"/>
                <a:ea typeface="Times New Roman"/>
                <a:cs typeface="Times New Roman"/>
                <a:sym typeface="Times New Roman"/>
              </a:rPr>
              <a:t> </a:t>
            </a:r>
            <a:r>
              <a:rPr lang="en" b="1">
                <a:solidFill>
                  <a:schemeClr val="dk2"/>
                </a:solidFill>
                <a:latin typeface="Times New Roman"/>
                <a:ea typeface="Times New Roman"/>
                <a:cs typeface="Times New Roman"/>
                <a:sym typeface="Times New Roman"/>
              </a:rPr>
              <a:t>MLP(MULTI-LAYER PERCEPTRON)</a:t>
            </a:r>
            <a:r>
              <a:rPr lang="en">
                <a:solidFill>
                  <a:schemeClr val="dk2"/>
                </a:solidFill>
                <a:latin typeface="Times New Roman"/>
                <a:ea typeface="Times New Roman"/>
                <a:cs typeface="Times New Roman"/>
                <a:sym typeface="Times New Roman"/>
              </a:rPr>
              <a:t> A type of neural network, the MLP consists of multiple layers and can capture non-linear relationships in complex datasets. However, it requires significant data and computational power and may not be ideal for small or simple datasets.</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r>
              <a:rPr lang="en" b="1">
                <a:solidFill>
                  <a:schemeClr val="dk2"/>
                </a:solidFill>
                <a:latin typeface="Times New Roman"/>
                <a:ea typeface="Times New Roman"/>
                <a:cs typeface="Times New Roman"/>
                <a:sym typeface="Times New Roman"/>
              </a:rPr>
              <a:t>RANDOM FOREST </a:t>
            </a:r>
            <a:r>
              <a:rPr lang="en">
                <a:solidFill>
                  <a:schemeClr val="dk2"/>
                </a:solidFill>
                <a:latin typeface="Times New Roman"/>
                <a:ea typeface="Times New Roman"/>
                <a:cs typeface="Times New Roman"/>
                <a:sym typeface="Times New Roman"/>
              </a:rPr>
              <a:t>This ensemble technique aggregates predictions from multiple decision trees, providing a robust and accurate model. Random Forest is highly effective for large datasets with multiple features and offers the added benefit of assessing feature importance.</a:t>
            </a:r>
            <a:endParaRPr>
              <a:solidFill>
                <a:schemeClr val="dk2"/>
              </a:solidFill>
              <a:latin typeface="Times New Roman"/>
              <a:ea typeface="Times New Roman"/>
              <a:cs typeface="Times New Roman"/>
              <a:sym typeface="Times New Roman"/>
            </a:endParaRPr>
          </a:p>
          <a:p>
            <a:pPr marL="0" lvl="0" indent="0" algn="l" rtl="0">
              <a:spcBef>
                <a:spcPts val="0"/>
              </a:spcBef>
              <a:spcAft>
                <a:spcPts val="0"/>
              </a:spcAft>
              <a:buNone/>
            </a:pPr>
            <a:endParaRPr>
              <a:solidFill>
                <a:schemeClr val="dk2"/>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7"/>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481" name="Google Shape;481;p37"/>
          <p:cNvGrpSpPr/>
          <p:nvPr/>
        </p:nvGrpSpPr>
        <p:grpSpPr>
          <a:xfrm>
            <a:off x="2804007" y="212048"/>
            <a:ext cx="471660" cy="53794"/>
            <a:chOff x="1413687" y="142674"/>
            <a:chExt cx="237795" cy="36195"/>
          </a:xfrm>
        </p:grpSpPr>
        <p:sp>
          <p:nvSpPr>
            <p:cNvPr id="482" name="Google Shape;482;p37"/>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83" name="Google Shape;483;p37"/>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84" name="Google Shape;484;p37"/>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85" name="Google Shape;485;p37"/>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86" name="Google Shape;486;p37"/>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87" name="Google Shape;487;p37"/>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488" name="Google Shape;488;p37"/>
          <p:cNvGrpSpPr/>
          <p:nvPr/>
        </p:nvGrpSpPr>
        <p:grpSpPr>
          <a:xfrm>
            <a:off x="5560332" y="212048"/>
            <a:ext cx="171747" cy="53794"/>
            <a:chOff x="2803334" y="142674"/>
            <a:chExt cx="86589" cy="36195"/>
          </a:xfrm>
        </p:grpSpPr>
        <p:sp>
          <p:nvSpPr>
            <p:cNvPr id="489" name="Google Shape;489;p37"/>
            <p:cNvSpPr/>
            <p:nvPr/>
          </p:nvSpPr>
          <p:spPr>
            <a:xfrm>
              <a:off x="2803334"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90" name="Google Shape;490;p37"/>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91" name="Google Shape;491;p37"/>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92" name="Google Shape;492;p37"/>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493" name="Google Shape;493;p37"/>
          <p:cNvGrpSpPr/>
          <p:nvPr/>
        </p:nvGrpSpPr>
        <p:grpSpPr>
          <a:xfrm>
            <a:off x="8027927" y="212048"/>
            <a:ext cx="171747" cy="53794"/>
            <a:chOff x="4047413" y="142674"/>
            <a:chExt cx="86589" cy="36195"/>
          </a:xfrm>
        </p:grpSpPr>
        <p:sp>
          <p:nvSpPr>
            <p:cNvPr id="494" name="Google Shape;494;p37"/>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495" name="Google Shape;495;p37"/>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496" name="Google Shape;496;p37"/>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497" name="Google Shape;497;p37"/>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nvGrpSpPr>
          <p:cNvPr id="498" name="Google Shape;498;p37"/>
          <p:cNvGrpSpPr/>
          <p:nvPr/>
        </p:nvGrpSpPr>
        <p:grpSpPr>
          <a:xfrm>
            <a:off x="350091" y="1155851"/>
            <a:ext cx="201521" cy="207628"/>
            <a:chOff x="176504" y="777702"/>
            <a:chExt cx="101600" cy="139700"/>
          </a:xfrm>
        </p:grpSpPr>
        <p:pic>
          <p:nvPicPr>
            <p:cNvPr id="499" name="Google Shape;499;p37"/>
            <p:cNvPicPr preferRelativeResize="0"/>
            <p:nvPr/>
          </p:nvPicPr>
          <p:blipFill rotWithShape="1">
            <a:blip r:embed="rId6">
              <a:alphaModFix/>
            </a:blip>
            <a:srcRect/>
            <a:stretch/>
          </p:blipFill>
          <p:spPr>
            <a:xfrm>
              <a:off x="176504" y="777702"/>
              <a:ext cx="101219" cy="139174"/>
            </a:xfrm>
            <a:prstGeom prst="rect">
              <a:avLst/>
            </a:prstGeom>
            <a:noFill/>
            <a:ln>
              <a:noFill/>
            </a:ln>
          </p:spPr>
        </p:pic>
        <p:sp>
          <p:nvSpPr>
            <p:cNvPr id="500" name="Google Shape;500;p37"/>
            <p:cNvSpPr/>
            <p:nvPr/>
          </p:nvSpPr>
          <p:spPr>
            <a:xfrm>
              <a:off x="176504" y="777702"/>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01" name="Google Shape;501;p37"/>
            <p:cNvSpPr/>
            <p:nvPr/>
          </p:nvSpPr>
          <p:spPr>
            <a:xfrm>
              <a:off x="189156" y="796680"/>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02" name="Google Shape;502;p37"/>
            <p:cNvSpPr/>
            <p:nvPr/>
          </p:nvSpPr>
          <p:spPr>
            <a:xfrm>
              <a:off x="201809" y="815659"/>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03" name="Google Shape;503;p37"/>
            <p:cNvSpPr/>
            <p:nvPr/>
          </p:nvSpPr>
          <p:spPr>
            <a:xfrm>
              <a:off x="189156" y="847289"/>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504" name="Google Shape;504;p37"/>
            <p:cNvPicPr preferRelativeResize="0"/>
            <p:nvPr/>
          </p:nvPicPr>
          <p:blipFill rotWithShape="1">
            <a:blip r:embed="rId7">
              <a:alphaModFix/>
            </a:blip>
            <a:srcRect/>
            <a:stretch/>
          </p:blipFill>
          <p:spPr>
            <a:xfrm>
              <a:off x="233440" y="844125"/>
              <a:ext cx="31635" cy="44283"/>
            </a:xfrm>
            <a:prstGeom prst="rect">
              <a:avLst/>
            </a:prstGeom>
            <a:noFill/>
            <a:ln>
              <a:noFill/>
            </a:ln>
          </p:spPr>
        </p:pic>
        <p:sp>
          <p:nvSpPr>
            <p:cNvPr id="505" name="Google Shape;505;p37"/>
            <p:cNvSpPr/>
            <p:nvPr/>
          </p:nvSpPr>
          <p:spPr>
            <a:xfrm>
              <a:off x="233440" y="897898"/>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06" name="Google Shape;506;p37"/>
            <p:cNvSpPr/>
            <p:nvPr/>
          </p:nvSpPr>
          <p:spPr>
            <a:xfrm>
              <a:off x="252419" y="777702"/>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07" name="Google Shape;507;p37"/>
          <p:cNvSpPr txBox="1"/>
          <p:nvPr/>
        </p:nvSpPr>
        <p:spPr>
          <a:xfrm>
            <a:off x="101425" y="614075"/>
            <a:ext cx="8607000" cy="7857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400" b="1">
                <a:solidFill>
                  <a:srgbClr val="132C68"/>
                </a:solidFill>
                <a:latin typeface="Helvetica Neue"/>
                <a:ea typeface="Helvetica Neue"/>
                <a:cs typeface="Helvetica Neue"/>
                <a:sym typeface="Helvetica Neue"/>
              </a:rPr>
              <a:t>Results</a:t>
            </a:r>
            <a:endParaRPr sz="2400" b="1">
              <a:solidFill>
                <a:schemeClr val="dk1"/>
              </a:solidFill>
              <a:latin typeface="Helvetica Neue"/>
              <a:ea typeface="Helvetica Neue"/>
              <a:cs typeface="Helvetica Neue"/>
              <a:sym typeface="Helvetica Neue"/>
            </a:endParaRPr>
          </a:p>
          <a:p>
            <a:pPr marL="25400" marR="0" lvl="0" indent="0" algn="l" rtl="0">
              <a:lnSpc>
                <a:spcPct val="100000"/>
              </a:lnSpc>
              <a:spcBef>
                <a:spcPts val="0"/>
              </a:spcBef>
              <a:spcAft>
                <a:spcPts val="0"/>
              </a:spcAft>
              <a:buNone/>
            </a:pPr>
            <a:r>
              <a:rPr lang="en" sz="2500" b="1">
                <a:solidFill>
                  <a:schemeClr val="dk1"/>
                </a:solidFill>
                <a:latin typeface="Helvetica Neue"/>
                <a:ea typeface="Helvetica Neue"/>
                <a:cs typeface="Helvetica Neue"/>
                <a:sym typeface="Helvetica Neue"/>
              </a:rPr>
              <a:t>        </a:t>
            </a:r>
            <a:r>
              <a:rPr lang="en" sz="1600" b="1">
                <a:solidFill>
                  <a:srgbClr val="132C68"/>
                </a:solidFill>
                <a:latin typeface="Helvetica Neue"/>
                <a:ea typeface="Helvetica Neue"/>
                <a:cs typeface="Helvetica Neue"/>
                <a:sym typeface="Helvetica Neue"/>
              </a:rPr>
              <a:t>Results with NSL-KDD Dataset.</a:t>
            </a:r>
            <a:endParaRPr sz="1600" b="1">
              <a:solidFill>
                <a:schemeClr val="dk1"/>
              </a:solidFill>
              <a:latin typeface="Helvetica Neue"/>
              <a:ea typeface="Helvetica Neue"/>
              <a:cs typeface="Helvetica Neue"/>
              <a:sym typeface="Helvetica Neue"/>
            </a:endParaRPr>
          </a:p>
        </p:txBody>
      </p:sp>
      <p:sp>
        <p:nvSpPr>
          <p:cNvPr id="508" name="Google Shape;508;p37"/>
          <p:cNvSpPr txBox="1"/>
          <p:nvPr/>
        </p:nvSpPr>
        <p:spPr>
          <a:xfrm>
            <a:off x="738345" y="3098474"/>
            <a:ext cx="6476400" cy="268500"/>
          </a:xfrm>
          <a:prstGeom prst="rect">
            <a:avLst/>
          </a:prstGeom>
          <a:noFill/>
          <a:ln>
            <a:noFill/>
          </a:ln>
        </p:spPr>
        <p:txBody>
          <a:bodyPr spcFirstLastPara="1" wrap="square" lIns="0" tIns="21900" rIns="0" bIns="0" anchor="t" anchorCtr="0">
            <a:spAutoFit/>
          </a:bodyPr>
          <a:lstStyle/>
          <a:p>
            <a:pPr marL="25400" marR="0" lvl="0" indent="0" algn="l" rtl="0">
              <a:lnSpc>
                <a:spcPct val="100000"/>
              </a:lnSpc>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509" name="Google Shape;509;p37"/>
          <p:cNvSpPr txBox="1"/>
          <p:nvPr/>
        </p:nvSpPr>
        <p:spPr>
          <a:xfrm>
            <a:off x="738345" y="4637051"/>
            <a:ext cx="7596000" cy="264900"/>
          </a:xfrm>
          <a:prstGeom prst="rect">
            <a:avLst/>
          </a:prstGeom>
          <a:noFill/>
          <a:ln>
            <a:noFill/>
          </a:ln>
        </p:spPr>
        <p:txBody>
          <a:bodyPr spcFirstLastPara="1" wrap="square" lIns="0" tIns="18450" rIns="0" bIns="0" anchor="t" anchorCtr="0">
            <a:spAutoFit/>
          </a:bodyPr>
          <a:lstStyle/>
          <a:p>
            <a:pPr marL="25400" marR="12700" lvl="0" indent="0" algn="l" rtl="0">
              <a:lnSpc>
                <a:spcPct val="101499"/>
              </a:lnSpc>
              <a:spcBef>
                <a:spcPts val="0"/>
              </a:spcBef>
              <a:spcAft>
                <a:spcPts val="0"/>
              </a:spcAft>
              <a:buNone/>
            </a:pPr>
            <a:endParaRPr sz="1600">
              <a:solidFill>
                <a:schemeClr val="dk1"/>
              </a:solidFill>
              <a:latin typeface="Helvetica Neue"/>
              <a:ea typeface="Helvetica Neue"/>
              <a:cs typeface="Helvetica Neue"/>
              <a:sym typeface="Helvetica Neue"/>
            </a:endParaRPr>
          </a:p>
        </p:txBody>
      </p:sp>
      <p:pic>
        <p:nvPicPr>
          <p:cNvPr id="510" name="Google Shape;510;p37"/>
          <p:cNvPicPr preferRelativeResize="0"/>
          <p:nvPr/>
        </p:nvPicPr>
        <p:blipFill>
          <a:blip r:embed="rId8">
            <a:alphaModFix/>
          </a:blip>
          <a:stretch>
            <a:fillRect/>
          </a:stretch>
        </p:blipFill>
        <p:spPr>
          <a:xfrm>
            <a:off x="1069925" y="1487025"/>
            <a:ext cx="4894937" cy="1836175"/>
          </a:xfrm>
          <a:prstGeom prst="rect">
            <a:avLst/>
          </a:prstGeom>
          <a:noFill/>
          <a:ln>
            <a:noFill/>
          </a:ln>
        </p:spPr>
      </p:pic>
      <p:pic>
        <p:nvPicPr>
          <p:cNvPr id="511" name="Google Shape;511;p37"/>
          <p:cNvPicPr preferRelativeResize="0"/>
          <p:nvPr/>
        </p:nvPicPr>
        <p:blipFill>
          <a:blip r:embed="rId9">
            <a:alphaModFix/>
          </a:blip>
          <a:stretch>
            <a:fillRect/>
          </a:stretch>
        </p:blipFill>
        <p:spPr>
          <a:xfrm>
            <a:off x="5732079" y="1369664"/>
            <a:ext cx="3362521" cy="1888575"/>
          </a:xfrm>
          <a:prstGeom prst="rect">
            <a:avLst/>
          </a:prstGeom>
          <a:noFill/>
          <a:ln>
            <a:noFill/>
          </a:ln>
        </p:spPr>
      </p:pic>
      <p:pic>
        <p:nvPicPr>
          <p:cNvPr id="512" name="Google Shape;512;p37"/>
          <p:cNvPicPr preferRelativeResize="0"/>
          <p:nvPr/>
        </p:nvPicPr>
        <p:blipFill>
          <a:blip r:embed="rId10">
            <a:alphaModFix/>
          </a:blip>
          <a:stretch>
            <a:fillRect/>
          </a:stretch>
        </p:blipFill>
        <p:spPr>
          <a:xfrm>
            <a:off x="1062224" y="3435603"/>
            <a:ext cx="4569900" cy="1586296"/>
          </a:xfrm>
          <a:prstGeom prst="rect">
            <a:avLst/>
          </a:prstGeom>
          <a:noFill/>
          <a:ln>
            <a:noFill/>
          </a:ln>
        </p:spPr>
      </p:pic>
      <p:pic>
        <p:nvPicPr>
          <p:cNvPr id="513" name="Google Shape;513;p37"/>
          <p:cNvPicPr preferRelativeResize="0"/>
          <p:nvPr/>
        </p:nvPicPr>
        <p:blipFill>
          <a:blip r:embed="rId11">
            <a:alphaModFix/>
          </a:blip>
          <a:stretch>
            <a:fillRect/>
          </a:stretch>
        </p:blipFill>
        <p:spPr>
          <a:xfrm>
            <a:off x="5639675" y="3288713"/>
            <a:ext cx="3362525" cy="1764312"/>
          </a:xfrm>
          <a:prstGeom prst="rect">
            <a:avLst/>
          </a:prstGeom>
          <a:noFill/>
          <a:ln>
            <a:noFill/>
          </a:ln>
        </p:spPr>
      </p:pic>
      <p:sp>
        <p:nvSpPr>
          <p:cNvPr id="514" name="Google Shape;514;p37"/>
          <p:cNvSpPr txBox="1"/>
          <p:nvPr/>
        </p:nvSpPr>
        <p:spPr>
          <a:xfrm>
            <a:off x="1110975" y="3015500"/>
            <a:ext cx="4528800"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Table 3: Comparison of Classifier Accuracy on Different Datasets</a:t>
            </a:r>
            <a:endParaRPr sz="1200">
              <a:solidFill>
                <a:schemeClr val="dk2"/>
              </a:solidFill>
              <a:latin typeface="Times New Roman"/>
              <a:ea typeface="Times New Roman"/>
              <a:cs typeface="Times New Roman"/>
              <a:sym typeface="Times New Roman"/>
            </a:endParaRPr>
          </a:p>
        </p:txBody>
      </p:sp>
      <p:sp>
        <p:nvSpPr>
          <p:cNvPr id="515" name="Google Shape;515;p37"/>
          <p:cNvSpPr txBox="1"/>
          <p:nvPr/>
        </p:nvSpPr>
        <p:spPr>
          <a:xfrm>
            <a:off x="1108460" y="4714199"/>
            <a:ext cx="4569900"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dk2"/>
                </a:solidFill>
                <a:latin typeface="Times New Roman"/>
                <a:ea typeface="Times New Roman"/>
                <a:cs typeface="Times New Roman"/>
                <a:sym typeface="Times New Roman"/>
              </a:rPr>
              <a:t>Table 4: Comparison of Classifier Precision on Different Datasets</a:t>
            </a:r>
            <a:endParaRPr sz="1200" dirty="0">
              <a:solidFill>
                <a:schemeClr val="dk2"/>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grpSp>
        <p:nvGrpSpPr>
          <p:cNvPr id="520" name="Google Shape;520;p38"/>
          <p:cNvGrpSpPr/>
          <p:nvPr/>
        </p:nvGrpSpPr>
        <p:grpSpPr>
          <a:xfrm>
            <a:off x="250396" y="724352"/>
            <a:ext cx="201524" cy="207622"/>
            <a:chOff x="176504" y="3126364"/>
            <a:chExt cx="101600" cy="139700"/>
          </a:xfrm>
        </p:grpSpPr>
        <p:pic>
          <p:nvPicPr>
            <p:cNvPr id="521" name="Google Shape;521;p38"/>
            <p:cNvPicPr preferRelativeResize="0"/>
            <p:nvPr/>
          </p:nvPicPr>
          <p:blipFill rotWithShape="1">
            <a:blip r:embed="rId3">
              <a:alphaModFix/>
            </a:blip>
            <a:srcRect/>
            <a:stretch/>
          </p:blipFill>
          <p:spPr>
            <a:xfrm>
              <a:off x="176504" y="3126364"/>
              <a:ext cx="101219" cy="139174"/>
            </a:xfrm>
            <a:prstGeom prst="rect">
              <a:avLst/>
            </a:prstGeom>
            <a:noFill/>
            <a:ln>
              <a:noFill/>
            </a:ln>
          </p:spPr>
        </p:pic>
        <p:sp>
          <p:nvSpPr>
            <p:cNvPr id="522" name="Google Shape;522;p38"/>
            <p:cNvSpPr/>
            <p:nvPr/>
          </p:nvSpPr>
          <p:spPr>
            <a:xfrm>
              <a:off x="176504" y="3126364"/>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23" name="Google Shape;523;p38"/>
            <p:cNvSpPr/>
            <p:nvPr/>
          </p:nvSpPr>
          <p:spPr>
            <a:xfrm>
              <a:off x="189156" y="3145342"/>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24" name="Google Shape;524;p38"/>
            <p:cNvSpPr/>
            <p:nvPr/>
          </p:nvSpPr>
          <p:spPr>
            <a:xfrm>
              <a:off x="201809" y="3164320"/>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25" name="Google Shape;525;p38"/>
            <p:cNvSpPr/>
            <p:nvPr/>
          </p:nvSpPr>
          <p:spPr>
            <a:xfrm>
              <a:off x="189156" y="3195951"/>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526" name="Google Shape;526;p38"/>
            <p:cNvPicPr preferRelativeResize="0"/>
            <p:nvPr/>
          </p:nvPicPr>
          <p:blipFill rotWithShape="1">
            <a:blip r:embed="rId4">
              <a:alphaModFix/>
            </a:blip>
            <a:srcRect/>
            <a:stretch/>
          </p:blipFill>
          <p:spPr>
            <a:xfrm>
              <a:off x="233440" y="3192787"/>
              <a:ext cx="31635" cy="44283"/>
            </a:xfrm>
            <a:prstGeom prst="rect">
              <a:avLst/>
            </a:prstGeom>
            <a:noFill/>
            <a:ln>
              <a:noFill/>
            </a:ln>
          </p:spPr>
        </p:pic>
        <p:sp>
          <p:nvSpPr>
            <p:cNvPr id="527" name="Google Shape;527;p38"/>
            <p:cNvSpPr/>
            <p:nvPr/>
          </p:nvSpPr>
          <p:spPr>
            <a:xfrm>
              <a:off x="233440" y="3246560"/>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28" name="Google Shape;528;p38"/>
            <p:cNvSpPr/>
            <p:nvPr/>
          </p:nvSpPr>
          <p:spPr>
            <a:xfrm>
              <a:off x="252419" y="3126364"/>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29" name="Google Shape;529;p38"/>
          <p:cNvSpPr txBox="1"/>
          <p:nvPr/>
        </p:nvSpPr>
        <p:spPr>
          <a:xfrm>
            <a:off x="742075" y="612613"/>
            <a:ext cx="4011600" cy="431100"/>
          </a:xfrm>
          <a:prstGeom prst="rect">
            <a:avLst/>
          </a:prstGeom>
          <a:noFill/>
          <a:ln>
            <a:noFill/>
          </a:ln>
        </p:spPr>
        <p:txBody>
          <a:bodyPr spcFirstLastPara="1" wrap="square" lIns="91425" tIns="91425" rIns="91425" bIns="91425" anchor="t" anchorCtr="0">
            <a:spAutoFit/>
          </a:bodyPr>
          <a:lstStyle/>
          <a:p>
            <a:pPr marL="25400" lvl="0" indent="0" algn="l" rtl="0">
              <a:spcBef>
                <a:spcPts val="0"/>
              </a:spcBef>
              <a:spcAft>
                <a:spcPts val="0"/>
              </a:spcAft>
              <a:buNone/>
            </a:pPr>
            <a:r>
              <a:rPr lang="en" sz="1600" b="1">
                <a:solidFill>
                  <a:srgbClr val="132C68"/>
                </a:solidFill>
                <a:latin typeface="Helvetica Neue"/>
                <a:ea typeface="Helvetica Neue"/>
                <a:cs typeface="Helvetica Neue"/>
                <a:sym typeface="Helvetica Neue"/>
              </a:rPr>
              <a:t>Results with WSN-DS Dataset.</a:t>
            </a:r>
            <a:endParaRPr b="1"/>
          </a:p>
        </p:txBody>
      </p:sp>
      <p:pic>
        <p:nvPicPr>
          <p:cNvPr id="530" name="Google Shape;530;p38"/>
          <p:cNvPicPr preferRelativeResize="0"/>
          <p:nvPr/>
        </p:nvPicPr>
        <p:blipFill>
          <a:blip r:embed="rId5">
            <a:alphaModFix/>
          </a:blip>
          <a:stretch>
            <a:fillRect/>
          </a:stretch>
        </p:blipFill>
        <p:spPr>
          <a:xfrm>
            <a:off x="742075" y="1043725"/>
            <a:ext cx="4635401" cy="1973726"/>
          </a:xfrm>
          <a:prstGeom prst="rect">
            <a:avLst/>
          </a:prstGeom>
          <a:noFill/>
          <a:ln>
            <a:noFill/>
          </a:ln>
        </p:spPr>
      </p:pic>
      <p:pic>
        <p:nvPicPr>
          <p:cNvPr id="531" name="Google Shape;531;p38"/>
          <p:cNvPicPr preferRelativeResize="0"/>
          <p:nvPr/>
        </p:nvPicPr>
        <p:blipFill>
          <a:blip r:embed="rId6">
            <a:alphaModFix/>
          </a:blip>
          <a:stretch>
            <a:fillRect/>
          </a:stretch>
        </p:blipFill>
        <p:spPr>
          <a:xfrm>
            <a:off x="852825" y="3017450"/>
            <a:ext cx="3670424" cy="1973725"/>
          </a:xfrm>
          <a:prstGeom prst="rect">
            <a:avLst/>
          </a:prstGeom>
          <a:noFill/>
          <a:ln>
            <a:noFill/>
          </a:ln>
        </p:spPr>
      </p:pic>
      <p:pic>
        <p:nvPicPr>
          <p:cNvPr id="532" name="Google Shape;532;p38"/>
          <p:cNvPicPr preferRelativeResize="0"/>
          <p:nvPr/>
        </p:nvPicPr>
        <p:blipFill>
          <a:blip r:embed="rId7">
            <a:alphaModFix/>
          </a:blip>
          <a:stretch>
            <a:fillRect/>
          </a:stretch>
        </p:blipFill>
        <p:spPr>
          <a:xfrm>
            <a:off x="4672800" y="2982420"/>
            <a:ext cx="3461724" cy="2043786"/>
          </a:xfrm>
          <a:prstGeom prst="rect">
            <a:avLst/>
          </a:prstGeom>
          <a:noFill/>
          <a:ln>
            <a:noFill/>
          </a:ln>
        </p:spPr>
      </p:pic>
      <p:sp>
        <p:nvSpPr>
          <p:cNvPr id="533" name="Google Shape;533;p38"/>
          <p:cNvSpPr txBox="1"/>
          <p:nvPr/>
        </p:nvSpPr>
        <p:spPr>
          <a:xfrm>
            <a:off x="852826" y="2711950"/>
            <a:ext cx="3882300"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Table 5: Performance Metrics on Various Classifiers </a:t>
            </a:r>
            <a:endParaRPr sz="1200">
              <a:solidFill>
                <a:schemeClr val="dk2"/>
              </a:solidFill>
              <a:latin typeface="Times New Roman"/>
              <a:ea typeface="Times New Roman"/>
              <a:cs typeface="Times New Roman"/>
              <a:sym typeface="Times New Roman"/>
            </a:endParaRPr>
          </a:p>
        </p:txBody>
      </p:sp>
      <p:sp>
        <p:nvSpPr>
          <p:cNvPr id="534" name="Google Shape;534;p38"/>
          <p:cNvSpPr txBox="1"/>
          <p:nvPr/>
        </p:nvSpPr>
        <p:spPr>
          <a:xfrm>
            <a:off x="852825" y="3198300"/>
            <a:ext cx="201600" cy="129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535" name="Google Shape;535;p38"/>
          <p:cNvSpPr txBox="1"/>
          <p:nvPr/>
        </p:nvSpPr>
        <p:spPr>
          <a:xfrm>
            <a:off x="4572000" y="3198300"/>
            <a:ext cx="201600" cy="129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grpSp>
        <p:nvGrpSpPr>
          <p:cNvPr id="540" name="Google Shape;540;p39"/>
          <p:cNvGrpSpPr/>
          <p:nvPr/>
        </p:nvGrpSpPr>
        <p:grpSpPr>
          <a:xfrm>
            <a:off x="571596" y="689965"/>
            <a:ext cx="201524" cy="207622"/>
            <a:chOff x="176504" y="3126364"/>
            <a:chExt cx="101600" cy="139700"/>
          </a:xfrm>
        </p:grpSpPr>
        <p:pic>
          <p:nvPicPr>
            <p:cNvPr id="541" name="Google Shape;541;p39"/>
            <p:cNvPicPr preferRelativeResize="0"/>
            <p:nvPr/>
          </p:nvPicPr>
          <p:blipFill rotWithShape="1">
            <a:blip r:embed="rId3">
              <a:alphaModFix/>
            </a:blip>
            <a:srcRect/>
            <a:stretch/>
          </p:blipFill>
          <p:spPr>
            <a:xfrm>
              <a:off x="176504" y="3126364"/>
              <a:ext cx="101219" cy="139174"/>
            </a:xfrm>
            <a:prstGeom prst="rect">
              <a:avLst/>
            </a:prstGeom>
            <a:noFill/>
            <a:ln>
              <a:noFill/>
            </a:ln>
          </p:spPr>
        </p:pic>
        <p:sp>
          <p:nvSpPr>
            <p:cNvPr id="542" name="Google Shape;542;p39"/>
            <p:cNvSpPr/>
            <p:nvPr/>
          </p:nvSpPr>
          <p:spPr>
            <a:xfrm>
              <a:off x="176504" y="3126364"/>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43" name="Google Shape;543;p39"/>
            <p:cNvSpPr/>
            <p:nvPr/>
          </p:nvSpPr>
          <p:spPr>
            <a:xfrm>
              <a:off x="189156" y="3145342"/>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44" name="Google Shape;544;p39"/>
            <p:cNvSpPr/>
            <p:nvPr/>
          </p:nvSpPr>
          <p:spPr>
            <a:xfrm>
              <a:off x="201809" y="3164320"/>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45" name="Google Shape;545;p39"/>
            <p:cNvSpPr/>
            <p:nvPr/>
          </p:nvSpPr>
          <p:spPr>
            <a:xfrm>
              <a:off x="189156" y="3195951"/>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546" name="Google Shape;546;p39"/>
            <p:cNvPicPr preferRelativeResize="0"/>
            <p:nvPr/>
          </p:nvPicPr>
          <p:blipFill rotWithShape="1">
            <a:blip r:embed="rId4">
              <a:alphaModFix/>
            </a:blip>
            <a:srcRect/>
            <a:stretch/>
          </p:blipFill>
          <p:spPr>
            <a:xfrm>
              <a:off x="233440" y="3192787"/>
              <a:ext cx="31635" cy="44283"/>
            </a:xfrm>
            <a:prstGeom prst="rect">
              <a:avLst/>
            </a:prstGeom>
            <a:noFill/>
            <a:ln>
              <a:noFill/>
            </a:ln>
          </p:spPr>
        </p:pic>
        <p:sp>
          <p:nvSpPr>
            <p:cNvPr id="547" name="Google Shape;547;p39"/>
            <p:cNvSpPr/>
            <p:nvPr/>
          </p:nvSpPr>
          <p:spPr>
            <a:xfrm>
              <a:off x="233440" y="3246560"/>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48" name="Google Shape;548;p39"/>
            <p:cNvSpPr/>
            <p:nvPr/>
          </p:nvSpPr>
          <p:spPr>
            <a:xfrm>
              <a:off x="252419" y="3126364"/>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49" name="Google Shape;549;p39"/>
          <p:cNvSpPr txBox="1"/>
          <p:nvPr/>
        </p:nvSpPr>
        <p:spPr>
          <a:xfrm>
            <a:off x="966125" y="578225"/>
            <a:ext cx="4221900" cy="431100"/>
          </a:xfrm>
          <a:prstGeom prst="rect">
            <a:avLst/>
          </a:prstGeom>
          <a:noFill/>
          <a:ln>
            <a:noFill/>
          </a:ln>
        </p:spPr>
        <p:txBody>
          <a:bodyPr spcFirstLastPara="1" wrap="square" lIns="91425" tIns="91425" rIns="91425" bIns="91425" anchor="t" anchorCtr="0">
            <a:spAutoFit/>
          </a:bodyPr>
          <a:lstStyle/>
          <a:p>
            <a:pPr marL="25400" lvl="0" indent="0" algn="l" rtl="0">
              <a:spcBef>
                <a:spcPts val="0"/>
              </a:spcBef>
              <a:spcAft>
                <a:spcPts val="0"/>
              </a:spcAft>
              <a:buNone/>
            </a:pPr>
            <a:r>
              <a:rPr lang="en" sz="1600" b="1">
                <a:solidFill>
                  <a:srgbClr val="132C68"/>
                </a:solidFill>
                <a:latin typeface="Helvetica Neue"/>
                <a:ea typeface="Helvetica Neue"/>
                <a:cs typeface="Helvetica Neue"/>
                <a:sym typeface="Helvetica Neue"/>
              </a:rPr>
              <a:t>Results with NF-TON-IOT Dataset.</a:t>
            </a:r>
            <a:endParaRPr b="1">
              <a:solidFill>
                <a:schemeClr val="dk1"/>
              </a:solidFill>
            </a:endParaRPr>
          </a:p>
        </p:txBody>
      </p:sp>
      <p:pic>
        <p:nvPicPr>
          <p:cNvPr id="550" name="Google Shape;550;p39"/>
          <p:cNvPicPr preferRelativeResize="0"/>
          <p:nvPr/>
        </p:nvPicPr>
        <p:blipFill>
          <a:blip r:embed="rId5">
            <a:alphaModFix/>
          </a:blip>
          <a:stretch>
            <a:fillRect/>
          </a:stretch>
        </p:blipFill>
        <p:spPr>
          <a:xfrm>
            <a:off x="862612" y="1009325"/>
            <a:ext cx="4852525" cy="2172500"/>
          </a:xfrm>
          <a:prstGeom prst="rect">
            <a:avLst/>
          </a:prstGeom>
          <a:noFill/>
          <a:ln>
            <a:noFill/>
          </a:ln>
        </p:spPr>
      </p:pic>
      <p:pic>
        <p:nvPicPr>
          <p:cNvPr id="551" name="Google Shape;551;p39"/>
          <p:cNvPicPr preferRelativeResize="0"/>
          <p:nvPr/>
        </p:nvPicPr>
        <p:blipFill>
          <a:blip r:embed="rId6">
            <a:alphaModFix/>
          </a:blip>
          <a:stretch>
            <a:fillRect/>
          </a:stretch>
        </p:blipFill>
        <p:spPr>
          <a:xfrm>
            <a:off x="966125" y="3152113"/>
            <a:ext cx="3278846" cy="1999575"/>
          </a:xfrm>
          <a:prstGeom prst="rect">
            <a:avLst/>
          </a:prstGeom>
          <a:noFill/>
          <a:ln>
            <a:noFill/>
          </a:ln>
        </p:spPr>
      </p:pic>
      <p:pic>
        <p:nvPicPr>
          <p:cNvPr id="552" name="Google Shape;552;p39"/>
          <p:cNvPicPr preferRelativeResize="0"/>
          <p:nvPr/>
        </p:nvPicPr>
        <p:blipFill>
          <a:blip r:embed="rId7">
            <a:alphaModFix/>
          </a:blip>
          <a:stretch>
            <a:fillRect/>
          </a:stretch>
        </p:blipFill>
        <p:spPr>
          <a:xfrm>
            <a:off x="4800155" y="3120419"/>
            <a:ext cx="3218103" cy="1999575"/>
          </a:xfrm>
          <a:prstGeom prst="rect">
            <a:avLst/>
          </a:prstGeom>
          <a:noFill/>
          <a:ln>
            <a:noFill/>
          </a:ln>
        </p:spPr>
      </p:pic>
      <p:sp>
        <p:nvSpPr>
          <p:cNvPr id="553" name="Google Shape;553;p39"/>
          <p:cNvSpPr txBox="1"/>
          <p:nvPr/>
        </p:nvSpPr>
        <p:spPr>
          <a:xfrm>
            <a:off x="966125" y="2812525"/>
            <a:ext cx="4645500" cy="3693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2"/>
                </a:solidFill>
                <a:latin typeface="Times New Roman"/>
                <a:ea typeface="Times New Roman"/>
                <a:cs typeface="Times New Roman"/>
                <a:sym typeface="Times New Roman"/>
              </a:rPr>
              <a:t>Table 6: Performance Metrics on Various Classifiers </a:t>
            </a:r>
            <a:endParaRPr/>
          </a:p>
        </p:txBody>
      </p:sp>
      <p:sp>
        <p:nvSpPr>
          <p:cNvPr id="554" name="Google Shape;554;p39"/>
          <p:cNvSpPr txBox="1"/>
          <p:nvPr/>
        </p:nvSpPr>
        <p:spPr>
          <a:xfrm>
            <a:off x="1057328" y="4935900"/>
            <a:ext cx="2455980" cy="2076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55" name="Google Shape;555;p39"/>
          <p:cNvSpPr txBox="1"/>
          <p:nvPr/>
        </p:nvSpPr>
        <p:spPr>
          <a:xfrm>
            <a:off x="4811725" y="4935900"/>
            <a:ext cx="2292376" cy="184094"/>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56" name="Google Shape;556;p39"/>
          <p:cNvSpPr txBox="1"/>
          <p:nvPr/>
        </p:nvSpPr>
        <p:spPr>
          <a:xfrm>
            <a:off x="966125" y="3342875"/>
            <a:ext cx="201600" cy="207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557" name="Google Shape;557;p39"/>
          <p:cNvSpPr txBox="1"/>
          <p:nvPr/>
        </p:nvSpPr>
        <p:spPr>
          <a:xfrm>
            <a:off x="1118525" y="3495275"/>
            <a:ext cx="201600" cy="207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
        <p:nvSpPr>
          <p:cNvPr id="558" name="Google Shape;558;p39"/>
          <p:cNvSpPr txBox="1"/>
          <p:nvPr/>
        </p:nvSpPr>
        <p:spPr>
          <a:xfrm>
            <a:off x="4710925" y="3342875"/>
            <a:ext cx="201600" cy="2076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3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40"/>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564" name="Google Shape;564;p40"/>
          <p:cNvGrpSpPr/>
          <p:nvPr/>
        </p:nvGrpSpPr>
        <p:grpSpPr>
          <a:xfrm>
            <a:off x="2804007" y="212048"/>
            <a:ext cx="471660" cy="53794"/>
            <a:chOff x="1413687" y="142674"/>
            <a:chExt cx="237795" cy="36195"/>
          </a:xfrm>
        </p:grpSpPr>
        <p:sp>
          <p:nvSpPr>
            <p:cNvPr id="565" name="Google Shape;565;p40"/>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66" name="Google Shape;566;p40"/>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67" name="Google Shape;567;p40"/>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68" name="Google Shape;568;p40"/>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69" name="Google Shape;569;p40"/>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70" name="Google Shape;570;p40"/>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571" name="Google Shape;571;p40"/>
          <p:cNvGrpSpPr/>
          <p:nvPr/>
        </p:nvGrpSpPr>
        <p:grpSpPr>
          <a:xfrm>
            <a:off x="5560332" y="212048"/>
            <a:ext cx="171747" cy="53794"/>
            <a:chOff x="2803334" y="142674"/>
            <a:chExt cx="86589" cy="36195"/>
          </a:xfrm>
        </p:grpSpPr>
        <p:sp>
          <p:nvSpPr>
            <p:cNvPr id="572" name="Google Shape;572;p40"/>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73" name="Google Shape;573;p40"/>
            <p:cNvSpPr/>
            <p:nvPr/>
          </p:nvSpPr>
          <p:spPr>
            <a:xfrm>
              <a:off x="2853728" y="142674"/>
              <a:ext cx="36195" cy="36195"/>
            </a:xfrm>
            <a:custGeom>
              <a:avLst/>
              <a:gdLst/>
              <a:ahLst/>
              <a:cxnLst/>
              <a:rect l="l" t="t" r="r" b="b"/>
              <a:pathLst>
                <a:path w="36194"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74" name="Google Shape;574;p40"/>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75" name="Google Shape;575;p40"/>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576" name="Google Shape;576;p40"/>
          <p:cNvGrpSpPr/>
          <p:nvPr/>
        </p:nvGrpSpPr>
        <p:grpSpPr>
          <a:xfrm>
            <a:off x="8027927" y="212048"/>
            <a:ext cx="171747" cy="53794"/>
            <a:chOff x="4047413" y="142674"/>
            <a:chExt cx="86589" cy="36195"/>
          </a:xfrm>
        </p:grpSpPr>
        <p:sp>
          <p:nvSpPr>
            <p:cNvPr id="577" name="Google Shape;577;p40"/>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78" name="Google Shape;578;p40"/>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79" name="Google Shape;579;p40"/>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580" name="Google Shape;580;p40"/>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81" name="Google Shape;581;p40"/>
          <p:cNvSpPr txBox="1"/>
          <p:nvPr/>
        </p:nvSpPr>
        <p:spPr>
          <a:xfrm>
            <a:off x="214225" y="707427"/>
            <a:ext cx="2020200" cy="416100"/>
          </a:xfrm>
          <a:prstGeom prst="rect">
            <a:avLst/>
          </a:prstGeom>
          <a:noFill/>
          <a:ln>
            <a:noFill/>
          </a:ln>
        </p:spPr>
        <p:txBody>
          <a:bodyPr spcFirstLastPara="1" wrap="square" lIns="0" tIns="31125" rIns="0" bIns="0" anchor="t" anchorCtr="0">
            <a:spAutoFit/>
          </a:bodyPr>
          <a:lstStyle/>
          <a:p>
            <a:pPr marL="25400" marR="0" lvl="0" indent="0" algn="l" rtl="0">
              <a:lnSpc>
                <a:spcPct val="100000"/>
              </a:lnSpc>
              <a:spcBef>
                <a:spcPts val="0"/>
              </a:spcBef>
              <a:spcAft>
                <a:spcPts val="0"/>
              </a:spcAft>
              <a:buNone/>
            </a:pPr>
            <a:r>
              <a:rPr lang="en" sz="2500" b="1">
                <a:solidFill>
                  <a:srgbClr val="132C68"/>
                </a:solidFill>
                <a:latin typeface="Helvetica Neue"/>
                <a:ea typeface="Helvetica Neue"/>
                <a:cs typeface="Helvetica Neue"/>
                <a:sym typeface="Helvetica Neue"/>
              </a:rPr>
              <a:t>Discussions</a:t>
            </a:r>
            <a:endParaRPr sz="2500" b="1">
              <a:solidFill>
                <a:schemeClr val="dk1"/>
              </a:solidFill>
              <a:latin typeface="Helvetica Neue"/>
              <a:ea typeface="Helvetica Neue"/>
              <a:cs typeface="Helvetica Neue"/>
              <a:sym typeface="Helvetica Neue"/>
            </a:endParaRPr>
          </a:p>
        </p:txBody>
      </p:sp>
      <p:grpSp>
        <p:nvGrpSpPr>
          <p:cNvPr id="582" name="Google Shape;582;p40"/>
          <p:cNvGrpSpPr/>
          <p:nvPr/>
        </p:nvGrpSpPr>
        <p:grpSpPr>
          <a:xfrm>
            <a:off x="350096" y="2009444"/>
            <a:ext cx="201524" cy="207624"/>
            <a:chOff x="176504" y="1305742"/>
            <a:chExt cx="101600" cy="139701"/>
          </a:xfrm>
        </p:grpSpPr>
        <p:pic>
          <p:nvPicPr>
            <p:cNvPr id="583" name="Google Shape;583;p40"/>
            <p:cNvPicPr preferRelativeResize="0"/>
            <p:nvPr/>
          </p:nvPicPr>
          <p:blipFill rotWithShape="1">
            <a:blip r:embed="rId6">
              <a:alphaModFix/>
            </a:blip>
            <a:srcRect/>
            <a:stretch/>
          </p:blipFill>
          <p:spPr>
            <a:xfrm>
              <a:off x="176504" y="1305742"/>
              <a:ext cx="101219" cy="139174"/>
            </a:xfrm>
            <a:prstGeom prst="rect">
              <a:avLst/>
            </a:prstGeom>
            <a:noFill/>
            <a:ln>
              <a:noFill/>
            </a:ln>
          </p:spPr>
        </p:pic>
        <p:sp>
          <p:nvSpPr>
            <p:cNvPr id="584" name="Google Shape;584;p40"/>
            <p:cNvSpPr/>
            <p:nvPr/>
          </p:nvSpPr>
          <p:spPr>
            <a:xfrm>
              <a:off x="176504" y="1305743"/>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85" name="Google Shape;585;p40"/>
            <p:cNvSpPr/>
            <p:nvPr/>
          </p:nvSpPr>
          <p:spPr>
            <a:xfrm>
              <a:off x="189156" y="1324721"/>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86" name="Google Shape;586;p40"/>
            <p:cNvSpPr/>
            <p:nvPr/>
          </p:nvSpPr>
          <p:spPr>
            <a:xfrm>
              <a:off x="201809" y="1343699"/>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87" name="Google Shape;587;p40"/>
            <p:cNvSpPr/>
            <p:nvPr/>
          </p:nvSpPr>
          <p:spPr>
            <a:xfrm>
              <a:off x="189156" y="1375330"/>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588" name="Google Shape;588;p40"/>
            <p:cNvPicPr preferRelativeResize="0"/>
            <p:nvPr/>
          </p:nvPicPr>
          <p:blipFill rotWithShape="1">
            <a:blip r:embed="rId7">
              <a:alphaModFix/>
            </a:blip>
            <a:srcRect/>
            <a:stretch/>
          </p:blipFill>
          <p:spPr>
            <a:xfrm>
              <a:off x="233440" y="1372166"/>
              <a:ext cx="31635" cy="44283"/>
            </a:xfrm>
            <a:prstGeom prst="rect">
              <a:avLst/>
            </a:prstGeom>
            <a:noFill/>
            <a:ln>
              <a:noFill/>
            </a:ln>
          </p:spPr>
        </p:pic>
        <p:sp>
          <p:nvSpPr>
            <p:cNvPr id="589" name="Google Shape;589;p40"/>
            <p:cNvSpPr/>
            <p:nvPr/>
          </p:nvSpPr>
          <p:spPr>
            <a:xfrm>
              <a:off x="233440" y="1425939"/>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90" name="Google Shape;590;p40"/>
            <p:cNvSpPr/>
            <p:nvPr/>
          </p:nvSpPr>
          <p:spPr>
            <a:xfrm>
              <a:off x="252419" y="1305743"/>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591" name="Google Shape;591;p40"/>
          <p:cNvSpPr txBox="1"/>
          <p:nvPr/>
        </p:nvSpPr>
        <p:spPr>
          <a:xfrm>
            <a:off x="738345" y="1931174"/>
            <a:ext cx="8152800" cy="1878000"/>
          </a:xfrm>
          <a:prstGeom prst="rect">
            <a:avLst/>
          </a:prstGeom>
          <a:noFill/>
          <a:ln>
            <a:noFill/>
          </a:ln>
        </p:spPr>
        <p:txBody>
          <a:bodyPr spcFirstLastPara="1" wrap="square" lIns="0" tIns="18450" rIns="0" bIns="0" anchor="t" anchorCtr="0">
            <a:spAutoFit/>
          </a:bodyPr>
          <a:lstStyle/>
          <a:p>
            <a:pPr marL="25400" marR="76200" lvl="0" indent="0" algn="l" rtl="0">
              <a:lnSpc>
                <a:spcPct val="101499"/>
              </a:lnSpc>
              <a:spcBef>
                <a:spcPts val="0"/>
              </a:spcBef>
              <a:spcAft>
                <a:spcPts val="0"/>
              </a:spcAft>
              <a:buNone/>
            </a:pPr>
            <a:r>
              <a:rPr lang="en" sz="1600">
                <a:solidFill>
                  <a:srgbClr val="132C68"/>
                </a:solidFill>
                <a:latin typeface="Times New Roman"/>
                <a:ea typeface="Times New Roman"/>
                <a:cs typeface="Times New Roman"/>
                <a:sym typeface="Times New Roman"/>
              </a:rPr>
              <a:t>We are moving from Time Domain Data to </a:t>
            </a:r>
            <a:r>
              <a:rPr lang="en" sz="1600" b="1">
                <a:solidFill>
                  <a:srgbClr val="132C68"/>
                </a:solidFill>
                <a:latin typeface="Times New Roman"/>
                <a:ea typeface="Times New Roman"/>
                <a:cs typeface="Times New Roman"/>
                <a:sym typeface="Times New Roman"/>
              </a:rPr>
              <a:t>frequency domain </a:t>
            </a:r>
            <a:r>
              <a:rPr lang="en" sz="1600">
                <a:solidFill>
                  <a:srgbClr val="132C68"/>
                </a:solidFill>
                <a:latin typeface="Times New Roman"/>
                <a:ea typeface="Times New Roman"/>
                <a:cs typeface="Times New Roman"/>
                <a:sym typeface="Times New Roman"/>
              </a:rPr>
              <a:t>as we believe  that mapping our data into a frequency can help detect small attacks  (possible threats) that might be ignored when using time domain data.</a:t>
            </a:r>
            <a:endParaRPr sz="16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200">
              <a:solidFill>
                <a:schemeClr val="dk1"/>
              </a:solidFill>
              <a:latin typeface="Times New Roman"/>
              <a:ea typeface="Times New Roman"/>
              <a:cs typeface="Times New Roman"/>
              <a:sym typeface="Times New Roman"/>
            </a:endParaRPr>
          </a:p>
          <a:p>
            <a:pPr marL="0" marR="0" lvl="0" indent="0" algn="l" rtl="0">
              <a:lnSpc>
                <a:spcPct val="100000"/>
              </a:lnSpc>
              <a:spcBef>
                <a:spcPts val="100"/>
              </a:spcBef>
              <a:spcAft>
                <a:spcPts val="0"/>
              </a:spcAft>
              <a:buNone/>
            </a:pPr>
            <a:endParaRPr sz="1700">
              <a:solidFill>
                <a:schemeClr val="dk1"/>
              </a:solidFill>
              <a:latin typeface="Times New Roman"/>
              <a:ea typeface="Times New Roman"/>
              <a:cs typeface="Times New Roman"/>
              <a:sym typeface="Times New Roman"/>
            </a:endParaRPr>
          </a:p>
          <a:p>
            <a:pPr marL="25400" marR="12700" lvl="0" indent="0" algn="l" rtl="0">
              <a:lnSpc>
                <a:spcPct val="101499"/>
              </a:lnSpc>
              <a:spcBef>
                <a:spcPts val="0"/>
              </a:spcBef>
              <a:spcAft>
                <a:spcPts val="0"/>
              </a:spcAft>
              <a:buNone/>
            </a:pPr>
            <a:r>
              <a:rPr lang="en" sz="1600" b="1">
                <a:solidFill>
                  <a:srgbClr val="132C68"/>
                </a:solidFill>
                <a:latin typeface="Times New Roman"/>
                <a:ea typeface="Times New Roman"/>
                <a:cs typeface="Times New Roman"/>
                <a:sym typeface="Times New Roman"/>
              </a:rPr>
              <a:t>Independent of prior knowledge</a:t>
            </a:r>
            <a:r>
              <a:rPr lang="en" sz="1600">
                <a:solidFill>
                  <a:srgbClr val="132C68"/>
                </a:solidFill>
                <a:latin typeface="Times New Roman"/>
                <a:ea typeface="Times New Roman"/>
                <a:cs typeface="Times New Roman"/>
                <a:sym typeface="Times New Roman"/>
              </a:rPr>
              <a:t>: It doesn’t depend on the prior knowledge  of attack signatures, thus it has the potential to be a useful supplement to  existing signature based IDS.</a:t>
            </a:r>
            <a:endParaRPr sz="1600">
              <a:solidFill>
                <a:schemeClr val="dk1"/>
              </a:solidFill>
              <a:latin typeface="Times New Roman"/>
              <a:ea typeface="Times New Roman"/>
              <a:cs typeface="Times New Roman"/>
              <a:sym typeface="Times New Roman"/>
            </a:endParaRPr>
          </a:p>
        </p:txBody>
      </p:sp>
      <p:grpSp>
        <p:nvGrpSpPr>
          <p:cNvPr id="592" name="Google Shape;592;p40"/>
          <p:cNvGrpSpPr/>
          <p:nvPr/>
        </p:nvGrpSpPr>
        <p:grpSpPr>
          <a:xfrm>
            <a:off x="350096" y="3359032"/>
            <a:ext cx="201524" cy="207622"/>
            <a:chOff x="176504" y="2036221"/>
            <a:chExt cx="101600" cy="139700"/>
          </a:xfrm>
        </p:grpSpPr>
        <p:pic>
          <p:nvPicPr>
            <p:cNvPr id="593" name="Google Shape;593;p40"/>
            <p:cNvPicPr preferRelativeResize="0"/>
            <p:nvPr/>
          </p:nvPicPr>
          <p:blipFill rotWithShape="1">
            <a:blip r:embed="rId6">
              <a:alphaModFix/>
            </a:blip>
            <a:srcRect/>
            <a:stretch/>
          </p:blipFill>
          <p:spPr>
            <a:xfrm>
              <a:off x="176504" y="2036221"/>
              <a:ext cx="101219" cy="139174"/>
            </a:xfrm>
            <a:prstGeom prst="rect">
              <a:avLst/>
            </a:prstGeom>
            <a:noFill/>
            <a:ln>
              <a:noFill/>
            </a:ln>
          </p:spPr>
        </p:pic>
        <p:sp>
          <p:nvSpPr>
            <p:cNvPr id="594" name="Google Shape;594;p40"/>
            <p:cNvSpPr/>
            <p:nvPr/>
          </p:nvSpPr>
          <p:spPr>
            <a:xfrm>
              <a:off x="176504" y="2036221"/>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95" name="Google Shape;595;p40"/>
            <p:cNvSpPr/>
            <p:nvPr/>
          </p:nvSpPr>
          <p:spPr>
            <a:xfrm>
              <a:off x="189156" y="2055200"/>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96" name="Google Shape;596;p40"/>
            <p:cNvSpPr/>
            <p:nvPr/>
          </p:nvSpPr>
          <p:spPr>
            <a:xfrm>
              <a:off x="201809" y="2074178"/>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597" name="Google Shape;597;p40"/>
            <p:cNvSpPr/>
            <p:nvPr/>
          </p:nvSpPr>
          <p:spPr>
            <a:xfrm>
              <a:off x="189156" y="2105809"/>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598" name="Google Shape;598;p40"/>
            <p:cNvPicPr preferRelativeResize="0"/>
            <p:nvPr/>
          </p:nvPicPr>
          <p:blipFill rotWithShape="1">
            <a:blip r:embed="rId8">
              <a:alphaModFix/>
            </a:blip>
            <a:srcRect/>
            <a:stretch/>
          </p:blipFill>
          <p:spPr>
            <a:xfrm>
              <a:off x="233440" y="2102644"/>
              <a:ext cx="31635" cy="44283"/>
            </a:xfrm>
            <a:prstGeom prst="rect">
              <a:avLst/>
            </a:prstGeom>
            <a:noFill/>
            <a:ln>
              <a:noFill/>
            </a:ln>
          </p:spPr>
        </p:pic>
        <p:sp>
          <p:nvSpPr>
            <p:cNvPr id="599" name="Google Shape;599;p40"/>
            <p:cNvSpPr/>
            <p:nvPr/>
          </p:nvSpPr>
          <p:spPr>
            <a:xfrm>
              <a:off x="233440" y="2156418"/>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00" name="Google Shape;600;p40"/>
            <p:cNvSpPr/>
            <p:nvPr/>
          </p:nvSpPr>
          <p:spPr>
            <a:xfrm>
              <a:off x="252419" y="2036221"/>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41"/>
          <p:cNvSpPr txBox="1"/>
          <p:nvPr/>
        </p:nvSpPr>
        <p:spPr>
          <a:xfrm>
            <a:off x="195075" y="436100"/>
            <a:ext cx="3146700" cy="507900"/>
          </a:xfrm>
          <a:prstGeom prst="rect">
            <a:avLst/>
          </a:prstGeom>
          <a:noFill/>
          <a:ln>
            <a:noFill/>
          </a:ln>
        </p:spPr>
        <p:txBody>
          <a:bodyPr spcFirstLastPara="1" wrap="square" lIns="91425" tIns="91425" rIns="91425" bIns="91425" anchor="t" anchorCtr="0">
            <a:spAutoFit/>
          </a:bodyPr>
          <a:lstStyle/>
          <a:p>
            <a:pPr marL="25400" lvl="0" indent="0" algn="l" rtl="0">
              <a:spcBef>
                <a:spcPts val="0"/>
              </a:spcBef>
              <a:spcAft>
                <a:spcPts val="0"/>
              </a:spcAft>
              <a:buNone/>
            </a:pPr>
            <a:r>
              <a:rPr lang="en" sz="2100" b="1">
                <a:solidFill>
                  <a:srgbClr val="132C68"/>
                </a:solidFill>
                <a:latin typeface="Helvetica Neue"/>
                <a:ea typeface="Helvetica Neue"/>
                <a:cs typeface="Helvetica Neue"/>
                <a:sym typeface="Helvetica Neue"/>
              </a:rPr>
              <a:t>Future Scope</a:t>
            </a:r>
            <a:endParaRPr sz="1600" b="1">
              <a:solidFill>
                <a:srgbClr val="132C68"/>
              </a:solidFill>
            </a:endParaRPr>
          </a:p>
        </p:txBody>
      </p:sp>
      <p:sp>
        <p:nvSpPr>
          <p:cNvPr id="606" name="Google Shape;606;p41"/>
          <p:cNvSpPr txBox="1"/>
          <p:nvPr/>
        </p:nvSpPr>
        <p:spPr>
          <a:xfrm>
            <a:off x="481975" y="944000"/>
            <a:ext cx="7209300" cy="3140100"/>
          </a:xfrm>
          <a:prstGeom prst="rect">
            <a:avLst/>
          </a:prstGeom>
          <a:noFill/>
          <a:ln>
            <a:noFill/>
          </a:ln>
        </p:spPr>
        <p:txBody>
          <a:bodyPr spcFirstLastPara="1" wrap="square" lIns="91425" tIns="91425" rIns="91425" bIns="91425" anchor="t" anchorCtr="0">
            <a:spAutoFit/>
          </a:bodyPr>
          <a:lstStyle/>
          <a:p>
            <a:pPr marL="25400" lvl="0" indent="0" algn="l" rtl="0">
              <a:spcBef>
                <a:spcPts val="0"/>
              </a:spcBef>
              <a:spcAft>
                <a:spcPts val="0"/>
              </a:spcAft>
              <a:buNone/>
            </a:pPr>
            <a:r>
              <a:rPr lang="en" sz="1600" b="1">
                <a:solidFill>
                  <a:srgbClr val="132C68"/>
                </a:solidFill>
                <a:latin typeface="Times New Roman"/>
                <a:ea typeface="Times New Roman"/>
                <a:cs typeface="Times New Roman"/>
                <a:sym typeface="Times New Roman"/>
              </a:rPr>
              <a:t>There are basically two major future scopes for this project now:</a:t>
            </a:r>
            <a:endParaRPr sz="1600" b="1">
              <a:solidFill>
                <a:srgbClr val="132C68"/>
              </a:solidFill>
              <a:latin typeface="Times New Roman"/>
              <a:ea typeface="Times New Roman"/>
              <a:cs typeface="Times New Roman"/>
              <a:sym typeface="Times New Roman"/>
            </a:endParaRPr>
          </a:p>
          <a:p>
            <a:pPr marL="25400" lvl="0" indent="0" algn="l" rtl="0">
              <a:spcBef>
                <a:spcPts val="0"/>
              </a:spcBef>
              <a:spcAft>
                <a:spcPts val="0"/>
              </a:spcAft>
              <a:buNone/>
            </a:pPr>
            <a:endParaRPr sz="1600" b="1">
              <a:solidFill>
                <a:srgbClr val="132C68"/>
              </a:solidFill>
              <a:latin typeface="Times New Roman"/>
              <a:ea typeface="Times New Roman"/>
              <a:cs typeface="Times New Roman"/>
              <a:sym typeface="Times New Roman"/>
            </a:endParaRPr>
          </a:p>
          <a:p>
            <a:pPr marL="25400" lvl="0" indent="0" algn="l" rtl="0">
              <a:spcBef>
                <a:spcPts val="0"/>
              </a:spcBef>
              <a:spcAft>
                <a:spcPts val="0"/>
              </a:spcAft>
              <a:buNone/>
            </a:pPr>
            <a:endParaRPr sz="1600" b="1">
              <a:solidFill>
                <a:srgbClr val="132C68"/>
              </a:solidFill>
              <a:latin typeface="Times New Roman"/>
              <a:ea typeface="Times New Roman"/>
              <a:cs typeface="Times New Roman"/>
              <a:sym typeface="Times New Roman"/>
            </a:endParaRPr>
          </a:p>
          <a:p>
            <a:pPr marL="0" lvl="0" indent="0" algn="l" rtl="0">
              <a:spcBef>
                <a:spcPts val="0"/>
              </a:spcBef>
              <a:spcAft>
                <a:spcPts val="0"/>
              </a:spcAft>
              <a:buNone/>
            </a:pPr>
            <a:r>
              <a:rPr lang="en" sz="1600" b="1">
                <a:solidFill>
                  <a:srgbClr val="132C68"/>
                </a:solidFill>
                <a:latin typeface="Times New Roman"/>
                <a:ea typeface="Times New Roman"/>
                <a:cs typeface="Times New Roman"/>
                <a:sym typeface="Times New Roman"/>
              </a:rPr>
              <a:t>      Real-Time Deployment and Simulation</a:t>
            </a:r>
            <a:r>
              <a:rPr lang="en" sz="1600">
                <a:solidFill>
                  <a:srgbClr val="132C68"/>
                </a:solidFill>
                <a:latin typeface="Times New Roman"/>
                <a:ea typeface="Times New Roman"/>
                <a:cs typeface="Times New Roman"/>
                <a:sym typeface="Times New Roman"/>
              </a:rPr>
              <a:t>: Deploying the trained ML model  on real-time network data and simulating a network using tools like Cooja for further validation and testing in controlled environments.</a:t>
            </a:r>
            <a:endParaRPr sz="1600">
              <a:solidFill>
                <a:srgbClr val="132C68"/>
              </a:solidFill>
              <a:latin typeface="Times New Roman"/>
              <a:ea typeface="Times New Roman"/>
              <a:cs typeface="Times New Roman"/>
              <a:sym typeface="Times New Roman"/>
            </a:endParaRPr>
          </a:p>
          <a:p>
            <a:pPr marL="0" lvl="0" indent="0" algn="l" rtl="0">
              <a:spcBef>
                <a:spcPts val="0"/>
              </a:spcBef>
              <a:spcAft>
                <a:spcPts val="0"/>
              </a:spcAft>
              <a:buNone/>
            </a:pPr>
            <a:endParaRPr sz="1600">
              <a:solidFill>
                <a:srgbClr val="132C68"/>
              </a:solidFill>
              <a:latin typeface="Times New Roman"/>
              <a:ea typeface="Times New Roman"/>
              <a:cs typeface="Times New Roman"/>
              <a:sym typeface="Times New Roman"/>
            </a:endParaRPr>
          </a:p>
          <a:p>
            <a:pPr marL="0" lvl="0" indent="0" algn="l" rtl="0">
              <a:spcBef>
                <a:spcPts val="0"/>
              </a:spcBef>
              <a:spcAft>
                <a:spcPts val="0"/>
              </a:spcAft>
              <a:buNone/>
            </a:pPr>
            <a:endParaRPr sz="1600">
              <a:solidFill>
                <a:srgbClr val="132C68"/>
              </a:solidFill>
              <a:latin typeface="Times New Roman"/>
              <a:ea typeface="Times New Roman"/>
              <a:cs typeface="Times New Roman"/>
              <a:sym typeface="Times New Roman"/>
            </a:endParaRPr>
          </a:p>
          <a:p>
            <a:pPr marL="0" lvl="0" indent="0" algn="l" rtl="0">
              <a:spcBef>
                <a:spcPts val="0"/>
              </a:spcBef>
              <a:spcAft>
                <a:spcPts val="0"/>
              </a:spcAft>
              <a:buNone/>
            </a:pPr>
            <a:r>
              <a:rPr lang="en" sz="1600">
                <a:solidFill>
                  <a:srgbClr val="132C68"/>
                </a:solidFill>
                <a:latin typeface="Times New Roman"/>
                <a:ea typeface="Times New Roman"/>
                <a:cs typeface="Times New Roman"/>
                <a:sym typeface="Times New Roman"/>
              </a:rPr>
              <a:t>      </a:t>
            </a:r>
            <a:r>
              <a:rPr lang="en" sz="1600" b="1">
                <a:solidFill>
                  <a:srgbClr val="132C68"/>
                </a:solidFill>
                <a:latin typeface="Times New Roman"/>
                <a:ea typeface="Times New Roman"/>
                <a:cs typeface="Times New Roman"/>
                <a:sym typeface="Times New Roman"/>
              </a:rPr>
              <a:t>Further experimenting with wavelet coefficients</a:t>
            </a:r>
            <a:r>
              <a:rPr lang="en" sz="1600">
                <a:solidFill>
                  <a:srgbClr val="132C68"/>
                </a:solidFill>
                <a:latin typeface="Times New Roman"/>
                <a:ea typeface="Times New Roman"/>
                <a:cs typeface="Times New Roman"/>
                <a:sym typeface="Times New Roman"/>
              </a:rPr>
              <a:t>: We have decided that in future we will convert the preprocessed wavelet coefficients into image and then perform time and frequency analysis on the converted image. We believe by using this image data,  we can further improve the model’s accuracy.</a:t>
            </a:r>
            <a:endParaRPr sz="1600" b="1">
              <a:solidFill>
                <a:srgbClr val="132C68"/>
              </a:solidFill>
              <a:latin typeface="Times New Roman"/>
              <a:ea typeface="Times New Roman"/>
              <a:cs typeface="Times New Roman"/>
              <a:sym typeface="Times New Roman"/>
            </a:endParaRPr>
          </a:p>
        </p:txBody>
      </p:sp>
      <p:grpSp>
        <p:nvGrpSpPr>
          <p:cNvPr id="607" name="Google Shape;607;p41"/>
          <p:cNvGrpSpPr/>
          <p:nvPr/>
        </p:nvGrpSpPr>
        <p:grpSpPr>
          <a:xfrm>
            <a:off x="568121" y="1784036"/>
            <a:ext cx="201524" cy="207622"/>
            <a:chOff x="176504" y="2250546"/>
            <a:chExt cx="101600" cy="139700"/>
          </a:xfrm>
        </p:grpSpPr>
        <p:pic>
          <p:nvPicPr>
            <p:cNvPr id="608" name="Google Shape;608;p41"/>
            <p:cNvPicPr preferRelativeResize="0"/>
            <p:nvPr/>
          </p:nvPicPr>
          <p:blipFill rotWithShape="1">
            <a:blip r:embed="rId3">
              <a:alphaModFix/>
            </a:blip>
            <a:srcRect/>
            <a:stretch/>
          </p:blipFill>
          <p:spPr>
            <a:xfrm>
              <a:off x="176504" y="2250546"/>
              <a:ext cx="101219" cy="139174"/>
            </a:xfrm>
            <a:prstGeom prst="rect">
              <a:avLst/>
            </a:prstGeom>
            <a:noFill/>
            <a:ln>
              <a:noFill/>
            </a:ln>
          </p:spPr>
        </p:pic>
        <p:sp>
          <p:nvSpPr>
            <p:cNvPr id="609" name="Google Shape;609;p41"/>
            <p:cNvSpPr/>
            <p:nvPr/>
          </p:nvSpPr>
          <p:spPr>
            <a:xfrm>
              <a:off x="176504" y="2250546"/>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10" name="Google Shape;610;p41"/>
            <p:cNvSpPr/>
            <p:nvPr/>
          </p:nvSpPr>
          <p:spPr>
            <a:xfrm>
              <a:off x="189156" y="2269525"/>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11" name="Google Shape;611;p41"/>
            <p:cNvSpPr/>
            <p:nvPr/>
          </p:nvSpPr>
          <p:spPr>
            <a:xfrm>
              <a:off x="201809" y="2288503"/>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12" name="Google Shape;612;p41"/>
            <p:cNvSpPr/>
            <p:nvPr/>
          </p:nvSpPr>
          <p:spPr>
            <a:xfrm>
              <a:off x="189156" y="2320134"/>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613" name="Google Shape;613;p41"/>
            <p:cNvPicPr preferRelativeResize="0"/>
            <p:nvPr/>
          </p:nvPicPr>
          <p:blipFill rotWithShape="1">
            <a:blip r:embed="rId4">
              <a:alphaModFix/>
            </a:blip>
            <a:srcRect/>
            <a:stretch/>
          </p:blipFill>
          <p:spPr>
            <a:xfrm>
              <a:off x="233440" y="2316970"/>
              <a:ext cx="31635" cy="44283"/>
            </a:xfrm>
            <a:prstGeom prst="rect">
              <a:avLst/>
            </a:prstGeom>
            <a:noFill/>
            <a:ln>
              <a:noFill/>
            </a:ln>
          </p:spPr>
        </p:pic>
        <p:sp>
          <p:nvSpPr>
            <p:cNvPr id="614" name="Google Shape;614;p41"/>
            <p:cNvSpPr/>
            <p:nvPr/>
          </p:nvSpPr>
          <p:spPr>
            <a:xfrm>
              <a:off x="233440" y="2370743"/>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15" name="Google Shape;615;p41"/>
            <p:cNvSpPr/>
            <p:nvPr/>
          </p:nvSpPr>
          <p:spPr>
            <a:xfrm>
              <a:off x="252419" y="2250546"/>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grpSp>
        <p:nvGrpSpPr>
          <p:cNvPr id="616" name="Google Shape;616;p41"/>
          <p:cNvGrpSpPr/>
          <p:nvPr/>
        </p:nvGrpSpPr>
        <p:grpSpPr>
          <a:xfrm>
            <a:off x="568121" y="2986486"/>
            <a:ext cx="201524" cy="207622"/>
            <a:chOff x="176504" y="2250546"/>
            <a:chExt cx="101600" cy="139700"/>
          </a:xfrm>
        </p:grpSpPr>
        <p:pic>
          <p:nvPicPr>
            <p:cNvPr id="617" name="Google Shape;617;p41"/>
            <p:cNvPicPr preferRelativeResize="0"/>
            <p:nvPr/>
          </p:nvPicPr>
          <p:blipFill rotWithShape="1">
            <a:blip r:embed="rId3">
              <a:alphaModFix/>
            </a:blip>
            <a:srcRect/>
            <a:stretch/>
          </p:blipFill>
          <p:spPr>
            <a:xfrm>
              <a:off x="176504" y="2250546"/>
              <a:ext cx="101219" cy="139174"/>
            </a:xfrm>
            <a:prstGeom prst="rect">
              <a:avLst/>
            </a:prstGeom>
            <a:noFill/>
            <a:ln>
              <a:noFill/>
            </a:ln>
          </p:spPr>
        </p:pic>
        <p:sp>
          <p:nvSpPr>
            <p:cNvPr id="618" name="Google Shape;618;p41"/>
            <p:cNvSpPr/>
            <p:nvPr/>
          </p:nvSpPr>
          <p:spPr>
            <a:xfrm>
              <a:off x="176504" y="2250546"/>
              <a:ext cx="101600" cy="139700"/>
            </a:xfrm>
            <a:custGeom>
              <a:avLst/>
              <a:gdLst/>
              <a:ahLst/>
              <a:cxnLst/>
              <a:rect l="l" t="t" r="r" b="b"/>
              <a:pathLst>
                <a:path w="101600" h="139700" extrusionOk="0">
                  <a:moveTo>
                    <a:pt x="0" y="139174"/>
                  </a:moveTo>
                  <a:lnTo>
                    <a:pt x="101219" y="139174"/>
                  </a:lnTo>
                  <a:lnTo>
                    <a:pt x="101219" y="25304"/>
                  </a:lnTo>
                  <a:lnTo>
                    <a:pt x="75914" y="0"/>
                  </a:lnTo>
                  <a:lnTo>
                    <a:pt x="0" y="0"/>
                  </a:lnTo>
                  <a:lnTo>
                    <a:pt x="0" y="13917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19" name="Google Shape;619;p41"/>
            <p:cNvSpPr/>
            <p:nvPr/>
          </p:nvSpPr>
          <p:spPr>
            <a:xfrm>
              <a:off x="189156" y="2269525"/>
              <a:ext cx="63500" cy="0"/>
            </a:xfrm>
            <a:custGeom>
              <a:avLst/>
              <a:gdLst/>
              <a:ahLst/>
              <a:cxnLst/>
              <a:rect l="l" t="t" r="r" b="b"/>
              <a:pathLst>
                <a:path w="63500" h="120000" extrusionOk="0">
                  <a:moveTo>
                    <a:pt x="0" y="0"/>
                  </a:moveTo>
                  <a:lnTo>
                    <a:pt x="63262" y="0"/>
                  </a:lnTo>
                </a:path>
              </a:pathLst>
            </a:custGeom>
            <a:noFill/>
            <a:ln w="9525" cap="flat" cmpd="sng">
              <a:solidFill>
                <a:srgbClr val="7F7F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20" name="Google Shape;620;p41"/>
            <p:cNvSpPr/>
            <p:nvPr/>
          </p:nvSpPr>
          <p:spPr>
            <a:xfrm>
              <a:off x="201809" y="2288503"/>
              <a:ext cx="50800" cy="12700"/>
            </a:xfrm>
            <a:custGeom>
              <a:avLst/>
              <a:gdLst/>
              <a:ahLst/>
              <a:cxnLst/>
              <a:rect l="l" t="t" r="r" b="b"/>
              <a:pathLst>
                <a:path w="50800" h="12700" extrusionOk="0">
                  <a:moveTo>
                    <a:pt x="0" y="0"/>
                  </a:moveTo>
                  <a:lnTo>
                    <a:pt x="50609" y="0"/>
                  </a:lnTo>
                </a:path>
                <a:path w="50800" h="12700" extrusionOk="0">
                  <a:moveTo>
                    <a:pt x="0" y="12652"/>
                  </a:moveTo>
                  <a:lnTo>
                    <a:pt x="50609" y="12652"/>
                  </a:lnTo>
                </a:path>
              </a:pathLst>
            </a:custGeom>
            <a:noFill/>
            <a:ln w="9525" cap="flat" cmpd="sng">
              <a:solidFill>
                <a:srgbClr val="99999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21" name="Google Shape;621;p41"/>
            <p:cNvSpPr/>
            <p:nvPr/>
          </p:nvSpPr>
          <p:spPr>
            <a:xfrm>
              <a:off x="189156" y="2320134"/>
              <a:ext cx="31750" cy="50800"/>
            </a:xfrm>
            <a:custGeom>
              <a:avLst/>
              <a:gdLst/>
              <a:ahLst/>
              <a:cxnLst/>
              <a:rect l="l" t="t" r="r" b="b"/>
              <a:pathLst>
                <a:path w="31750" h="50800" extrusionOk="0">
                  <a:moveTo>
                    <a:pt x="0" y="0"/>
                  </a:moveTo>
                  <a:lnTo>
                    <a:pt x="31631" y="0"/>
                  </a:lnTo>
                </a:path>
                <a:path w="31750" h="50800" extrusionOk="0">
                  <a:moveTo>
                    <a:pt x="0" y="12652"/>
                  </a:moveTo>
                  <a:lnTo>
                    <a:pt x="31631" y="12652"/>
                  </a:lnTo>
                </a:path>
                <a:path w="31750" h="50800" extrusionOk="0">
                  <a:moveTo>
                    <a:pt x="0" y="25304"/>
                  </a:moveTo>
                  <a:lnTo>
                    <a:pt x="31631" y="25304"/>
                  </a:lnTo>
                </a:path>
                <a:path w="31750" h="50800" extrusionOk="0">
                  <a:moveTo>
                    <a:pt x="0" y="37956"/>
                  </a:moveTo>
                  <a:lnTo>
                    <a:pt x="31631" y="37956"/>
                  </a:lnTo>
                </a:path>
                <a:path w="31750" h="50800" extrusionOk="0">
                  <a:moveTo>
                    <a:pt x="0" y="50609"/>
                  </a:moveTo>
                  <a:lnTo>
                    <a:pt x="31631" y="50609"/>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pic>
          <p:nvPicPr>
            <p:cNvPr id="622" name="Google Shape;622;p41"/>
            <p:cNvPicPr preferRelativeResize="0"/>
            <p:nvPr/>
          </p:nvPicPr>
          <p:blipFill rotWithShape="1">
            <a:blip r:embed="rId4">
              <a:alphaModFix/>
            </a:blip>
            <a:srcRect/>
            <a:stretch/>
          </p:blipFill>
          <p:spPr>
            <a:xfrm>
              <a:off x="233440" y="2316970"/>
              <a:ext cx="31635" cy="44283"/>
            </a:xfrm>
            <a:prstGeom prst="rect">
              <a:avLst/>
            </a:prstGeom>
            <a:noFill/>
            <a:ln>
              <a:noFill/>
            </a:ln>
          </p:spPr>
        </p:pic>
        <p:sp>
          <p:nvSpPr>
            <p:cNvPr id="623" name="Google Shape;623;p41"/>
            <p:cNvSpPr/>
            <p:nvPr/>
          </p:nvSpPr>
          <p:spPr>
            <a:xfrm>
              <a:off x="233440" y="2370743"/>
              <a:ext cx="31750" cy="0"/>
            </a:xfrm>
            <a:custGeom>
              <a:avLst/>
              <a:gdLst/>
              <a:ahLst/>
              <a:cxnLst/>
              <a:rect l="l" t="t" r="r" b="b"/>
              <a:pathLst>
                <a:path w="31750" h="120000" extrusionOk="0">
                  <a:moveTo>
                    <a:pt x="0" y="0"/>
                  </a:moveTo>
                  <a:lnTo>
                    <a:pt x="31631" y="0"/>
                  </a:lnTo>
                </a:path>
              </a:pathLst>
            </a:custGeom>
            <a:noFill/>
            <a:ln w="9525" cap="flat" cmpd="sng">
              <a:solidFill>
                <a:srgbClr val="B2B2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24" name="Google Shape;624;p41"/>
            <p:cNvSpPr/>
            <p:nvPr/>
          </p:nvSpPr>
          <p:spPr>
            <a:xfrm>
              <a:off x="252419" y="2250546"/>
              <a:ext cx="25400" cy="25400"/>
            </a:xfrm>
            <a:custGeom>
              <a:avLst/>
              <a:gdLst/>
              <a:ahLst/>
              <a:cxnLst/>
              <a:rect l="l" t="t" r="r" b="b"/>
              <a:pathLst>
                <a:path w="25400" h="25400" extrusionOk="0">
                  <a:moveTo>
                    <a:pt x="25304" y="25304"/>
                  </a:moveTo>
                  <a:lnTo>
                    <a:pt x="0" y="25304"/>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42"/>
          <p:cNvSpPr txBox="1"/>
          <p:nvPr/>
        </p:nvSpPr>
        <p:spPr>
          <a:xfrm>
            <a:off x="242100" y="1308100"/>
            <a:ext cx="8901900" cy="57258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Times New Roman"/>
              <a:buAutoNum type="arabicParenR"/>
            </a:pPr>
            <a:r>
              <a:rPr lang="en" dirty="0">
                <a:latin typeface="Times New Roman"/>
                <a:ea typeface="Times New Roman"/>
                <a:cs typeface="Times New Roman"/>
                <a:sym typeface="Times New Roman"/>
              </a:rPr>
              <a:t>BAT: Deep Learning Methods on Network Intrusion Detection Using NSL-KDD Dataset (Journal)</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          </a:t>
            </a:r>
            <a:r>
              <a:rPr lang="en" u="sng" dirty="0">
                <a:solidFill>
                  <a:schemeClr val="hlink"/>
                </a:solidFill>
                <a:latin typeface="Times New Roman"/>
                <a:ea typeface="Times New Roman"/>
                <a:cs typeface="Times New Roman"/>
                <a:sym typeface="Times New Roman"/>
                <a:hlinkClick r:id="rId3"/>
              </a:rPr>
              <a:t>https://ieeexplore.ieee.org/document/8988230</a:t>
            </a:r>
            <a:r>
              <a:rPr lang="en" u="sng" dirty="0">
                <a:solidFill>
                  <a:schemeClr val="hlink"/>
                </a:solidFill>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a:p>
            <a:pPr marL="0" lvl="0" indent="0" algn="l" rtl="0">
              <a:spcBef>
                <a:spcPts val="0"/>
              </a:spcBef>
              <a:spcAft>
                <a:spcPts val="0"/>
              </a:spcAft>
              <a:buNone/>
            </a:pPr>
            <a:endParaRPr dirty="0">
              <a:latin typeface="Times New Roman"/>
              <a:ea typeface="Times New Roman"/>
              <a:cs typeface="Times New Roman"/>
              <a:sym typeface="Times New Roman"/>
            </a:endParaRPr>
          </a:p>
          <a:p>
            <a:pPr marL="457200" lvl="0" indent="-317500" algn="l" rtl="0">
              <a:spcBef>
                <a:spcPts val="0"/>
              </a:spcBef>
              <a:spcAft>
                <a:spcPts val="0"/>
              </a:spcAft>
              <a:buSzPts val="1400"/>
              <a:buFont typeface="Times New Roman"/>
              <a:buAutoNum type="arabicParenR"/>
            </a:pPr>
            <a:r>
              <a:rPr lang="en" dirty="0">
                <a:latin typeface="Times New Roman"/>
                <a:ea typeface="Times New Roman"/>
                <a:cs typeface="Times New Roman"/>
                <a:sym typeface="Times New Roman"/>
              </a:rPr>
              <a:t>A Deep Learning Approach for Intrusion Detection Using Recurrent Neural Network (Conference)</a:t>
            </a:r>
            <a:endParaRPr dirty="0">
              <a:latin typeface="Times New Roman"/>
              <a:ea typeface="Times New Roman"/>
              <a:cs typeface="Times New Roman"/>
              <a:sym typeface="Times New Roman"/>
            </a:endParaRPr>
          </a:p>
          <a:p>
            <a:pPr marL="0" lvl="0" indent="0" algn="l" rtl="0">
              <a:spcBef>
                <a:spcPts val="0"/>
              </a:spcBef>
              <a:spcAft>
                <a:spcPts val="0"/>
              </a:spcAft>
              <a:buNone/>
            </a:pPr>
            <a:r>
              <a:rPr lang="en" dirty="0">
                <a:latin typeface="Times New Roman"/>
                <a:ea typeface="Times New Roman"/>
                <a:cs typeface="Times New Roman"/>
                <a:sym typeface="Times New Roman"/>
              </a:rPr>
              <a:t>          </a:t>
            </a:r>
            <a:r>
              <a:rPr lang="en" u="sng" dirty="0">
                <a:solidFill>
                  <a:schemeClr val="hlink"/>
                </a:solidFill>
                <a:latin typeface="Times New Roman"/>
                <a:ea typeface="Times New Roman"/>
                <a:cs typeface="Times New Roman"/>
                <a:sym typeface="Times New Roman"/>
                <a:hlinkClick r:id="rId4"/>
              </a:rPr>
              <a:t>https://ieeexplore.ieee.org/document/8066291</a:t>
            </a:r>
            <a:endParaRPr dirty="0">
              <a:latin typeface="Times New Roman"/>
              <a:ea typeface="Times New Roman"/>
              <a:cs typeface="Times New Roman"/>
              <a:sym typeface="Times New Roman"/>
            </a:endParaRPr>
          </a:p>
          <a:p>
            <a:pPr marL="0" lvl="0" indent="0" algn="l" rtl="0">
              <a:spcBef>
                <a:spcPts val="0"/>
              </a:spcBef>
              <a:spcAft>
                <a:spcPts val="0"/>
              </a:spcAft>
              <a:buNone/>
            </a:pPr>
            <a:endParaRPr dirty="0">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AutoNum type="arabicParenR"/>
            </a:pPr>
            <a:r>
              <a:rPr lang="en" dirty="0">
                <a:solidFill>
                  <a:schemeClr val="dk1"/>
                </a:solidFill>
                <a:latin typeface="Times New Roman"/>
                <a:ea typeface="Times New Roman"/>
                <a:cs typeface="Times New Roman"/>
                <a:sym typeface="Times New Roman"/>
              </a:rPr>
              <a:t>Fuzziness based semi-supervised learning approach for intrusion detection system </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800" dirty="0">
                <a:solidFill>
                  <a:schemeClr val="dk1"/>
                </a:solidFill>
                <a:latin typeface="Times New Roman"/>
                <a:ea typeface="Times New Roman"/>
                <a:cs typeface="Times New Roman"/>
                <a:sym typeface="Times New Roman"/>
              </a:rPr>
              <a:t>                  </a:t>
            </a:r>
            <a:r>
              <a:rPr lang="en" sz="1100" u="sng" dirty="0">
                <a:solidFill>
                  <a:schemeClr val="hlink"/>
                </a:solidFill>
                <a:latin typeface="Times New Roman"/>
                <a:ea typeface="Times New Roman"/>
                <a:cs typeface="Times New Roman"/>
                <a:sym typeface="Times New Roman"/>
                <a:hlinkClick r:id="rId5"/>
              </a:rPr>
              <a:t>h ttps://www.researchgate.net/publication/301747018_Fuzziness_based_semi-supervised_learning_approach_for_Intrusio  n_Detection_System</a:t>
            </a:r>
            <a:endParaRPr sz="11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700" dirty="0">
              <a:solidFill>
                <a:schemeClr val="dk1"/>
              </a:solidFill>
              <a:latin typeface="Times New Roman"/>
              <a:ea typeface="Times New Roman"/>
              <a:cs typeface="Times New Roman"/>
              <a:sym typeface="Times New Roman"/>
            </a:endParaRPr>
          </a:p>
          <a:p>
            <a:pPr marL="457200" lvl="0" indent="-317500" algn="l" rtl="0">
              <a:spcBef>
                <a:spcPts val="0"/>
              </a:spcBef>
              <a:spcAft>
                <a:spcPts val="0"/>
              </a:spcAft>
              <a:buClr>
                <a:schemeClr val="dk1"/>
              </a:buClr>
              <a:buSzPts val="1400"/>
              <a:buFont typeface="Times New Roman"/>
              <a:buAutoNum type="arabicParenR"/>
            </a:pPr>
            <a:r>
              <a:rPr lang="en" dirty="0">
                <a:solidFill>
                  <a:schemeClr val="dk1"/>
                </a:solidFill>
                <a:latin typeface="Times New Roman"/>
                <a:ea typeface="Times New Roman"/>
                <a:cs typeface="Times New Roman"/>
                <a:sym typeface="Times New Roman"/>
              </a:rPr>
              <a:t>Deep Learning Approach for Intelligent Intrusion Detection System (Journal)</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dirty="0">
                <a:solidFill>
                  <a:schemeClr val="dk1"/>
                </a:solidFill>
                <a:latin typeface="Times New Roman"/>
                <a:ea typeface="Times New Roman"/>
                <a:cs typeface="Times New Roman"/>
                <a:sym typeface="Times New Roman"/>
              </a:rPr>
              <a:t>          </a:t>
            </a:r>
            <a:r>
              <a:rPr lang="en" u="sng" dirty="0">
                <a:solidFill>
                  <a:schemeClr val="hlink"/>
                </a:solidFill>
                <a:latin typeface="Times New Roman"/>
                <a:ea typeface="Times New Roman"/>
                <a:cs typeface="Times New Roman"/>
                <a:sym typeface="Times New Roman"/>
                <a:hlinkClick r:id="rId6"/>
              </a:rPr>
              <a:t>https://ieeexplore.ieee.org/document/8681044</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dirty="0">
                <a:solidFill>
                  <a:schemeClr val="dk1"/>
                </a:solidFill>
                <a:latin typeface="Times New Roman"/>
                <a:ea typeface="Times New Roman"/>
                <a:cs typeface="Times New Roman"/>
                <a:sym typeface="Times New Roman"/>
              </a:rPr>
              <a:t>  </a:t>
            </a:r>
            <a:r>
              <a:rPr lang="en" sz="1500" dirty="0">
                <a:solidFill>
                  <a:srgbClr val="222222"/>
                </a:solidFill>
                <a:latin typeface="Times New Roman"/>
                <a:ea typeface="Times New Roman"/>
                <a:cs typeface="Times New Roman"/>
                <a:sym typeface="Times New Roman"/>
              </a:rPr>
              <a:t>5)   </a:t>
            </a:r>
            <a:r>
              <a:rPr lang="en" sz="1500" dirty="0">
                <a:solidFill>
                  <a:schemeClr val="dk1"/>
                </a:solidFill>
                <a:latin typeface="Times New Roman"/>
                <a:ea typeface="Times New Roman"/>
                <a:cs typeface="Times New Roman"/>
                <a:sym typeface="Times New Roman"/>
              </a:rPr>
              <a:t> </a:t>
            </a:r>
            <a:r>
              <a:rPr lang="en" dirty="0">
                <a:solidFill>
                  <a:schemeClr val="dk1"/>
                </a:solidFill>
                <a:latin typeface="Times New Roman"/>
                <a:ea typeface="Times New Roman"/>
                <a:cs typeface="Times New Roman"/>
                <a:sym typeface="Times New Roman"/>
              </a:rPr>
              <a:t>Stochastic Gradient Descent Intrusions Detection for Wireless Sensor Network Attack Detection System </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dirty="0">
                <a:solidFill>
                  <a:schemeClr val="dk1"/>
                </a:solidFill>
                <a:latin typeface="Times New Roman"/>
                <a:ea typeface="Times New Roman"/>
                <a:cs typeface="Times New Roman"/>
                <a:sym typeface="Times New Roman"/>
              </a:rPr>
              <a:t>          Using Machine Learning</a:t>
            </a:r>
            <a:r>
              <a:rPr lang="en" sz="1500" dirty="0">
                <a:solidFill>
                  <a:srgbClr val="222222"/>
                </a:solidFill>
                <a:latin typeface="Times New Roman"/>
                <a:ea typeface="Times New Roman"/>
                <a:cs typeface="Times New Roman"/>
                <a:sym typeface="Times New Roman"/>
              </a:rPr>
              <a:t>. (Journal)</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a:t>
            </a:r>
            <a:r>
              <a:rPr lang="en" sz="1500" u="sng" dirty="0">
                <a:solidFill>
                  <a:schemeClr val="hlink"/>
                </a:solidFill>
                <a:latin typeface="Times New Roman"/>
                <a:ea typeface="Times New Roman"/>
                <a:cs typeface="Times New Roman"/>
                <a:sym typeface="Times New Roman"/>
                <a:hlinkClick r:id="rId7"/>
              </a:rPr>
              <a:t>https://ieeexplore.ieee.org/abstract/document/10379637</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a:t>
            </a:r>
            <a:endParaRPr dirty="0">
              <a:solidFill>
                <a:schemeClr val="dk1"/>
              </a:solidFill>
            </a:endParaRPr>
          </a:p>
          <a:p>
            <a:pPr marL="0" lvl="0" indent="0" algn="l" rtl="0">
              <a:spcBef>
                <a:spcPts val="0"/>
              </a:spcBef>
              <a:spcAft>
                <a:spcPts val="0"/>
              </a:spcAft>
              <a:buNone/>
            </a:pPr>
            <a:endParaRPr sz="1500"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Font typeface="Arial"/>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dirty="0">
              <a:solidFill>
                <a:schemeClr val="dk1"/>
              </a:solidFill>
            </a:endParaRPr>
          </a:p>
        </p:txBody>
      </p:sp>
      <p:sp>
        <p:nvSpPr>
          <p:cNvPr id="630" name="Google Shape;630;p42"/>
          <p:cNvSpPr txBox="1"/>
          <p:nvPr/>
        </p:nvSpPr>
        <p:spPr>
          <a:xfrm>
            <a:off x="485250" y="530075"/>
            <a:ext cx="3130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rgbClr val="132C68"/>
                </a:solidFill>
                <a:latin typeface="Helvetica Neue"/>
                <a:ea typeface="Helvetica Neue"/>
                <a:cs typeface="Helvetica Neue"/>
                <a:sym typeface="Helvetica Neue"/>
              </a:rPr>
              <a:t>References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43"/>
          <p:cNvSpPr txBox="1"/>
          <p:nvPr/>
        </p:nvSpPr>
        <p:spPr>
          <a:xfrm>
            <a:off x="249850" y="1094100"/>
            <a:ext cx="86538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6)    </a:t>
            </a:r>
            <a:r>
              <a:rPr lang="en" dirty="0">
                <a:solidFill>
                  <a:schemeClr val="dk1"/>
                </a:solidFill>
                <a:latin typeface="Times New Roman"/>
                <a:ea typeface="Times New Roman"/>
                <a:cs typeface="Times New Roman"/>
                <a:sym typeface="Times New Roman"/>
              </a:rPr>
              <a:t>An Edge Computing-Based Preventive Framework With Machine Learning Integration for Anomaly   </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dirty="0">
                <a:solidFill>
                  <a:schemeClr val="dk1"/>
                </a:solidFill>
                <a:latin typeface="Times New Roman"/>
                <a:ea typeface="Times New Roman"/>
                <a:cs typeface="Times New Roman"/>
                <a:sym typeface="Times New Roman"/>
              </a:rPr>
              <a:t>         Detection  and Risk Management in Maritime Wireless Communications</a:t>
            </a:r>
            <a:r>
              <a:rPr lang="en" sz="1600" dirty="0">
                <a:solidFill>
                  <a:schemeClr val="dk1"/>
                </a:solidFill>
                <a:latin typeface="Times New Roman"/>
                <a:ea typeface="Times New Roman"/>
                <a:cs typeface="Times New Roman"/>
                <a:sym typeface="Times New Roman"/>
              </a:rPr>
              <a:t>. (Journal)</a:t>
            </a:r>
            <a:endParaRPr sz="16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chemeClr val="dk1"/>
                </a:solidFill>
                <a:latin typeface="Times New Roman"/>
                <a:ea typeface="Times New Roman"/>
                <a:cs typeface="Times New Roman"/>
                <a:sym typeface="Times New Roman"/>
              </a:rPr>
              <a:t>         </a:t>
            </a:r>
            <a:r>
              <a:rPr lang="en" sz="1500" u="sng" dirty="0">
                <a:solidFill>
                  <a:schemeClr val="hlink"/>
                </a:solidFill>
                <a:latin typeface="Times New Roman"/>
                <a:ea typeface="Times New Roman"/>
                <a:cs typeface="Times New Roman"/>
                <a:sym typeface="Times New Roman"/>
                <a:hlinkClick r:id="rId3"/>
              </a:rPr>
              <a:t>https://ieeexplore.ieee.org/document/10496686</a:t>
            </a:r>
            <a:endParaRPr sz="15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chemeClr val="dk1"/>
                </a:solidFill>
                <a:latin typeface="Times New Roman"/>
                <a:ea typeface="Times New Roman"/>
                <a:cs typeface="Times New Roman"/>
                <a:sym typeface="Times New Roman"/>
              </a:rPr>
              <a:t>  7)   </a:t>
            </a:r>
            <a:r>
              <a:rPr lang="en" sz="1500" dirty="0">
                <a:solidFill>
                  <a:srgbClr val="222222"/>
                </a:solidFill>
                <a:latin typeface="Times New Roman"/>
                <a:ea typeface="Times New Roman"/>
                <a:cs typeface="Times New Roman"/>
                <a:sym typeface="Times New Roman"/>
              </a:rPr>
              <a:t>Securing IoT Devices in e-Health using Machine Learning Techniques  (Journal) </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a:t>
            </a:r>
            <a:r>
              <a:rPr lang="en" sz="1500" u="sng" dirty="0">
                <a:solidFill>
                  <a:schemeClr val="hlink"/>
                </a:solidFill>
                <a:latin typeface="Times New Roman"/>
                <a:ea typeface="Times New Roman"/>
                <a:cs typeface="Times New Roman"/>
                <a:sym typeface="Times New Roman"/>
                <a:hlinkClick r:id="rId4"/>
              </a:rPr>
              <a:t>https://thesai.org/Publications/ViewPaper?Volume=14&amp;Issue=9&amp;Code=IJACSA&amp;SerialNo=49</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8)   DIDS: A Deep Neural Network based real-time Intrusion detection system for IoT (Journal)</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a:t>
            </a:r>
            <a:r>
              <a:rPr lang="en" sz="1500" u="sng" dirty="0">
                <a:solidFill>
                  <a:schemeClr val="hlink"/>
                </a:solidFill>
                <a:latin typeface="Times New Roman"/>
                <a:ea typeface="Times New Roman"/>
                <a:cs typeface="Times New Roman"/>
                <a:sym typeface="Times New Roman"/>
                <a:hlinkClick r:id="rId5"/>
              </a:rPr>
              <a:t>https://www.sciencedirect.com/science/article/pii/S277266222200073X</a:t>
            </a: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endParaRPr sz="1500" dirty="0">
              <a:solidFill>
                <a:srgbClr val="222222"/>
              </a:solidFill>
              <a:latin typeface="Times New Roman"/>
              <a:ea typeface="Times New Roman"/>
              <a:cs typeface="Times New Roman"/>
              <a:sym typeface="Times New Roman"/>
            </a:endParaRPr>
          </a:p>
          <a:p>
            <a:pPr marL="0" lvl="0" indent="0" algn="l" rtl="0">
              <a:spcBef>
                <a:spcPts val="0"/>
              </a:spcBef>
              <a:spcAft>
                <a:spcPts val="0"/>
              </a:spcAft>
              <a:buNone/>
            </a:pPr>
            <a:r>
              <a:rPr lang="en" sz="1500" dirty="0">
                <a:solidFill>
                  <a:srgbClr val="222222"/>
                </a:solidFill>
                <a:latin typeface="Times New Roman"/>
                <a:ea typeface="Times New Roman"/>
                <a:cs typeface="Times New Roman"/>
                <a:sym typeface="Times New Roman"/>
              </a:rPr>
              <a:t>  9)   </a:t>
            </a:r>
            <a:r>
              <a:rPr lang="en" dirty="0">
                <a:solidFill>
                  <a:schemeClr val="dk1"/>
                </a:solidFill>
                <a:latin typeface="Times New Roman"/>
                <a:ea typeface="Times New Roman"/>
                <a:cs typeface="Times New Roman"/>
                <a:sym typeface="Times New Roman"/>
              </a:rPr>
              <a:t>Analysis and modelling of a ML-based NIDS for IoT networks</a:t>
            </a:r>
            <a:endParaRPr dirty="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 dirty="0">
                <a:solidFill>
                  <a:schemeClr val="dk1"/>
                </a:solidFill>
                <a:latin typeface="Times New Roman"/>
                <a:ea typeface="Times New Roman"/>
                <a:cs typeface="Times New Roman"/>
                <a:sym typeface="Times New Roman"/>
              </a:rPr>
              <a:t>         </a:t>
            </a:r>
            <a:r>
              <a:rPr lang="en" u="sng" dirty="0">
                <a:solidFill>
                  <a:schemeClr val="hlink"/>
                </a:solidFill>
                <a:latin typeface="Times New Roman"/>
                <a:ea typeface="Times New Roman"/>
                <a:cs typeface="Times New Roman"/>
                <a:sym typeface="Times New Roman"/>
                <a:hlinkClick r:id="rId6"/>
              </a:rPr>
              <a:t>https://www.sciencedirect.com/science/article/pii/S1877050922007</a:t>
            </a:r>
            <a:r>
              <a:rPr lang="en" u="sng" dirty="0">
                <a:solidFill>
                  <a:schemeClr val="hlink"/>
                </a:solidFill>
                <a:hlinkClick r:id="rId6"/>
              </a:rPr>
              <a:t>61X</a:t>
            </a:r>
            <a:endParaRPr dirty="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44"/>
          <p:cNvSpPr txBox="1"/>
          <p:nvPr/>
        </p:nvSpPr>
        <p:spPr>
          <a:xfrm>
            <a:off x="214215" y="37530"/>
            <a:ext cx="89676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3" action="ppaction://hlinksldjump"/>
              </a:rPr>
              <a:t>Introduction</a:t>
            </a:r>
            <a:endParaRPr sz="1100">
              <a:solidFill>
                <a:schemeClr val="dk1"/>
              </a:solidFill>
              <a:latin typeface="Helvetica Neue"/>
              <a:ea typeface="Helvetica Neue"/>
              <a:cs typeface="Helvetica Neue"/>
              <a:sym typeface="Helvetica Neue"/>
            </a:endParaRPr>
          </a:p>
        </p:txBody>
      </p:sp>
      <p:grpSp>
        <p:nvGrpSpPr>
          <p:cNvPr id="641" name="Google Shape;641;p44"/>
          <p:cNvGrpSpPr/>
          <p:nvPr/>
        </p:nvGrpSpPr>
        <p:grpSpPr>
          <a:xfrm>
            <a:off x="2804007" y="212048"/>
            <a:ext cx="471660" cy="53794"/>
            <a:chOff x="1413687" y="142674"/>
            <a:chExt cx="237795" cy="36195"/>
          </a:xfrm>
        </p:grpSpPr>
        <p:sp>
          <p:nvSpPr>
            <p:cNvPr id="642" name="Google Shape;642;p44"/>
            <p:cNvSpPr/>
            <p:nvPr/>
          </p:nvSpPr>
          <p:spPr>
            <a:xfrm>
              <a:off x="14136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43" name="Google Shape;643;p44"/>
            <p:cNvSpPr/>
            <p:nvPr/>
          </p:nvSpPr>
          <p:spPr>
            <a:xfrm>
              <a:off x="146409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44" name="Google Shape;644;p44"/>
            <p:cNvSpPr/>
            <p:nvPr/>
          </p:nvSpPr>
          <p:spPr>
            <a:xfrm>
              <a:off x="15144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45" name="Google Shape;645;p44"/>
            <p:cNvSpPr/>
            <p:nvPr/>
          </p:nvSpPr>
          <p:spPr>
            <a:xfrm>
              <a:off x="1564893"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46" name="Google Shape;646;p44"/>
            <p:cNvSpPr/>
            <p:nvPr/>
          </p:nvSpPr>
          <p:spPr>
            <a:xfrm>
              <a:off x="1615287"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647" name="Google Shape;647;p44"/>
          <p:cNvSpPr txBox="1"/>
          <p:nvPr/>
        </p:nvSpPr>
        <p:spPr>
          <a:xfrm>
            <a:off x="2778918" y="37530"/>
            <a:ext cx="1088212"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4" action="ppaction://hlinksldjump"/>
              </a:rPr>
              <a:t>Proposed work</a:t>
            </a:r>
            <a:endParaRPr sz="1100">
              <a:solidFill>
                <a:schemeClr val="dk1"/>
              </a:solidFill>
              <a:latin typeface="Helvetica Neue"/>
              <a:ea typeface="Helvetica Neue"/>
              <a:cs typeface="Helvetica Neue"/>
              <a:sym typeface="Helvetica Neue"/>
            </a:endParaRPr>
          </a:p>
        </p:txBody>
      </p:sp>
      <p:grpSp>
        <p:nvGrpSpPr>
          <p:cNvPr id="648" name="Google Shape;648;p44"/>
          <p:cNvGrpSpPr/>
          <p:nvPr/>
        </p:nvGrpSpPr>
        <p:grpSpPr>
          <a:xfrm>
            <a:off x="5560332" y="212048"/>
            <a:ext cx="171747" cy="53794"/>
            <a:chOff x="2803334" y="142674"/>
            <a:chExt cx="86589" cy="36195"/>
          </a:xfrm>
        </p:grpSpPr>
        <p:sp>
          <p:nvSpPr>
            <p:cNvPr id="649" name="Google Shape;649;p44"/>
            <p:cNvSpPr/>
            <p:nvPr/>
          </p:nvSpPr>
          <p:spPr>
            <a:xfrm>
              <a:off x="2803334"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50" name="Google Shape;650;p44"/>
            <p:cNvSpPr/>
            <p:nvPr/>
          </p:nvSpPr>
          <p:spPr>
            <a:xfrm>
              <a:off x="2853728" y="142674"/>
              <a:ext cx="36195" cy="36195"/>
            </a:xfrm>
            <a:custGeom>
              <a:avLst/>
              <a:gdLst/>
              <a:ahLst/>
              <a:cxnLst/>
              <a:rect l="l" t="t" r="r" b="b"/>
              <a:pathLst>
                <a:path w="36194"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95A0BB"/>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651" name="Google Shape;651;p44"/>
          <p:cNvSpPr txBox="1"/>
          <p:nvPr/>
        </p:nvSpPr>
        <p:spPr>
          <a:xfrm>
            <a:off x="5535243" y="37530"/>
            <a:ext cx="799785"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rId5" action="ppaction://hlinksldjump"/>
              </a:rPr>
              <a:t>Conclusion</a:t>
            </a:r>
            <a:endParaRPr sz="1100">
              <a:solidFill>
                <a:schemeClr val="dk1"/>
              </a:solidFill>
              <a:latin typeface="Helvetica Neue"/>
              <a:ea typeface="Helvetica Neue"/>
              <a:cs typeface="Helvetica Neue"/>
              <a:sym typeface="Helvetica Neue"/>
            </a:endParaRPr>
          </a:p>
        </p:txBody>
      </p:sp>
      <p:grpSp>
        <p:nvGrpSpPr>
          <p:cNvPr id="652" name="Google Shape;652;p44"/>
          <p:cNvGrpSpPr/>
          <p:nvPr/>
        </p:nvGrpSpPr>
        <p:grpSpPr>
          <a:xfrm>
            <a:off x="8027927" y="212048"/>
            <a:ext cx="171747" cy="53794"/>
            <a:chOff x="4047413" y="142674"/>
            <a:chExt cx="86589" cy="36195"/>
          </a:xfrm>
        </p:grpSpPr>
        <p:sp>
          <p:nvSpPr>
            <p:cNvPr id="653" name="Google Shape;653;p44"/>
            <p:cNvSpPr/>
            <p:nvPr/>
          </p:nvSpPr>
          <p:spPr>
            <a:xfrm>
              <a:off x="4047413"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54" name="Google Shape;654;p44"/>
            <p:cNvSpPr/>
            <p:nvPr/>
          </p:nvSpPr>
          <p:spPr>
            <a:xfrm>
              <a:off x="4097807" y="142674"/>
              <a:ext cx="36195" cy="36195"/>
            </a:xfrm>
            <a:custGeom>
              <a:avLst/>
              <a:gdLst/>
              <a:ahLst/>
              <a:cxnLst/>
              <a:rect l="l" t="t" r="r" b="b"/>
              <a:pathLst>
                <a:path w="36195" h="36194" extrusionOk="0">
                  <a:moveTo>
                    <a:pt x="18000" y="0"/>
                  </a:move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lnTo>
                    <a:pt x="34587" y="10994"/>
                  </a:lnTo>
                  <a:lnTo>
                    <a:pt x="30729" y="5272"/>
                  </a:lnTo>
                  <a:lnTo>
                    <a:pt x="25007" y="1414"/>
                  </a:lnTo>
                  <a:lnTo>
                    <a:pt x="18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55" name="Google Shape;655;p44"/>
            <p:cNvSpPr/>
            <p:nvPr/>
          </p:nvSpPr>
          <p:spPr>
            <a:xfrm>
              <a:off x="4097807" y="142674"/>
              <a:ext cx="36195" cy="36195"/>
            </a:xfrm>
            <a:custGeom>
              <a:avLst/>
              <a:gdLst/>
              <a:ahLst/>
              <a:cxnLst/>
              <a:rect l="l" t="t" r="r" b="b"/>
              <a:pathLst>
                <a:path w="36195" h="36194" extrusionOk="0">
                  <a:moveTo>
                    <a:pt x="36002" y="18001"/>
                  </a:moveTo>
                  <a:lnTo>
                    <a:pt x="34587" y="10994"/>
                  </a:lnTo>
                  <a:lnTo>
                    <a:pt x="30729" y="5272"/>
                  </a:lnTo>
                  <a:lnTo>
                    <a:pt x="25007" y="1414"/>
                  </a:lnTo>
                  <a:lnTo>
                    <a:pt x="18000" y="0"/>
                  </a:lnTo>
                  <a:lnTo>
                    <a:pt x="10994" y="1414"/>
                  </a:lnTo>
                  <a:lnTo>
                    <a:pt x="5272" y="5272"/>
                  </a:lnTo>
                  <a:lnTo>
                    <a:pt x="1414" y="10994"/>
                  </a:lnTo>
                  <a:lnTo>
                    <a:pt x="0" y="18001"/>
                  </a:lnTo>
                  <a:lnTo>
                    <a:pt x="1414" y="25008"/>
                  </a:lnTo>
                  <a:lnTo>
                    <a:pt x="5272" y="30729"/>
                  </a:lnTo>
                  <a:lnTo>
                    <a:pt x="10994" y="34587"/>
                  </a:lnTo>
                  <a:lnTo>
                    <a:pt x="18000" y="36002"/>
                  </a:lnTo>
                  <a:lnTo>
                    <a:pt x="25007" y="34587"/>
                  </a:lnTo>
                  <a:lnTo>
                    <a:pt x="30729" y="30729"/>
                  </a:lnTo>
                  <a:lnTo>
                    <a:pt x="34587" y="25008"/>
                  </a:lnTo>
                  <a:lnTo>
                    <a:pt x="36002" y="18001"/>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grpSp>
      <p:sp>
        <p:nvSpPr>
          <p:cNvPr id="656" name="Google Shape;656;p44"/>
          <p:cNvSpPr txBox="1"/>
          <p:nvPr/>
        </p:nvSpPr>
        <p:spPr>
          <a:xfrm>
            <a:off x="8002838" y="37530"/>
            <a:ext cx="948407" cy="173651"/>
          </a:xfrm>
          <a:prstGeom prst="rect">
            <a:avLst/>
          </a:prstGeom>
          <a:noFill/>
          <a:ln>
            <a:noFill/>
          </a:ln>
        </p:spPr>
        <p:txBody>
          <a:bodyPr spcFirstLastPara="1" wrap="square" lIns="0" tIns="21900" rIns="0" bIns="0" anchor="t" anchorCtr="0">
            <a:spAutoFit/>
          </a:bodyPr>
          <a:lstStyle/>
          <a:p>
            <a:pPr marL="0" marR="0" lvl="0" indent="0" algn="l" rtl="0">
              <a:lnSpc>
                <a:spcPct val="100000"/>
              </a:lnSpc>
              <a:spcBef>
                <a:spcPts val="0"/>
              </a:spcBef>
              <a:spcAft>
                <a:spcPts val="0"/>
              </a:spcAft>
              <a:buNone/>
            </a:pPr>
            <a:r>
              <a:rPr lang="en" sz="1100" u="sng">
                <a:solidFill>
                  <a:schemeClr val="hlink"/>
                </a:solidFill>
                <a:latin typeface="Helvetica Neue"/>
                <a:ea typeface="Helvetica Neue"/>
                <a:cs typeface="Helvetica Neue"/>
                <a:sym typeface="Helvetica Neue"/>
                <a:hlinkClick r:id="" action="ppaction://noaction"/>
              </a:rPr>
              <a:t>Future Scope</a:t>
            </a:r>
            <a:endParaRPr sz="1100">
              <a:solidFill>
                <a:schemeClr val="dk1"/>
              </a:solidFill>
              <a:latin typeface="Helvetica Neue"/>
              <a:ea typeface="Helvetica Neue"/>
              <a:cs typeface="Helvetica Neue"/>
              <a:sym typeface="Helvetica Neue"/>
            </a:endParaRPr>
          </a:p>
        </p:txBody>
      </p:sp>
      <p:sp>
        <p:nvSpPr>
          <p:cNvPr id="657" name="Google Shape;657;p44"/>
          <p:cNvSpPr/>
          <p:nvPr/>
        </p:nvSpPr>
        <p:spPr>
          <a:xfrm>
            <a:off x="0" y="303154"/>
            <a:ext cx="9140221" cy="218953"/>
          </a:xfrm>
          <a:custGeom>
            <a:avLst/>
            <a:gdLst/>
            <a:ahLst/>
            <a:cxnLst/>
            <a:rect l="l" t="t" r="r" b="b"/>
            <a:pathLst>
              <a:path w="4608195" h="147320" extrusionOk="0">
                <a:moveTo>
                  <a:pt x="4608004" y="0"/>
                </a:moveTo>
                <a:lnTo>
                  <a:pt x="0" y="0"/>
                </a:lnTo>
                <a:lnTo>
                  <a:pt x="0" y="147281"/>
                </a:lnTo>
                <a:lnTo>
                  <a:pt x="4608004" y="147281"/>
                </a:lnTo>
                <a:lnTo>
                  <a:pt x="4608004" y="0"/>
                </a:lnTo>
                <a:close/>
              </a:path>
            </a:pathLst>
          </a:custGeom>
          <a:solidFill>
            <a:srgbClr val="0064A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3300">
              <a:solidFill>
                <a:schemeClr val="dk1"/>
              </a:solidFill>
              <a:latin typeface="Calibri"/>
              <a:ea typeface="Calibri"/>
              <a:cs typeface="Calibri"/>
              <a:sym typeface="Calibri"/>
            </a:endParaRPr>
          </a:p>
        </p:txBody>
      </p:sp>
      <p:sp>
        <p:nvSpPr>
          <p:cNvPr id="658" name="Google Shape;658;p44"/>
          <p:cNvSpPr txBox="1"/>
          <p:nvPr/>
        </p:nvSpPr>
        <p:spPr>
          <a:xfrm>
            <a:off x="2726488" y="2074064"/>
            <a:ext cx="4458600" cy="721800"/>
          </a:xfrm>
          <a:prstGeom prst="rect">
            <a:avLst/>
          </a:prstGeom>
          <a:noFill/>
          <a:ln>
            <a:noFill/>
          </a:ln>
        </p:spPr>
        <p:txBody>
          <a:bodyPr spcFirstLastPara="1" wrap="square" lIns="0" tIns="28850" rIns="0" bIns="0" anchor="t" anchorCtr="0">
            <a:spAutoFit/>
          </a:bodyPr>
          <a:lstStyle/>
          <a:p>
            <a:pPr marL="25400" marR="0" lvl="0" indent="0" algn="l" rtl="0">
              <a:lnSpc>
                <a:spcPct val="100000"/>
              </a:lnSpc>
              <a:spcBef>
                <a:spcPts val="0"/>
              </a:spcBef>
              <a:spcAft>
                <a:spcPts val="0"/>
              </a:spcAft>
              <a:buNone/>
            </a:pPr>
            <a:r>
              <a:rPr lang="en" sz="4500" b="1">
                <a:solidFill>
                  <a:srgbClr val="002060"/>
                </a:solidFill>
                <a:latin typeface="Times New Roman"/>
                <a:ea typeface="Times New Roman"/>
                <a:cs typeface="Times New Roman"/>
                <a:sym typeface="Times New Roman"/>
              </a:rPr>
              <a:t>THANK YOU!</a:t>
            </a:r>
            <a:endParaRPr sz="4500">
              <a:solidFill>
                <a:srgbClr val="002060"/>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45"/>
          <p:cNvSpPr txBox="1"/>
          <p:nvPr/>
        </p:nvSpPr>
        <p:spPr>
          <a:xfrm>
            <a:off x="2573327" y="2089351"/>
            <a:ext cx="4863900" cy="675900"/>
          </a:xfrm>
          <a:prstGeom prst="rect">
            <a:avLst/>
          </a:prstGeom>
          <a:noFill/>
          <a:ln>
            <a:noFill/>
          </a:ln>
        </p:spPr>
        <p:txBody>
          <a:bodyPr spcFirstLastPara="1" wrap="square" lIns="166175" tIns="83075" rIns="166175" bIns="83075" anchor="t" anchorCtr="0">
            <a:spAutoFit/>
          </a:bodyPr>
          <a:lstStyle/>
          <a:p>
            <a:pPr marL="0" marR="0" lvl="0" indent="0" algn="l" rtl="0">
              <a:spcBef>
                <a:spcPts val="0"/>
              </a:spcBef>
              <a:spcAft>
                <a:spcPts val="0"/>
              </a:spcAft>
              <a:buNone/>
            </a:pPr>
            <a:r>
              <a:rPr lang="en" sz="3300" b="1">
                <a:solidFill>
                  <a:srgbClr val="002060"/>
                </a:solidFill>
                <a:latin typeface="Times New Roman"/>
                <a:ea typeface="Times New Roman"/>
                <a:cs typeface="Times New Roman"/>
                <a:sym typeface="Times New Roman"/>
              </a:rPr>
              <a:t>Any Questions?</a:t>
            </a:r>
            <a:endParaRPr sz="3300">
              <a:solidFill>
                <a:srgbClr val="00206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1632</Words>
  <Application>Microsoft Office PowerPoint</Application>
  <PresentationFormat>On-screen Show (16:9)</PresentationFormat>
  <Paragraphs>237</Paragraphs>
  <Slides>26</Slides>
  <Notes>26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Arial</vt:lpstr>
      <vt:lpstr>Tahoma</vt:lpstr>
      <vt:lpstr>Helvetica Neue</vt:lpstr>
      <vt:lpstr>Times New Roman</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Vaibhav Sodhi</cp:lastModifiedBy>
  <cp:revision>5</cp:revision>
  <dcterms:modified xsi:type="dcterms:W3CDTF">2025-04-17T08:32:37Z</dcterms:modified>
</cp:coreProperties>
</file>